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7.xml" ContentType="application/vnd.openxmlformats-officedocument.presentationml.slide+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50.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Slides/_rels/notesSlide47.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49.xml.rels" ContentType="application/vnd.openxmlformats-package.relationships+xml"/>
  <Override PartName="/ppt/notesSlides/_rels/notesSlide3.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2.xml.rels" ContentType="application/vnd.openxmlformats-package.relationships+xml"/>
  <Override PartName="/ppt/notesSlides/_rels/notesSlide48.xml.rels" ContentType="application/vnd.openxmlformats-package.relationships+xml"/>
  <Override PartName="/ppt/notesSlides/_rels/notesSlide11.xml.rels" ContentType="application/vnd.openxmlformats-package.relationships+xml"/>
  <Override PartName="/ppt/notesSlides/_rels/notesSlide52.xml.rels" ContentType="application/vnd.openxmlformats-package.relationships+xml"/>
  <Override PartName="/ppt/notesSlides/_rels/notesSlide51.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_rels/notesSlide50.xml.rels" ContentType="application/vnd.openxmlformats-package.relationships+xml"/>
  <Override PartName="/ppt/notesSlides/_rels/notesSlide46.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23.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24.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39.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44.xml.rels" ContentType="application/vnd.openxmlformats-package.relationships+xml"/>
  <Override PartName="/ppt/notesSlides/_rels/notesSlide45.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0.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49.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4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4269C3D-5FE0-48D5-AEE8-BC61A223B80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1143000" y="685800"/>
            <a:ext cx="4571640" cy="3428640"/>
          </a:xfrm>
          <a:prstGeom prst="rect">
            <a:avLst/>
          </a:prstGeom>
          <a:ln w="0">
            <a:noFill/>
          </a:ln>
        </p:spPr>
      </p:sp>
      <p:sp>
        <p:nvSpPr>
          <p:cNvPr id="27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Phones on airplane mode if that's relevant to your threat model — and if you're at CounterSpy, it probably is. I'm Rhonda. This talk is about software I built because people I love were getting their phones seized at protests and their call records subpoenaed. Ninety minutes. I have a lot to show you. Questions during the talk — I'd rather it be a conversation than a monologue. Before I start: I am not selling you anything. This is AGPL-3.0 software. You can read every line.</a:t>
            </a:r>
            <a:endParaRPr b="0" lang="en-US" sz="1000" spc="-1" strike="noStrike">
              <a:solidFill>
                <a:srgbClr val="000000"/>
              </a:solidFill>
              <a:latin typeface="Arial"/>
            </a:endParaRPr>
          </a:p>
        </p:txBody>
      </p:sp>
      <p:sp>
        <p:nvSpPr>
          <p:cNvPr id="271"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851E61E-D8FD-480D-BA14-7062939FEA5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143000" y="685800"/>
            <a:ext cx="4571640" cy="3428640"/>
          </a:xfrm>
          <a:prstGeom prst="rect">
            <a:avLst/>
          </a:prstGeom>
          <a:ln w="0">
            <a:noFill/>
          </a:ln>
        </p:spPr>
      </p:sp>
      <p:sp>
        <p:nvSpPr>
          <p:cNvPr id="27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Pause here. Let this land. This is not a hypothetical. Administrative subpoenas to US-based cloud providers require no judicial review. The provider doesn't have to tell you they complied. You might find out months later in a transparency report, or you might find out when a detective calls you. This is the low end of the threat we're designing against — paperwork. But we're also designing against the high end: nation-state adversaries with NSLs, runtime instrumentation budgets, and physical access to infrastructure. The architecture has to hold against both.</a:t>
            </a:r>
            <a:endParaRPr b="0" lang="en-US" sz="1000" spc="-1" strike="noStrike">
              <a:solidFill>
                <a:srgbClr val="000000"/>
              </a:solidFill>
              <a:latin typeface="Arial"/>
            </a:endParaRPr>
          </a:p>
        </p:txBody>
      </p:sp>
      <p:sp>
        <p:nvSpPr>
          <p:cNvPr id="274"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92D9C95-B0F7-4895-81D2-9C11FC594F7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1143000" y="685800"/>
            <a:ext cx="4571640" cy="3428640"/>
          </a:xfrm>
          <a:prstGeom prst="rect">
            <a:avLst/>
          </a:prstGeom>
          <a:ln w="0">
            <a:noFill/>
          </a:ln>
        </p:spPr>
      </p:sp>
      <p:sp>
        <p:nvSpPr>
          <p:cNvPr id="27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Raise your hand if you operate or support a crisis line. Keep it up if you're on Google Voice. Keep it up if you use Twilio directly. Keep it up if your volunteers write notes in Google Docs. Okay. I see you. You're the reason I'm here.</a:t>
            </a:r>
            <a:endParaRPr b="0" lang="en-US" sz="1000" spc="-1" strike="noStrike">
              <a:solidFill>
                <a:srgbClr val="000000"/>
              </a:solidFill>
              <a:latin typeface="Arial"/>
            </a:endParaRPr>
          </a:p>
        </p:txBody>
      </p:sp>
      <p:sp>
        <p:nvSpPr>
          <p:cNvPr id="277"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4ED5BC2-BD13-4D32-B2E8-4B66123720D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1143000" y="685800"/>
            <a:ext cx="4571640" cy="3428640"/>
          </a:xfrm>
          <a:prstGeom prst="rect">
            <a:avLst/>
          </a:prstGeom>
          <a:ln w="0">
            <a:noFill/>
          </a:ln>
        </p:spPr>
      </p:sp>
      <p:sp>
        <p:nvSpPr>
          <p:cNvPr id="27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Pause here. Let this land. This is not a hypothetical. Administrative subpoenas to US-based cloud providers require no judicial review. The provider doesn't have to tell you they complied. You might find out months later in a transparency report, or you might find out when a detective calls you. This is the low end of the threat we're designing against — paperwork. But we're also designing against the high end: nation-state adversaries with NSLs, runtime instrumentation budgets, and physical access to infrastructure. The architecture has to hold against both.</a:t>
            </a:r>
            <a:endParaRPr b="0" lang="en-US" sz="1000" spc="-1" strike="noStrike">
              <a:solidFill>
                <a:srgbClr val="000000"/>
              </a:solidFill>
              <a:latin typeface="Arial"/>
            </a:endParaRPr>
          </a:p>
        </p:txBody>
      </p:sp>
      <p:sp>
        <p:nvSpPr>
          <p:cNvPr id="280"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E190024-EC6F-41A4-A309-1FB1D63406A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1143000" y="685800"/>
            <a:ext cx="4571640" cy="3428640"/>
          </a:xfrm>
          <a:prstGeom prst="rect">
            <a:avLst/>
          </a:prstGeom>
          <a:ln w="0">
            <a:noFill/>
          </a:ln>
        </p:spPr>
      </p:sp>
      <p:sp>
        <p:nvSpPr>
          <p:cNvPr id="28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Rough timing: Parts 1-2 take about 20 min, Part 3 about 20 min, Parts 4-6 about 20 min, Parts 7-8 about 10 min, then Q&amp;A. Adjust based on audience questions throughout. The most important section is Part 4 — the subpoena matrix. That's where the architecture becomes real.</a:t>
            </a:r>
            <a:endParaRPr b="0" lang="en-US" sz="1000" spc="-1" strike="noStrike">
              <a:solidFill>
                <a:srgbClr val="000000"/>
              </a:solidFill>
              <a:latin typeface="Arial"/>
            </a:endParaRPr>
          </a:p>
        </p:txBody>
      </p:sp>
      <p:sp>
        <p:nvSpPr>
          <p:cNvPr id="283"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2E7F886-A519-4E0B-A2CE-03D71306BD6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43000" y="685800"/>
            <a:ext cx="4571640" cy="3428640"/>
          </a:xfrm>
          <a:prstGeom prst="rect">
            <a:avLst/>
          </a:prstGeom>
          <a:ln w="0">
            <a:noFill/>
          </a:ln>
        </p:spPr>
      </p:sp>
      <p:sp>
        <p:nvSpPr>
          <p:cNvPr id="2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Let's start with who's coming for your org and why your current tools are a gift to them.</a:t>
            </a:r>
            <a:endParaRPr b="0" lang="en-US" sz="1000" spc="-1" strike="noStrike">
              <a:solidFill>
                <a:srgbClr val="000000"/>
              </a:solidFill>
              <a:latin typeface="Arial"/>
            </a:endParaRPr>
          </a:p>
        </p:txBody>
      </p:sp>
      <p:sp>
        <p:nvSpPr>
          <p:cNvPr id="286"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B2071D2-D0D9-49AF-B759-47BF80A44FE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1143000" y="685800"/>
            <a:ext cx="4571640" cy="3428640"/>
          </a:xfrm>
          <a:prstGeom prst="rect">
            <a:avLst/>
          </a:prstGeom>
          <a:ln w="0">
            <a:noFill/>
          </a:ln>
        </p:spPr>
      </p:sp>
      <p:sp>
        <p:nvSpPr>
          <p:cNvPr id="2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Name the adversaries directly. "Law enforcement" is too abstract. We're talking about cops. We're talking about ICE. We're talking about FBI with national security letters. We're talking about the private investigators that right-wing groups hire after getting org member lists from leak sites. We're also talking about nation-state actors who can compel hosting providers and instrument runtimes. The threat model matters because it determines what you protect against. We defend against all of these — from the detective with 48 hours and a form, up to a sophisticated adversary with physical access to infrastructure. That's the bar we set.</a:t>
            </a:r>
            <a:endParaRPr b="0" lang="en-US" sz="1000" spc="-1" strike="noStrike">
              <a:solidFill>
                <a:srgbClr val="000000"/>
              </a:solidFill>
              <a:latin typeface="Arial"/>
            </a:endParaRPr>
          </a:p>
        </p:txBody>
      </p:sp>
      <p:sp>
        <p:nvSpPr>
          <p:cNvPr id="289"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A0FDD69-B9D4-4A66-AE2A-F5F1B57AFBC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1143000" y="685800"/>
            <a:ext cx="4571640" cy="3428640"/>
          </a:xfrm>
          <a:prstGeom prst="rect">
            <a:avLst/>
          </a:prstGeom>
          <a:ln w="0">
            <a:noFill/>
          </a:ln>
        </p:spPr>
      </p:sp>
      <p:sp>
        <p:nvSpPr>
          <p:cNvPr id="29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These are composites from real incidents — don't name the orgs, obviously. The point: these are not sophisticated attacks. They're paperwork. The attacker doesn't need to break encryption or compromise your server. They just need to ask your cloud provider nicely — or not so nicely — and the provider complies. Our job is to make that form useless.</a:t>
            </a:r>
            <a:endParaRPr b="0" lang="en-US" sz="1000" spc="-1" strike="noStrike">
              <a:solidFill>
                <a:srgbClr val="000000"/>
              </a:solidFill>
              <a:latin typeface="Arial"/>
            </a:endParaRPr>
          </a:p>
        </p:txBody>
      </p:sp>
      <p:sp>
        <p:nvSpPr>
          <p:cNvPr id="292"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A81E219-4C80-4E68-9B8B-F3FB8BB93E2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1143000" y="685800"/>
            <a:ext cx="4571640" cy="3428640"/>
          </a:xfrm>
          <a:prstGeom prst="rect">
            <a:avLst/>
          </a:prstGeom>
          <a:ln w="0">
            <a:noFill/>
          </a:ln>
        </p:spPr>
      </p:sp>
      <p:sp>
        <p:nvSpPr>
          <p:cNvPr id="29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Google's administrative subpoena compliance is extremely fast. I've spoken to people who only found out they were subpoenaed because they asked for a transparency report months later. The latency between the subpoena and the detective's phone call to the organizer was under 72 hours in at least one case I know of personally.</a:t>
            </a:r>
            <a:endParaRPr b="0" lang="en-US" sz="1000" spc="-1" strike="noStrike">
              <a:solidFill>
                <a:srgbClr val="000000"/>
              </a:solidFill>
              <a:latin typeface="Arial"/>
            </a:endParaRPr>
          </a:p>
        </p:txBody>
      </p:sp>
      <p:sp>
        <p:nvSpPr>
          <p:cNvPr id="295"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5CE08B4-459A-403C-815F-C449DDDCC26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43000" y="685800"/>
            <a:ext cx="4571640" cy="3428640"/>
          </a:xfrm>
          <a:prstGeom prst="rect">
            <a:avLst/>
          </a:prstGeom>
          <a:ln w="0">
            <a:noFill/>
          </a:ln>
        </p:spPr>
      </p:sp>
      <p:sp>
        <p:nvSpPr>
          <p:cNvPr id="29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I want to be fair to Twilio. They publish transparency reports. They push back on some requests. But "they sometimes push back" is not a threat model. When law enforcement has a valid administrative subpoena, US-based providers comply. Twilio does not have a legal obligation to protect your volunteers from cops. That obligation is yours, and the way you fulfill it is through architecture.</a:t>
            </a:r>
            <a:endParaRPr b="0" lang="en-US" sz="1000" spc="-1" strike="noStrike">
              <a:solidFill>
                <a:srgbClr val="000000"/>
              </a:solidFill>
              <a:latin typeface="Arial"/>
            </a:endParaRPr>
          </a:p>
        </p:txBody>
      </p:sp>
      <p:sp>
        <p:nvSpPr>
          <p:cNvPr id="298"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5E86652-6EFB-4984-96CF-CB860011E17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1143000" y="685800"/>
            <a:ext cx="4571640" cy="3428640"/>
          </a:xfrm>
          <a:prstGeom prst="rect">
            <a:avLst/>
          </a:prstGeom>
          <a:ln w="0">
            <a:noFill/>
          </a:ln>
        </p:spPr>
      </p:sp>
      <p:sp>
        <p:nvSpPr>
          <p:cNvPr id="3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why we talk about "attack surface reduction." You can't make the calls disappear. But you can make the call records useless, and the notes unreadable. That's the design goal. Not invisibility. Uselessness — turning what the adversary gets into something they can't act on.</a:t>
            </a:r>
            <a:endParaRPr b="0" lang="en-US" sz="1000" spc="-1" strike="noStrike">
              <a:solidFill>
                <a:srgbClr val="000000"/>
              </a:solidFill>
              <a:latin typeface="Arial"/>
            </a:endParaRPr>
          </a:p>
        </p:txBody>
      </p:sp>
      <p:sp>
        <p:nvSpPr>
          <p:cNvPr id="301"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CCDD6EC-D359-4E5B-B99B-5A764450432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1143000" y="685800"/>
            <a:ext cx="4571640" cy="3428640"/>
          </a:xfrm>
          <a:prstGeom prst="rect">
            <a:avLst/>
          </a:prstGeom>
          <a:ln w="0">
            <a:noFill/>
          </a:ln>
        </p:spPr>
      </p:sp>
      <p:sp>
        <p:nvSpPr>
          <p:cNvPr id="30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Now let's talk about what we actually built. The core insight is: metadata is as dangerous as content. Who called whom, when, for how long — that's enough to identify an organizer, map a network, and build a harassment campaign.</a:t>
            </a:r>
            <a:endParaRPr b="0" lang="en-US" sz="1000" spc="-1" strike="noStrike">
              <a:solidFill>
                <a:srgbClr val="000000"/>
              </a:solidFill>
              <a:latin typeface="Arial"/>
            </a:endParaRPr>
          </a:p>
        </p:txBody>
      </p:sp>
      <p:sp>
        <p:nvSpPr>
          <p:cNvPr id="304"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86C925A-5F22-4E7A-AC21-D1648585B5D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1143000" y="685800"/>
            <a:ext cx="4571640" cy="3428640"/>
          </a:xfrm>
          <a:prstGeom prst="rect">
            <a:avLst/>
          </a:prstGeom>
          <a:ln w="0">
            <a:noFill/>
          </a:ln>
        </p:spPr>
      </p:sp>
      <p:sp>
        <p:nvSpPr>
          <p:cNvPr id="30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SIP trunk is the key architectural move. Instead of "Twilio routes calls for you," you're saying "a PSTN number terminates at MY server, then I route." The call detail record lives on your infrastructure, not Twilio's. Self-hosted Asterisk/FreeSWITCH is the default deployment — the Ansible playbook sets it up. With no cloud SIP provider, there's no external party with records at all — just your database on your FDE-encrypted server, which you control. Cloud SIP providers like Telnyx exist as an option for orgs that aren't ready to run their own PBX yet.</a:t>
            </a:r>
            <a:endParaRPr b="0" lang="en-US" sz="1000" spc="-1" strike="noStrike">
              <a:solidFill>
                <a:srgbClr val="000000"/>
              </a:solidFill>
              <a:latin typeface="Arial"/>
            </a:endParaRPr>
          </a:p>
        </p:txBody>
      </p:sp>
      <p:sp>
        <p:nvSpPr>
          <p:cNvPr id="307"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D573DCB-3AE1-4468-B32E-6D601140655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1143000" y="685800"/>
            <a:ext cx="4571640" cy="3428640"/>
          </a:xfrm>
          <a:prstGeom prst="rect">
            <a:avLst/>
          </a:prstGeom>
          <a:ln w="0">
            <a:noFill/>
          </a:ln>
        </p:spPr>
      </p:sp>
      <p:sp>
        <p:nvSpPr>
          <p:cNvPr id="30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Walk through this slowly. The SIP bridge is the key piece — it's running on your server, behind a WireGuard tunnel for ingress, no public IP needed. The PSTN number is just a DID (Direct Inward Dial) from whatever SIP provider you chose. The caller's phone rings YOUR server. Not Twilio's server. Not Google's server. Yours.</a:t>
            </a:r>
            <a:endParaRPr b="0" lang="en-US" sz="1000" spc="-1" strike="noStrike">
              <a:solidFill>
                <a:srgbClr val="000000"/>
              </a:solidFill>
              <a:latin typeface="Arial"/>
            </a:endParaRPr>
          </a:p>
        </p:txBody>
      </p:sp>
      <p:sp>
        <p:nvSpPr>
          <p:cNvPr id="310"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C14D097-8E79-4CF7-82E9-95843C27F5B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1143000" y="685800"/>
            <a:ext cx="4571640" cy="3428640"/>
          </a:xfrm>
          <a:prstGeom prst="rect">
            <a:avLst/>
          </a:prstGeom>
          <a:ln w="0">
            <a:noFill/>
          </a:ln>
        </p:spPr>
      </p:sp>
      <p:sp>
        <p:nvSpPr>
          <p:cNvPr id="31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subtle but important for OSINT defense. If an adversary can see CDRs, sequential ring tells them: here are the volunteer phone numbers, in order of who answers first, on which days. That's your volunteer mapping. Parallel ring gives them much less — and combined with CDR-free SIP trunks, the metadata posture is dramatically better. Also: parallel ring is better operations. In a real crisis line, if you ring volunteers sequentially, the first person gets all the calls. Parallel ring distributes load AND reduces timing correlation. Two wins.</a:t>
            </a:r>
            <a:endParaRPr b="0" lang="en-US" sz="1000" spc="-1" strike="noStrike">
              <a:solidFill>
                <a:srgbClr val="000000"/>
              </a:solidFill>
              <a:latin typeface="Arial"/>
            </a:endParaRPr>
          </a:p>
        </p:txBody>
      </p:sp>
      <p:sp>
        <p:nvSpPr>
          <p:cNvPr id="313"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5CFEE86-82CA-4E5F-BBD3-1E3FD1349B0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1143000" y="685800"/>
            <a:ext cx="4571640" cy="3428640"/>
          </a:xfrm>
          <a:prstGeom prst="rect">
            <a:avLst/>
          </a:prstGeom>
          <a:ln w="0">
            <a:noFill/>
          </a:ln>
        </p:spPr>
      </p:sp>
      <p:sp>
        <p:nvSpPr>
          <p:cNvPr id="31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default Ansible deployment gives you self-hosted Asterisk or FreeSWITCH — that's the recommended setup. But the adapter architecture means if an org needs to start with Twilio while building out infrastructure, they can, and migrate later with zero code changes — just update PBX_TYPE in your .env. The SIP bridge is provider-agnostic. You don't want to rewrite your hotline infrastructure every time your threat model evolves.</a:t>
            </a:r>
            <a:endParaRPr b="0" lang="en-US" sz="1000" spc="-1" strike="noStrike">
              <a:solidFill>
                <a:srgbClr val="000000"/>
              </a:solidFill>
              <a:latin typeface="Arial"/>
            </a:endParaRPr>
          </a:p>
        </p:txBody>
      </p:sp>
      <p:sp>
        <p:nvSpPr>
          <p:cNvPr id="316"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7E21A0A-A7B4-49B9-9848-E20031DDE0C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1143000" y="685800"/>
            <a:ext cx="4571640" cy="3428640"/>
          </a:xfrm>
          <a:prstGeom prst="rect">
            <a:avLst/>
          </a:prstGeom>
          <a:ln w="0">
            <a:noFill/>
          </a:ln>
        </p:spPr>
      </p:sp>
      <p:sp>
        <p:nvSpPr>
          <p:cNvPr id="31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WireGuard tunnel means your server doesn't need a public IP. No port scanning. No DDoS directly at your IP. IP address not exposed to clients. No third-party TLS termination — the tunnel is point-to-point encrypted between your server and your entry node.</a:t>
            </a:r>
            <a:endParaRPr b="0" lang="en-US" sz="1000" spc="-1" strike="noStrike">
              <a:solidFill>
                <a:srgbClr val="000000"/>
              </a:solidFill>
              <a:latin typeface="Arial"/>
            </a:endParaRPr>
          </a:p>
        </p:txBody>
      </p:sp>
      <p:sp>
        <p:nvSpPr>
          <p:cNvPr id="319"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679E090-F6E6-49EC-9FD1-A35AFE33164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1143000" y="685800"/>
            <a:ext cx="4571640" cy="3428640"/>
          </a:xfrm>
          <a:prstGeom prst="rect">
            <a:avLst/>
          </a:prstGeom>
          <a:ln w="0">
            <a:noFill/>
          </a:ln>
        </p:spPr>
      </p:sp>
      <p:sp>
        <p:nvSpPr>
          <p:cNvPr id="3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Now the most important part — what happens after the call. The notes. The conversation history. The reason your server is valuable to an adversary. Let me show you what "zero-knowledge" actually means in practice.</a:t>
            </a:r>
            <a:endParaRPr b="0" lang="en-US" sz="1000" spc="-1" strike="noStrike">
              <a:solidFill>
                <a:srgbClr val="000000"/>
              </a:solidFill>
              <a:latin typeface="Arial"/>
            </a:endParaRPr>
          </a:p>
        </p:txBody>
      </p:sp>
      <p:sp>
        <p:nvSpPr>
          <p:cNvPr id="322"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56D3653-AA39-429A-9C84-50995C5918C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1143000" y="685800"/>
            <a:ext cx="4571640" cy="3428640"/>
          </a:xfrm>
          <a:prstGeom prst="rect">
            <a:avLst/>
          </a:prstGeom>
          <a:ln w="0">
            <a:noFill/>
          </a:ln>
        </p:spPr>
      </p:sp>
      <p:sp>
        <p:nvSpPr>
          <p:cNvPr id="3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the core promise. If your server is compromised, if you're served a subpoena, if an admin is coerced — they get encrypted blobs. To read a note, you need the volunteer's private key. The private key never leaves the device. Ever. The server is a zero-knowledge relay. It's moving data it can't read.</a:t>
            </a:r>
            <a:endParaRPr b="0" lang="en-US" sz="1000" spc="-1" strike="noStrike">
              <a:solidFill>
                <a:srgbClr val="000000"/>
              </a:solidFill>
              <a:latin typeface="Arial"/>
            </a:endParaRPr>
          </a:p>
        </p:txBody>
      </p:sp>
      <p:sp>
        <p:nvSpPr>
          <p:cNvPr id="325" name="PlaceHolder 3"/>
          <p:cNvSpPr>
            <a:spLocks noGrp="1"/>
          </p:cNvSpPr>
          <p:nvPr>
            <p:ph type="sldNum" idx="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A421576-DDF4-435D-8117-484B007FC28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1143000" y="685800"/>
            <a:ext cx="4571640" cy="3428640"/>
          </a:xfrm>
          <a:prstGeom prst="rect">
            <a:avLst/>
          </a:prstGeom>
          <a:ln w="0">
            <a:noFill/>
          </a:ln>
        </p:spPr>
      </p:sp>
      <p:sp>
        <p:nvSpPr>
          <p:cNvPr id="3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"Forward secrecy" means: if someone gets a volunteer's identity key tomorrow, it doesn't let them decrypt yesterday's notes. Each note has its own random 256-bit key. The identity key is only used to WRAP the per-note key — not to encrypt content directly. So even if the identity key is compromised, the attacker has to also get the wrapped note key for each individual note. It's envelopes inside envelopes. A whole detective novel's worth of extra homework.</a:t>
            </a:r>
            <a:endParaRPr b="0" lang="en-US" sz="1000" spc="-1" strike="noStrike">
              <a:solidFill>
                <a:srgbClr val="000000"/>
              </a:solidFill>
              <a:latin typeface="Arial"/>
            </a:endParaRPr>
          </a:p>
        </p:txBody>
      </p:sp>
      <p:sp>
        <p:nvSpPr>
          <p:cNvPr id="328" name="PlaceHolder 3"/>
          <p:cNvSpPr>
            <a:spLocks noGrp="1"/>
          </p:cNvSpPr>
          <p:nvPr>
            <p:ph type="sldNum" idx="5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1012B76-9655-46AD-BCBA-B6BC2E79C84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1143000" y="685800"/>
            <a:ext cx="4571640" cy="3428640"/>
          </a:xfrm>
          <a:prstGeom prst="rect">
            <a:avLst/>
          </a:prstGeom>
          <a:ln w="0">
            <a:noFill/>
          </a:ln>
        </p:spPr>
      </p:sp>
      <p:sp>
        <p:nvSpPr>
          <p:cNvPr id="3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one of the things I'm most proud of. We moved transcription from a cloud API to in-browser WASM — Whisper via Hugging Face's ONNX runtime. The audio is captured by MediaRecorder, processed in a Web Worker, and the resulting transcript text is encrypted immediately with the note's E2EE key. No network request. No API key. No transcript provider. The call audio exists only in browser memory for the duration of the processing. For this audience: that's huge. That's the audio equivalent of zero-knowledge.</a:t>
            </a:r>
            <a:endParaRPr b="0" lang="en-US" sz="1000" spc="-1" strike="noStrike">
              <a:solidFill>
                <a:srgbClr val="000000"/>
              </a:solidFill>
              <a:latin typeface="Arial"/>
            </a:endParaRPr>
          </a:p>
        </p:txBody>
      </p:sp>
      <p:sp>
        <p:nvSpPr>
          <p:cNvPr id="331" name="PlaceHolder 3"/>
          <p:cNvSpPr>
            <a:spLocks noGrp="1"/>
          </p:cNvSpPr>
          <p:nvPr>
            <p:ph type="sldNum" idx="5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B050C6-7555-4282-9E16-F6BF752DA41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1143000" y="685800"/>
            <a:ext cx="4571640" cy="3428640"/>
          </a:xfrm>
          <a:prstGeom prst="rect">
            <a:avLst/>
          </a:prstGeom>
          <a:ln w="0">
            <a:noFill/>
          </a:ln>
        </p:spPr>
      </p:sp>
      <p:sp>
        <p:nvSpPr>
          <p:cNvPr id="3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v1 → v2 migration came out of a review by a cryptographer who has worked on Signal's protocol. The core problem with v1 was: it worked, but "it worked" is not the same as "it's formally verified." A custom ECIES scheme using Nostr's secp256k1 curve — you can't point a peer at an RFC and say "that's what we do." HPKE is an IETF RFC. It's the same key agreement used in TLS 1.3's 0-RTT mode. The formal security analysis exists. That matters when you're trying to explain your security model to a lawyer, a journalist, or another cryptographer.</a:t>
            </a:r>
            <a:endParaRPr b="0" lang="en-US" sz="1000" spc="-1" strike="noStrike">
              <a:solidFill>
                <a:srgbClr val="000000"/>
              </a:solidFill>
              <a:latin typeface="Arial"/>
            </a:endParaRPr>
          </a:p>
        </p:txBody>
      </p:sp>
      <p:sp>
        <p:nvSpPr>
          <p:cNvPr id="334" name="PlaceHolder 3"/>
          <p:cNvSpPr>
            <a:spLocks noGrp="1"/>
          </p:cNvSpPr>
          <p:nvPr>
            <p:ph type="sldNum" idx="5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0001B54-8902-418F-9BBC-9341A7CA837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1143000" y="685800"/>
            <a:ext cx="4571640" cy="3428640"/>
          </a:xfrm>
          <a:prstGeom prst="rect">
            <a:avLst/>
          </a:prstGeom>
          <a:ln w="0">
            <a:noFill/>
          </a:ln>
        </p:spPr>
      </p:sp>
      <p:sp>
        <p:nvSpPr>
          <p:cNvPr id="3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"Albrecht defense" — named after Martin Albrecht's work on cross-protocol attacks in real-world deployments. If you use the same KDF with the same inputs across two different operations, an attacker who can interact with one context might be able to influence the other. Domain separation labels prevent this by binding every HKDF/ECDH/HPKE output to its specific purpose. We generate these constants from a single JSON file and compile them to TypeScript, Swift, and Kotlin via codegen. No raw string literals anywhere in the codebase.</a:t>
            </a:r>
            <a:endParaRPr b="0" lang="en-US" sz="1000" spc="-1" strike="noStrike">
              <a:solidFill>
                <a:srgbClr val="000000"/>
              </a:solidFill>
              <a:latin typeface="Arial"/>
            </a:endParaRPr>
          </a:p>
        </p:txBody>
      </p:sp>
      <p:sp>
        <p:nvSpPr>
          <p:cNvPr id="337" name="PlaceHolder 3"/>
          <p:cNvSpPr>
            <a:spLocks noGrp="1"/>
          </p:cNvSpPr>
          <p:nvPr>
            <p:ph type="sldNum" idx="5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C80EC48-4A48-41FC-912C-FF3F51C0963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1143000" y="685800"/>
            <a:ext cx="4571640" cy="3428640"/>
          </a:xfrm>
          <a:prstGeom prst="rect">
            <a:avLst/>
          </a:prstGeom>
          <a:ln w="0">
            <a:noFill/>
          </a:ln>
        </p:spPr>
      </p:sp>
      <p:sp>
        <p:nvSpPr>
          <p:cNvPr id="3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sigchain is conceptually borrowed from Signal's sealed sender. Each device authorization is a signed statement from an already-authorized device. You verify a new device by comparing a Short Authentication String — four emoji, six words, whatever — between the two devices. This prevents a MITM from injecting a rogue device into your account. And importantly: if one device is seized, the other devices aren't automatically compromised. Device compromise is local.</a:t>
            </a:r>
            <a:endParaRPr b="0" lang="en-US" sz="1000" spc="-1" strike="noStrike">
              <a:solidFill>
                <a:srgbClr val="000000"/>
              </a:solidFill>
              <a:latin typeface="Arial"/>
            </a:endParaRPr>
          </a:p>
        </p:txBody>
      </p:sp>
      <p:sp>
        <p:nvSpPr>
          <p:cNvPr id="340" name="PlaceHolder 3"/>
          <p:cNvSpPr>
            <a:spLocks noGrp="1"/>
          </p:cNvSpPr>
          <p:nvPr>
            <p:ph type="sldNum" idx="6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017752D-921B-4030-A019-9E4D4AD3581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1143000" y="685800"/>
            <a:ext cx="4571640" cy="3428640"/>
          </a:xfrm>
          <a:prstGeom prst="rect">
            <a:avLst/>
          </a:prstGeom>
          <a:ln w="0">
            <a:noFill/>
          </a:ln>
        </p:spPr>
      </p:sp>
      <p:sp>
        <p:nvSpPr>
          <p:cNvPr id="3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important for Signal integration especially. When someone sends a Signal message to your org's Signal number, the server receives it, encrypts it immediately, and throws away the plaintext. Even if the server is compromised moments after the message arrives, the plaintext is gone. The attacker gets ciphertext. This is different from how most messaging integrations work — most store the plaintext forever. We discard it immediately.</a:t>
            </a:r>
            <a:endParaRPr b="0" lang="en-US" sz="1000" spc="-1" strike="noStrike">
              <a:solidFill>
                <a:srgbClr val="000000"/>
              </a:solidFill>
              <a:latin typeface="Arial"/>
            </a:endParaRPr>
          </a:p>
        </p:txBody>
      </p:sp>
      <p:sp>
        <p:nvSpPr>
          <p:cNvPr id="343" name="PlaceHolder 3"/>
          <p:cNvSpPr>
            <a:spLocks noGrp="1"/>
          </p:cNvSpPr>
          <p:nvPr>
            <p:ph type="sldNum" idx="6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D64000D-14FC-4914-809C-1EFF8068014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1143000" y="685800"/>
            <a:ext cx="4571640" cy="3428640"/>
          </a:xfrm>
          <a:prstGeom prst="rect">
            <a:avLst/>
          </a:prstGeom>
          <a:ln w="0">
            <a:noFill/>
          </a:ln>
        </p:spPr>
      </p:sp>
      <p:sp>
        <p:nvSpPr>
          <p:cNvPr id="3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the slide I really want this audience to internalize. Let me walk through each subpoena scenario concretely. What does each adversary actually get, and what can't they get.</a:t>
            </a:r>
            <a:endParaRPr b="0" lang="en-US" sz="1000" spc="-1" strike="noStrike">
              <a:solidFill>
                <a:srgbClr val="000000"/>
              </a:solidFill>
              <a:latin typeface="Arial"/>
            </a:endParaRPr>
          </a:p>
        </p:txBody>
      </p:sp>
      <p:sp>
        <p:nvSpPr>
          <p:cNvPr id="346" name="PlaceHolder 3"/>
          <p:cNvSpPr>
            <a:spLocks noGrp="1"/>
          </p:cNvSpPr>
          <p:nvPr>
            <p:ph type="sldNum" idx="6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D8179F6-328A-4327-AAD5-88961EA8778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1143000" y="685800"/>
            <a:ext cx="4571640" cy="3428640"/>
          </a:xfrm>
          <a:prstGeom prst="rect">
            <a:avLst/>
          </a:prstGeom>
          <a:ln w="0">
            <a:noFill/>
          </a:ln>
        </p:spPr>
      </p:sp>
      <p:sp>
        <p:nvSpPr>
          <p:cNvPr id="3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the key scenario. Law enforcement goes to your hosting provider. With 1984 Hosting in Iceland, they're outside US CLOUD Act jurisdiction — a US subpoena doesn't work, they'd need an MLAT request through Icelandic courts, which takes months and has a higher bar. Even if they succeed, what does the provider hand over? Encrypted blobs, timestamps, and hashed phone numbers. The disk is FDE with your custom ISO — 1984 can't read it at rest. They can prove a call happened. They cannot read what was said in the notes. They cannot identify the caller. Metadata: yes. Content: no. That's a meaningful line.</a:t>
            </a:r>
            <a:endParaRPr b="0" lang="en-US" sz="1000" spc="-1" strike="noStrike">
              <a:solidFill>
                <a:srgbClr val="000000"/>
              </a:solidFill>
              <a:latin typeface="Arial"/>
            </a:endParaRPr>
          </a:p>
        </p:txBody>
      </p:sp>
      <p:sp>
        <p:nvSpPr>
          <p:cNvPr id="349" name="PlaceHolder 3"/>
          <p:cNvSpPr>
            <a:spLocks noGrp="1"/>
          </p:cNvSpPr>
          <p:nvPr>
            <p:ph type="sldNum" idx="6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A5B7418-1293-413F-8087-F6156DE8EEF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1143000" y="685800"/>
            <a:ext cx="4571640" cy="3428640"/>
          </a:xfrm>
          <a:prstGeom prst="rect">
            <a:avLst/>
          </a:prstGeom>
          <a:ln w="0">
            <a:noFill/>
          </a:ln>
        </p:spPr>
      </p:sp>
      <p:sp>
        <p:nvSpPr>
          <p:cNvPr id="3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why the SIP trunk choice matters. With Twilio Programmable Voice: they have everything. With Telnyx CDR-free SIP trunk: they have much less — just the DID termination record. With self-hosted Asterisk pointing at a SIP DID: the provider sees only that a call terminated at your server, and your server is what you just talked about — encrypted blobs and metadata.</a:t>
            </a:r>
            <a:endParaRPr b="0" lang="en-US" sz="1000" spc="-1" strike="noStrike">
              <a:solidFill>
                <a:srgbClr val="000000"/>
              </a:solidFill>
              <a:latin typeface="Arial"/>
            </a:endParaRPr>
          </a:p>
        </p:txBody>
      </p:sp>
      <p:sp>
        <p:nvSpPr>
          <p:cNvPr id="352" name="PlaceHolder 3"/>
          <p:cNvSpPr>
            <a:spLocks noGrp="1"/>
          </p:cNvSpPr>
          <p:nvPr>
            <p:ph type="sldNum" idx="6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B108E90-0BCF-4402-86D7-2AD013B1CBB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1143000" y="685800"/>
            <a:ext cx="4571640" cy="3428640"/>
          </a:xfrm>
          <a:prstGeom prst="rect">
            <a:avLst/>
          </a:prstGeom>
          <a:ln w="0">
            <a:noFill/>
          </a:ln>
        </p:spPr>
      </p:sp>
      <p:sp>
        <p:nvSpPr>
          <p:cNvPr id="3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device seizure scenario is worth walking through carefully. If a volunteer's phone is seized unlocked — bad day. Admin can revoke the session. The volunteer's notes are accessible but only their notes. If the phone is locked, the attacker needs to brute-force a 6-8 digit PIN against 600k PBKDF2 iterations. That's not impossible but it's not fast either. The admin device is the most sensitive — store it somewhere that isn't your pocket at a protest.</a:t>
            </a:r>
            <a:endParaRPr b="0" lang="en-US" sz="1000" spc="-1" strike="noStrike">
              <a:solidFill>
                <a:srgbClr val="000000"/>
              </a:solidFill>
              <a:latin typeface="Arial"/>
            </a:endParaRPr>
          </a:p>
        </p:txBody>
      </p:sp>
      <p:sp>
        <p:nvSpPr>
          <p:cNvPr id="355" name="PlaceHolder 3"/>
          <p:cNvSpPr>
            <a:spLocks noGrp="1"/>
          </p:cNvSpPr>
          <p:nvPr>
            <p:ph type="sldNum" idx="6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AD94867-1F00-49D5-BC19-C5EE8143935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1143000" y="685800"/>
            <a:ext cx="4571640" cy="3428640"/>
          </a:xfrm>
          <a:prstGeom prst="rect">
            <a:avLst/>
          </a:prstGeom>
          <a:ln w="0">
            <a:noFill/>
          </a:ln>
        </p:spPr>
      </p:sp>
      <p:sp>
        <p:nvSpPr>
          <p:cNvPr id="3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I want to say this clearly: we built this for the full threat spectrum. A county sheriff with a form and 48 hours is the easy case — we handle that trivially. But we also handle the hard case: an FBI agent with a national security letter, a fusion center correlating metadata across providers, a nation-state actor with physical access to your hosting infrastructure. FDE with a custom ISO on 1984 Hosting means even physical seizure of the disk doesn't help. CLOUD Act non-applicability means US legal process doesn't reach your provider. E2EE with per-device keys means server compromise reveals nothing. This is the full stack — not one layer, but defense in depth from the hosting jurisdiction to the key material on each device.</a:t>
            </a:r>
            <a:endParaRPr b="0" lang="en-US" sz="1000" spc="-1" strike="noStrike">
              <a:solidFill>
                <a:srgbClr val="000000"/>
              </a:solidFill>
              <a:latin typeface="Arial"/>
            </a:endParaRPr>
          </a:p>
        </p:txBody>
      </p:sp>
      <p:sp>
        <p:nvSpPr>
          <p:cNvPr id="358" name="PlaceHolder 3"/>
          <p:cNvSpPr>
            <a:spLocks noGrp="1"/>
          </p:cNvSpPr>
          <p:nvPr>
            <p:ph type="sldNum" idx="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45037E7-768A-4D85-B47D-7571F911CC3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1143000" y="685800"/>
            <a:ext cx="4571640" cy="3428640"/>
          </a:xfrm>
          <a:prstGeom prst="rect">
            <a:avLst/>
          </a:prstGeom>
          <a:ln w="0">
            <a:noFill/>
          </a:ln>
        </p:spPr>
      </p:sp>
      <p:sp>
        <p:nvSpPr>
          <p:cNvPr id="3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A lot of orgs already use Signal for internal coordination. We built a way to route Signal messages into the same zero-knowledge system. Let me explain what we actually built and what the field use cases look like.</a:t>
            </a:r>
            <a:endParaRPr b="0" lang="en-US" sz="1000" spc="-1" strike="noStrike">
              <a:solidFill>
                <a:srgbClr val="000000"/>
              </a:solidFill>
              <a:latin typeface="Arial"/>
            </a:endParaRPr>
          </a:p>
        </p:txBody>
      </p:sp>
      <p:sp>
        <p:nvSpPr>
          <p:cNvPr id="361" name="PlaceHolder 3"/>
          <p:cNvSpPr>
            <a:spLocks noGrp="1"/>
          </p:cNvSpPr>
          <p:nvPr>
            <p:ph type="sldNum" idx="6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7B60E76-6E7D-4E94-975F-BA9A9B8EB2E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1143000" y="685800"/>
            <a:ext cx="4571640" cy="3428640"/>
          </a:xfrm>
          <a:prstGeom prst="rect">
            <a:avLst/>
          </a:prstGeom>
          <a:ln w="0">
            <a:noFill/>
          </a:ln>
        </p:spPr>
      </p:sp>
      <p:sp>
        <p:nvSpPr>
          <p:cNvPr id="3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impetus for Signal integration was feedback from legal observer networks. Their observers in the field have Signal, not a custom app, and they're not going to install one while they're watching police arrest people. They need to send: "12 people arrested, here are the names, badge number 4471 made the call." That message needs to be encrypted at rest, not sitting in a Signal group that includes 40 people with varying device security.</a:t>
            </a:r>
            <a:endParaRPr b="0" lang="en-US" sz="1000" spc="-1" strike="noStrike">
              <a:solidFill>
                <a:srgbClr val="000000"/>
              </a:solidFill>
              <a:latin typeface="Arial"/>
            </a:endParaRPr>
          </a:p>
        </p:txBody>
      </p:sp>
      <p:sp>
        <p:nvSpPr>
          <p:cNvPr id="364" name="PlaceHolder 3"/>
          <p:cNvSpPr>
            <a:spLocks noGrp="1"/>
          </p:cNvSpPr>
          <p:nvPr>
            <p:ph type="sldNum" idx="6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F2ADAD6-C093-4468-A0DD-FD856F58E96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1143000" y="685800"/>
            <a:ext cx="4571640" cy="3428640"/>
          </a:xfrm>
          <a:prstGeom prst="rect">
            <a:avLst/>
          </a:prstGeom>
          <a:ln w="0">
            <a:noFill/>
          </a:ln>
        </p:spPr>
      </p:sp>
      <p:sp>
        <p:nvSpPr>
          <p:cNvPr id="3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These aren't hypothetical. These are the workflows that led to the Signal integration request. The pattern is: someone in a high-stakes field situation needs to file a record, they can't stop and open a custom app, but they have Signal. The channel integration means that Signal message becomes an E2EE record in the case management system. No copy-paste. No manual logging later. It just appears, encrypted.</a:t>
            </a:r>
            <a:endParaRPr b="0" lang="en-US" sz="1000" spc="-1" strike="noStrike">
              <a:solidFill>
                <a:srgbClr val="000000"/>
              </a:solidFill>
              <a:latin typeface="Arial"/>
            </a:endParaRPr>
          </a:p>
        </p:txBody>
      </p:sp>
      <p:sp>
        <p:nvSpPr>
          <p:cNvPr id="367" name="PlaceHolder 3"/>
          <p:cNvSpPr>
            <a:spLocks noGrp="1"/>
          </p:cNvSpPr>
          <p:nvPr>
            <p:ph type="sldNum" idx="6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F516641-D002-41FC-B600-8DC3D1A875F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1143000" y="685800"/>
            <a:ext cx="4571640" cy="3428640"/>
          </a:xfrm>
          <a:prstGeom prst="rect">
            <a:avLst/>
          </a:prstGeom>
          <a:ln w="0">
            <a:noFill/>
          </a:ln>
        </p:spPr>
      </p:sp>
      <p:sp>
        <p:nvSpPr>
          <p:cNvPr id="3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Signal sidecar is isolated from the main app. It communicates via a bearer token. If the sidecar is compromised, the attacker sees HMAC hashes, not phone numbers. The sidecar knows "hash ABC → Signal registration XYZ" but not "hash ABC → +14045551234". The mapping is hash to registration, not hash to number. This is what zero-knowledge contact resolution means: we can route notifications to people without knowing who they are.</a:t>
            </a:r>
            <a:endParaRPr b="0" lang="en-US" sz="1000" spc="-1" strike="noStrike">
              <a:solidFill>
                <a:srgbClr val="000000"/>
              </a:solidFill>
              <a:latin typeface="Arial"/>
            </a:endParaRPr>
          </a:p>
        </p:txBody>
      </p:sp>
      <p:sp>
        <p:nvSpPr>
          <p:cNvPr id="370" name="PlaceHolder 3"/>
          <p:cNvSpPr>
            <a:spLocks noGrp="1"/>
          </p:cNvSpPr>
          <p:nvPr>
            <p:ph type="sldNum" idx="7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D7C69D-04D4-4CF4-96F9-51BE74AF6F3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1143000" y="685800"/>
            <a:ext cx="4571640" cy="3428640"/>
          </a:xfrm>
          <a:prstGeom prst="rect">
            <a:avLst/>
          </a:prstGeom>
          <a:ln w="0">
            <a:noFill/>
          </a:ln>
        </p:spPr>
      </p:sp>
      <p:sp>
        <p:nvSpPr>
          <p:cNvPr id="3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Rate limiting is critical. Signal aggressively rate-limits bulk senders — if you blast 200 recipients without rate limiting, you'll get your org's Signal number banned. The delivery queue handles this. Also important: the identity key verification. If someone reinstalls Signal, they get a new identity key. The sidecar detects this as a safety number change and holds delivery pending manual review — same as Signal desktop does. This prevents you from accidentally sending to a number that's been taken over.</a:t>
            </a:r>
            <a:endParaRPr b="0" lang="en-US" sz="1000" spc="-1" strike="noStrike">
              <a:solidFill>
                <a:srgbClr val="000000"/>
              </a:solidFill>
              <a:latin typeface="Arial"/>
            </a:endParaRPr>
          </a:p>
        </p:txBody>
      </p:sp>
      <p:sp>
        <p:nvSpPr>
          <p:cNvPr id="373" name="PlaceHolder 3"/>
          <p:cNvSpPr>
            <a:spLocks noGrp="1"/>
          </p:cNvSpPr>
          <p:nvPr>
            <p:ph type="sldNum" idx="7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9167F4F-064F-4F1B-B33D-DD89ED69D75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1143000" y="685800"/>
            <a:ext cx="4571640" cy="3428640"/>
          </a:xfrm>
          <a:prstGeom prst="rect">
            <a:avLst/>
          </a:prstGeom>
          <a:ln w="0">
            <a:noFill/>
          </a:ln>
        </p:spPr>
      </p:sp>
      <p:sp>
        <p:nvSpPr>
          <p:cNvPr id="3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comes up in every conversation. "Why not just Signal for everything?" And the answer is: because we serve people in crisis who don't get to choose their communication channel. Someone calling from a county jail is on a monitored payphone. They don't have Signal. A family member who just found out their kid was arrested is calling the number on a flyer — they're not going to download an app in that moment. An organizer texting jail support updates about who's been released — that's already public information the moment the person walks out. SMS is fine for that. WhatsApp, RCS, Telegram are better if they have them. Signal is best if they have it. We support ALL of them because every threat model is different, and the right channel depends on the sensitivity of the specific communication, not a blanket policy.</a:t>
            </a:r>
            <a:endParaRPr b="0" lang="en-US" sz="1000" spc="-1" strike="noStrike">
              <a:solidFill>
                <a:srgbClr val="000000"/>
              </a:solidFill>
              <a:latin typeface="Arial"/>
            </a:endParaRPr>
          </a:p>
        </p:txBody>
      </p:sp>
      <p:sp>
        <p:nvSpPr>
          <p:cNvPr id="376" name="PlaceHolder 3"/>
          <p:cNvSpPr>
            <a:spLocks noGrp="1"/>
          </p:cNvSpPr>
          <p:nvPr>
            <p:ph type="sldNum" idx="7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DE957BE-8DC6-4DE0-9916-032B8E8563A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1143000" y="685800"/>
            <a:ext cx="4571640" cy="3428640"/>
          </a:xfrm>
          <a:prstGeom prst="rect">
            <a:avLst/>
          </a:prstGeom>
          <a:ln w="0">
            <a:noFill/>
          </a:ln>
        </p:spPr>
      </p:sp>
      <p:sp>
        <p:nvSpPr>
          <p:cNvPr id="3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We're not anti-Signal — we're deeply integrated with it. Account invites go via Signal, not email. Why? Because email leaves metadata everywhere. Your email provider knows you received an invite to a crisis hotline platform. That's the kind of thing that ends up in a fusion center database. Signal invites: the notifier sidecar uses HMAC-hashed contact identifiers, never stores plaintext phone numbers. The recipient gets a Signal message with an invite link. No email provider in the loop. Same with notifications — volunteer shift reminders, call alerts, they all go through Signal by default. PIN reset? Signal. Not email. The principle is: email is a surveillance channel. Every email provider is a potential subpoena target. Signal is the preferred transport for everything administrative. The other channels exist for the people you SERVE, not for your internal operations.</a:t>
            </a:r>
            <a:endParaRPr b="0" lang="en-US" sz="1000" spc="-1" strike="noStrike">
              <a:solidFill>
                <a:srgbClr val="000000"/>
              </a:solidFill>
              <a:latin typeface="Arial"/>
            </a:endParaRPr>
          </a:p>
        </p:txBody>
      </p:sp>
      <p:sp>
        <p:nvSpPr>
          <p:cNvPr id="379" name="PlaceHolder 3"/>
          <p:cNvSpPr>
            <a:spLocks noGrp="1"/>
          </p:cNvSpPr>
          <p:nvPr>
            <p:ph type="sldNum" idx="7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F4D05A2-3F4D-4EAA-B8FB-7D50DE0A69A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1143000" y="685800"/>
            <a:ext cx="4571640" cy="3428640"/>
          </a:xfrm>
          <a:prstGeom prst="rect">
            <a:avLst/>
          </a:prstGeom>
          <a:ln w="0">
            <a:noFill/>
          </a:ln>
        </p:spPr>
      </p:sp>
      <p:sp>
        <p:nvSpPr>
          <p:cNvPr id="3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I want to be transparent about our process. We had v1 working, we had a cryptographer review it, and they found real problems. Here's what we found and what we changed. This is important: don't use software where the developers are afraid to talk about what they got wrong.</a:t>
            </a:r>
            <a:endParaRPr b="0" lang="en-US" sz="1000" spc="-1" strike="noStrike">
              <a:solidFill>
                <a:srgbClr val="000000"/>
              </a:solidFill>
              <a:latin typeface="Arial"/>
            </a:endParaRPr>
          </a:p>
        </p:txBody>
      </p:sp>
      <p:sp>
        <p:nvSpPr>
          <p:cNvPr id="382" name="PlaceHolder 3"/>
          <p:cNvSpPr>
            <a:spLocks noGrp="1"/>
          </p:cNvSpPr>
          <p:nvPr>
            <p:ph type="sldNum" idx="7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6DF3A37-BD2F-4AF3-86A4-F94C6BF5F43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1143000" y="685800"/>
            <a:ext cx="4571640" cy="3428640"/>
          </a:xfrm>
          <a:prstGeom prst="rect">
            <a:avLst/>
          </a:prstGeom>
          <a:ln w="0">
            <a:noFill/>
          </a:ln>
        </p:spPr>
      </p:sp>
      <p:sp>
        <p:nvSpPr>
          <p:cNvPr id="3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I want to be clear: v1 wasn't broken in the sense of "trivially exploited by a script kiddie." The issues were architectural weaknesses that would matter against a sophisticated cryptographic adversary. The review was valuable precisely because it forced us to think through each protocol detail. None of the changes were cosmetic. Each one closes a specific attack class.</a:t>
            </a:r>
            <a:endParaRPr b="0" lang="en-US" sz="1000" spc="-1" strike="noStrike">
              <a:solidFill>
                <a:srgbClr val="000000"/>
              </a:solidFill>
              <a:latin typeface="Arial"/>
            </a:endParaRPr>
          </a:p>
        </p:txBody>
      </p:sp>
      <p:sp>
        <p:nvSpPr>
          <p:cNvPr id="385" name="PlaceHolder 3"/>
          <p:cNvSpPr>
            <a:spLocks noGrp="1"/>
          </p:cNvSpPr>
          <p:nvPr>
            <p:ph type="sldNum" idx="7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DD2D69C-F929-45DE-8AF3-8E8454FC6F4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1143000" y="685800"/>
            <a:ext cx="4571640" cy="3428640"/>
          </a:xfrm>
          <a:prstGeom prst="rect">
            <a:avLst/>
          </a:prstGeom>
          <a:ln w="0">
            <a:noFill/>
          </a:ln>
        </p:spPr>
      </p:sp>
      <p:sp>
        <p:nvSpPr>
          <p:cNvPr id="3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the question that killed v1. We had a perfectly good web-based E2EE system. The noble-curves library is audited, constant-time, the algorithms were correct. But it didn't matter. Because here's the scenario: a law enforcement agency serves a subpoena on your hosting provider. They don't ask for the encrypted data — they know they can't decrypt it. Instead, they ask the provider to modify the JavaScript that gets served to users on next page load. A tiny change: before encrypting, also POST the plaintext to a different endpoint. The user sees the same UI. The same green lock icon. The same "end-to-end encrypted" badge. But their notes are being exfiltrated in plaintext. This isn't theoretical. This is how web-based E2EE systems are attacked by sophisticated adversaries. ProtonMail has written about this. The Lavabit case established the precedent. For our threat model — activists facing law enforcement with subpoena power — a web app is a liability, not a protection. That's why v2 is native clients only.</a:t>
            </a:r>
            <a:endParaRPr b="0" lang="en-US" sz="1000" spc="-1" strike="noStrike">
              <a:solidFill>
                <a:srgbClr val="000000"/>
              </a:solidFill>
              <a:latin typeface="Arial"/>
            </a:endParaRPr>
          </a:p>
        </p:txBody>
      </p:sp>
      <p:sp>
        <p:nvSpPr>
          <p:cNvPr id="388" name="PlaceHolder 3"/>
          <p:cNvSpPr>
            <a:spLocks noGrp="1"/>
          </p:cNvSpPr>
          <p:nvPr>
            <p:ph type="sldNum" idx="7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1495A21-F52D-4CED-9532-7FF704C1DAA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1143000" y="685800"/>
            <a:ext cx="4571640" cy="3428640"/>
          </a:xfrm>
          <a:prstGeom prst="rect">
            <a:avLst/>
          </a:prstGeom>
          <a:ln w="0">
            <a:noFill/>
          </a:ln>
        </p:spPr>
      </p:sp>
      <p:sp>
        <p:nvSpPr>
          <p:cNvPr id="3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On mobile there is NO webview. The iOS app is native SwiftUI. The Android app is native Kotlin Compose. The crypto layer is a shared Rust crate compiled to an XCFramework for iOS via UniFFI, and JNI shared library for Android. The UI code never touches private keys — CryptoService is a singleton, the ViewModel gets pubkeys for display, that's it. On desktop, Tauri has a webview for the React UI, but the Rust backend process holds the keys. The webview calls Rust via IPC. If someone finds an XSS in our React code, they can mess up the UI but they cannot exfiltrate keys — the keys are in a different process. The critical difference from a web app: the code running on your device is the binary you installed. It doesn't change on every page load. It can be reproducibly built and verified. Your server serves encrypted data to the client. It never serves code. That's the architecture that makes E2EE meaningful against our threat model.</a:t>
            </a:r>
            <a:endParaRPr b="0" lang="en-US" sz="1000" spc="-1" strike="noStrike">
              <a:solidFill>
                <a:srgbClr val="000000"/>
              </a:solidFill>
              <a:latin typeface="Arial"/>
            </a:endParaRPr>
          </a:p>
        </p:txBody>
      </p:sp>
      <p:sp>
        <p:nvSpPr>
          <p:cNvPr id="391" name="PlaceHolder 3"/>
          <p:cNvSpPr>
            <a:spLocks noGrp="1"/>
          </p:cNvSpPr>
          <p:nvPr>
            <p:ph type="sldNum" idx="7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E56DA0F-EFE8-4E62-8906-6DB607D7C77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1143000" y="685800"/>
            <a:ext cx="4571640" cy="3428640"/>
          </a:xfrm>
          <a:prstGeom prst="rect">
            <a:avLst/>
          </a:prstGeom>
          <a:ln w="0">
            <a:noFill/>
          </a:ln>
        </p:spPr>
      </p:sp>
      <p:sp>
        <p:nvSpPr>
          <p:cNvPr id="3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platform shift is the headline, but the crypto protocol changed too. HPKE replaces our custom ECIES — you can point a cryptographer at RFC 9180 and they can verify our implementation against a specification, not against our own claims. Per-device keys mean compromising one device doesn't compromise all your other devices. The sigchain means you can revoke a compromised device without rotating your identity. These are all changes that came from the crypto review.</a:t>
            </a:r>
            <a:endParaRPr b="0" lang="en-US" sz="1000" spc="-1" strike="noStrike">
              <a:solidFill>
                <a:srgbClr val="000000"/>
              </a:solidFill>
              <a:latin typeface="Arial"/>
            </a:endParaRPr>
          </a:p>
        </p:txBody>
      </p:sp>
      <p:sp>
        <p:nvSpPr>
          <p:cNvPr id="394" name="PlaceHolder 3"/>
          <p:cNvSpPr>
            <a:spLocks noGrp="1"/>
          </p:cNvSpPr>
          <p:nvPr>
            <p:ph type="sldNum" idx="7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A367DDD-7B31-47A4-8ADB-CC302952258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1143000" y="685800"/>
            <a:ext cx="4571640" cy="3428640"/>
          </a:xfrm>
          <a:prstGeom prst="rect">
            <a:avLst/>
          </a:prstGeom>
          <a:ln w="0">
            <a:noFill/>
          </a:ln>
        </p:spPr>
      </p:sp>
      <p:sp>
        <p:nvSpPr>
          <p:cNvPr id="3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Signal's design principle applied to a hotline platform. One Rust crate, compiled to native binary for desktop, XCFramework via UniFFI for iOS, JNI shared library for Android. WASM build exists too — but only for browser-based tests, not for the production app. The production app is ALWAYS native. Why does this matter? Because the security boundary is the process boundary. On desktop, the Tauri webview renders React — it handles UI, routing, forms. Every crypto operation goes through IPC to the Rust backend process. The webview literally does not have access to the device private key. It can ask Rust to sign something, decrypt something, but it never sees the key. Same on mobile — the CryptoService is a singleton that wraps the FFI. The ViewModel gets pubkeys for display. It never gets private keys. If someone finds an XSS in our React code — which is possible, we're not arrogant about that — they can mess up the UI. They cannot exfiltrate keys. That's the platform shift that matters.</a:t>
            </a:r>
            <a:endParaRPr b="0" lang="en-US" sz="1000" spc="-1" strike="noStrike">
              <a:solidFill>
                <a:srgbClr val="000000"/>
              </a:solidFill>
              <a:latin typeface="Arial"/>
            </a:endParaRPr>
          </a:p>
        </p:txBody>
      </p:sp>
      <p:sp>
        <p:nvSpPr>
          <p:cNvPr id="397" name="PlaceHolder 3"/>
          <p:cNvSpPr>
            <a:spLocks noGrp="1"/>
          </p:cNvSpPr>
          <p:nvPr>
            <p:ph type="sldNum" idx="7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A5D7E6-163B-43F0-ADCA-E696CCC9E92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1143000" y="685800"/>
            <a:ext cx="4571640" cy="3428640"/>
          </a:xfrm>
          <a:prstGeom prst="rect">
            <a:avLst/>
          </a:prstGeom>
          <a:ln w="0">
            <a:noFill/>
          </a:ln>
        </p:spPr>
      </p:sp>
      <p:sp>
        <p:nvSpPr>
          <p:cNvPr id="3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SFrame is an IETF RFC (9605) for media frame encryption. Designed for WebRTC streams. The key derivation is integrated into packages/crypto — same Rust crate, same audit surface. What this means: a compromised SIP bridge sees only encrypted media frames, not call audio. The wiretap is broken at the media layer.</a:t>
            </a:r>
            <a:endParaRPr b="0" lang="en-US" sz="1000" spc="-1" strike="noStrike">
              <a:solidFill>
                <a:srgbClr val="000000"/>
              </a:solidFill>
              <a:latin typeface="Arial"/>
            </a:endParaRPr>
          </a:p>
        </p:txBody>
      </p:sp>
      <p:sp>
        <p:nvSpPr>
          <p:cNvPr id="400" name="PlaceHolder 3"/>
          <p:cNvSpPr>
            <a:spLocks noGrp="1"/>
          </p:cNvSpPr>
          <p:nvPr>
            <p:ph type="sldNum" idx="8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5E7F69-AE00-4436-81CD-E609494D21E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1143000" y="685800"/>
            <a:ext cx="4571640" cy="3428640"/>
          </a:xfrm>
          <a:prstGeom prst="rect">
            <a:avLst/>
          </a:prstGeom>
          <a:ln w="0">
            <a:noFill/>
          </a:ln>
        </p:spPr>
      </p:sp>
      <p:sp>
        <p:nvSpPr>
          <p:cNvPr id="4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What does it actually take to run this? This section is for the people in the room who are thinking about deploying it, or who are advising orgs that might.</a:t>
            </a:r>
            <a:endParaRPr b="0" lang="en-US" sz="1000" spc="-1" strike="noStrike">
              <a:solidFill>
                <a:srgbClr val="000000"/>
              </a:solidFill>
              <a:latin typeface="Arial"/>
            </a:endParaRPr>
          </a:p>
        </p:txBody>
      </p:sp>
      <p:sp>
        <p:nvSpPr>
          <p:cNvPr id="403" name="PlaceHolder 3"/>
          <p:cNvSpPr>
            <a:spLocks noGrp="1"/>
          </p:cNvSpPr>
          <p:nvPr>
            <p:ph type="sldNum" idx="8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0FB9C3F-E59B-41F9-ADD7-62C6A155DAF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1143000" y="685800"/>
            <a:ext cx="4571640" cy="3428640"/>
          </a:xfrm>
          <a:prstGeom prst="rect">
            <a:avLst/>
          </a:prstGeom>
          <a:ln w="0">
            <a:noFill/>
          </a:ln>
        </p:spPr>
      </p:sp>
      <p:sp>
        <p:nvSpPr>
          <p:cNvPr id="4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strfry Nostr relay is not optional — it's the real-time event bus between server and clients. Your Nostr relay, running on your infrastructure, not one of the public ones. This is important: hub events, call routing, presence — all go through the relay. That relay is yours. We host on 1984 Hosting in Iceland — they're not subject to the US CLOUD Act, which means a US subpoena doesn't compel them to hand over data. They support custom FDE ISOs, so you control the full-disk encryption key — even 1984 staff can't read your disk at rest. Cost for a small org: 2 CPU, 4GB RAM VPS on 1984 is about €10/month. SIP DID from Telnyx is $1-5/month. That's the infrastructure cost for a nation-state-resistant hotline.</a:t>
            </a:r>
            <a:endParaRPr b="0" lang="en-US" sz="1000" spc="-1" strike="noStrike">
              <a:solidFill>
                <a:srgbClr val="000000"/>
              </a:solidFill>
              <a:latin typeface="Arial"/>
            </a:endParaRPr>
          </a:p>
        </p:txBody>
      </p:sp>
      <p:sp>
        <p:nvSpPr>
          <p:cNvPr id="406" name="PlaceHolder 3"/>
          <p:cNvSpPr>
            <a:spLocks noGrp="1"/>
          </p:cNvSpPr>
          <p:nvPr>
            <p:ph type="sldNum" idx="8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133BDC9-3EB4-4FD6-B338-BD2A5253F31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1143000" y="685800"/>
            <a:ext cx="4571640" cy="3428640"/>
          </a:xfrm>
          <a:prstGeom prst="rect">
            <a:avLst/>
          </a:prstGeom>
          <a:ln w="0">
            <a:noFill/>
          </a:ln>
        </p:spPr>
      </p:sp>
      <p:sp>
        <p:nvSpPr>
          <p:cNvPr id="4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This is intentional. We didn't build a "jail support app" that gets repurposed. We built secure routing and case management infrastructure that you configure via templates. Your org's use case is a JSON file. If you change use cases — new template. If a different org wants to use Llámenos — different template. The platform doesn't care what kind of crisis hotline you run. You define the entities, the report types, the fields, the workflows.</a:t>
            </a:r>
            <a:endParaRPr b="0" lang="en-US" sz="1000" spc="-1" strike="noStrike">
              <a:solidFill>
                <a:srgbClr val="000000"/>
              </a:solidFill>
              <a:latin typeface="Arial"/>
            </a:endParaRPr>
          </a:p>
        </p:txBody>
      </p:sp>
      <p:sp>
        <p:nvSpPr>
          <p:cNvPr id="409" name="PlaceHolder 3"/>
          <p:cNvSpPr>
            <a:spLocks noGrp="1"/>
          </p:cNvSpPr>
          <p:nvPr>
            <p:ph type="sldNum" idx="8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5930AF3-93BE-48FB-AEF7-B51FBE17BA7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1143000" y="685800"/>
            <a:ext cx="4571640" cy="3428640"/>
          </a:xfrm>
          <a:prstGeom prst="rect">
            <a:avLst/>
          </a:prstGeom>
          <a:ln w="0">
            <a:noFill/>
          </a:ln>
        </p:spPr>
      </p:sp>
      <p:sp>
        <p:nvSpPr>
          <p:cNvPr id="4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Multi-hub came from feedback that orgs don't run one line — they run several. The jail support crew runs overnight. The rapid response crew runs during protests. The community safety line runs all the time. Before Llámenos, each of these was a separate system — or worse, a separate phone number with volunteers managing multiple Google Voice accounts. Multi-hub means one deployment, one set of volunteers, multiple operational contexts. Each hub is cryptographically isolated.</a:t>
            </a:r>
            <a:endParaRPr b="0" lang="en-US" sz="1000" spc="-1" strike="noStrike">
              <a:solidFill>
                <a:srgbClr val="000000"/>
              </a:solidFill>
              <a:latin typeface="Arial"/>
            </a:endParaRPr>
          </a:p>
        </p:txBody>
      </p:sp>
      <p:sp>
        <p:nvSpPr>
          <p:cNvPr id="412" name="PlaceHolder 3"/>
          <p:cNvSpPr>
            <a:spLocks noGrp="1"/>
          </p:cNvSpPr>
          <p:nvPr>
            <p:ph type="sldNum" idx="8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1183192-02DE-494D-991B-B70ECCD8DE6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1143000" y="685800"/>
            <a:ext cx="4571640" cy="3428640"/>
          </a:xfrm>
          <a:prstGeom prst="rect">
            <a:avLst/>
          </a:prstGeom>
          <a:ln w="0">
            <a:noFill/>
          </a:ln>
        </p:spPr>
      </p:sp>
      <p:sp>
        <p:nvSpPr>
          <p:cNvPr id="41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I want to close with honesty. Llámenos is a significant improvement over Google Voice and Twilio direct. It is not magic. Here's what we can't protect against, and I want to say this clearly so you don't deploy it with false confidence.</a:t>
            </a:r>
            <a:endParaRPr b="0" lang="en-US" sz="1000" spc="-1" strike="noStrike">
              <a:solidFill>
                <a:srgbClr val="000000"/>
              </a:solidFill>
              <a:latin typeface="Arial"/>
            </a:endParaRPr>
          </a:p>
        </p:txBody>
      </p:sp>
      <p:sp>
        <p:nvSpPr>
          <p:cNvPr id="415" name="PlaceHolder 3"/>
          <p:cNvSpPr>
            <a:spLocks noGrp="1"/>
          </p:cNvSpPr>
          <p:nvPr>
            <p:ph type="sldNum" idx="8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C1BA29A-954A-4445-86EE-0BA0F9A7314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1143000" y="685800"/>
            <a:ext cx="4571640" cy="3428640"/>
          </a:xfrm>
          <a:prstGeom prst="rect">
            <a:avLst/>
          </a:prstGeom>
          <a:ln w="0">
            <a:noFill/>
          </a:ln>
        </p:spPr>
      </p:sp>
      <p:sp>
        <p:nvSpPr>
          <p:cNvPr id="41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Admin coercion deserves a mention. If an admin is physically coerced — that's a bad day. They can decrypt notes. This is not a flaw in the cryptography — it's a fundamental property of any multi-admin system where admins need to read records. The design choice: admins need case management access, so they have an envelope on every note. If your threat model includes coerced admins, store the admin key on an air-gapped device that doesn't travel to protests.</a:t>
            </a:r>
            <a:endParaRPr b="0" lang="en-US" sz="1000" spc="-1" strike="noStrike">
              <a:solidFill>
                <a:srgbClr val="000000"/>
              </a:solidFill>
              <a:latin typeface="Arial"/>
            </a:endParaRPr>
          </a:p>
        </p:txBody>
      </p:sp>
      <p:sp>
        <p:nvSpPr>
          <p:cNvPr id="418" name="PlaceHolder 3"/>
          <p:cNvSpPr>
            <a:spLocks noGrp="1"/>
          </p:cNvSpPr>
          <p:nvPr>
            <p:ph type="sldNum" idx="8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442B5D3-0D42-4153-AC7B-3AE310BD410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1143000" y="685800"/>
            <a:ext cx="4571640" cy="3428640"/>
          </a:xfrm>
          <a:prstGeom prst="rect">
            <a:avLst/>
          </a:prstGeom>
          <a:ln w="0">
            <a:noFill/>
          </a:ln>
        </p:spPr>
      </p:sp>
      <p:sp>
        <p:nvSpPr>
          <p:cNvPr id="42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"seized server" question matters. If law enforcement seizes your server, they get encrypted blobs and call metadata. They do NOT get note content or plaintext caller IDs — if you've configured CDR-free SIP. That's a meaningful protection. It means they have to come back with something harder to get than an administrative subpoena. And that means more time, more scrutiny, more opportunity for your legal team to fight it. Not invincibility. But friction.</a:t>
            </a:r>
            <a:endParaRPr b="0" lang="en-US" sz="1000" spc="-1" strike="noStrike">
              <a:solidFill>
                <a:srgbClr val="000000"/>
              </a:solidFill>
              <a:latin typeface="Arial"/>
            </a:endParaRPr>
          </a:p>
        </p:txBody>
      </p:sp>
      <p:sp>
        <p:nvSpPr>
          <p:cNvPr id="421" name="PlaceHolder 3"/>
          <p:cNvSpPr>
            <a:spLocks noGrp="1"/>
          </p:cNvSpPr>
          <p:nvPr>
            <p:ph type="sldNum" idx="8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75B645E-E800-4FAF-AD76-D73EA642B65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1143000" y="685800"/>
            <a:ext cx="4571640" cy="3428640"/>
          </a:xfrm>
          <a:prstGeom prst="rect">
            <a:avLst/>
          </a:prstGeom>
          <a:ln w="0">
            <a:noFill/>
          </a:ln>
        </p:spPr>
      </p:sp>
      <p:sp>
        <p:nvSpPr>
          <p:cNvPr id="42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1000" spc="-1" strike="noStrike">
                <a:solidFill>
                  <a:srgbClr val="333333"/>
                </a:solidFill>
                <a:latin typeface="IBM Plex Mono"/>
              </a:rPr>
              <a:t>The project is pre-production. No production users yet. We need orgs with real security needs who are willing to give us real-world feedback. If you've been subpoenaed — I want to talk to you specifically. Your experience stress-tests our assumptions in ways that theoretical analysis cannot. Come find me after this. I'll be the one by the coffee trying to convince people that self-hosting a Nostr relay is worth it. Likely questions: 1. "What does it cost?" — €10-20/month VPS on 1984 Hosting (Iceland). $1-5/month SIP DID. That's it. 2. "What about GDPR?" — HMAC-hashed caller numbers, E2EE content, Icelandic hosting outside CLOUD Act. Caller data question for your DPA. 3. "Can we port our Google Voice number?" — Yes. Port to a SIP-capable provider, point at your trunk. 4. "What's the status of MLS?" — Behind a feature flag. Functional, not battle-tested. Wait for the RFC to stabilize. 5. "What if a volunteer leaves badly?" — Hub key rotation. Future notes inaccessible. Historical notes they took: they still have their device key. That's the forward secrecy trade-off. Same as any E2EE system. 6. "Can we use this with existing Twilio numbers?" — Yes, via Twilio Elastic SIP Trunking — different from Programmable Voice API, better CDR posture.</a:t>
            </a:r>
            <a:endParaRPr b="0" lang="en-US" sz="1000" spc="-1" strike="noStrike">
              <a:solidFill>
                <a:srgbClr val="000000"/>
              </a:solidFill>
              <a:latin typeface="Arial"/>
            </a:endParaRPr>
          </a:p>
        </p:txBody>
      </p:sp>
      <p:sp>
        <p:nvSpPr>
          <p:cNvPr id="424" name="PlaceHolder 3"/>
          <p:cNvSpPr>
            <a:spLocks noGrp="1"/>
          </p:cNvSpPr>
          <p:nvPr>
            <p:ph type="sldNum" idx="8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C8AFFB8-B607-4901-B826-3C9C1F45734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5146940-E32B-4E98-BF94-50E99B18B9DF}"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AE73310-6DD7-4D8E-B249-7DCDC3FEFB6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74117FFD-532C-44CB-BCAD-5794D5403BF7}"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9CA3DA1-3C8D-4AE2-997E-6A48254F48AC}"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4EBF1B07-2EE6-4732-A93D-2B223F5AB2FD}"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04E5409C-4A5C-4ABB-93D0-5976EBB3CAE9}"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D1B8DDF-8980-43B6-B5DB-793455FE64CD}"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3DDC1959-A1D9-414F-8E10-70AC55906B65}"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46C82CFC-6B59-4ADF-93E0-006FB47CDCE6}"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7951C6AB-4256-43AE-8024-6501A1C9BAA1}"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E3407601-275A-45F9-B8D9-49F1F390D7AB}"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4A84A0A-7D90-4B45-8513-2638572EB90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9DA0EA5-ADDC-41F7-BAFC-26AA3A534D7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4F91771-A59B-4BBA-855F-837131D82E0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3F3E494-492D-4303-9518-FEB59D13F31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4434E55-F840-4776-883A-4D4295A0A12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CB6EA4F-4501-46A9-B514-C3E653BB3FD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198DC47-BD13-4E7F-A08E-6FF8EE11AE7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C74B5E8-DD84-4536-B753-5B26A187757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A4FCF0D-0119-468D-A368-5B5A99EA13B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0398B23-9081-4C90-9292-7515D88146B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075EAC9-D2C7-41BF-B0DD-7C915726558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hyperlink" Target="https://github.com/rhonda-rodododo/llamenos-hotline" TargetMode="External"/><Relationship Id="rId2" Type="http://schemas.openxmlformats.org/officeDocument/2006/relationships/hyperlink" Target="https://llamenos-hotline.com/" TargetMode="External"/><Relationship Id="rId3" Type="http://schemas.openxmlformats.org/officeDocument/2006/relationships/hyperlink" Target="https://github.com/rhonda-rodododo/llamenos-platform/tree/main/site/public/slides" TargetMode="External"/><Relationship Id="rId4"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3" name="TextBox 1"/>
          <p:cNvSpPr/>
          <p:nvPr/>
        </p:nvSpPr>
        <p:spPr>
          <a:xfrm>
            <a:off x="548640" y="1645920"/>
            <a:ext cx="11094120" cy="1349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5000" spc="-1" strike="noStrike">
                <a:solidFill>
                  <a:srgbClr val="f0f0f0"/>
                </a:solidFill>
                <a:latin typeface="JetBrains Mono"/>
              </a:rPr>
              <a:t>Llamenos Hotline</a:t>
            </a:r>
            <a:endParaRPr b="0" lang="en-US" sz="5000" spc="-1" strike="noStrike">
              <a:solidFill>
                <a:srgbClr val="ffffff"/>
              </a:solidFill>
              <a:latin typeface="Arial"/>
            </a:endParaRPr>
          </a:p>
          <a:p>
            <a:pPr algn="ctr" defTabSz="457200">
              <a:lnSpc>
                <a:spcPct val="100000"/>
              </a:lnSpc>
              <a:spcBef>
                <a:spcPts val="799"/>
              </a:spcBef>
              <a:spcAft>
                <a:spcPts val="201"/>
              </a:spcAft>
            </a:pPr>
            <a:r>
              <a:rPr b="0" lang="en-US" sz="2600" spc="-1" strike="noStrike">
                <a:solidFill>
                  <a:srgbClr val="f0c674"/>
                </a:solidFill>
                <a:latin typeface="Source Code Pro"/>
              </a:rPr>
              <a:t>More Secure Hubs for Your Spokes</a:t>
            </a:r>
            <a:endParaRPr b="0" lang="en-US" sz="2600" spc="-1" strike="noStrike">
              <a:solidFill>
                <a:srgbClr val="ffffff"/>
              </a:solidFill>
              <a:latin typeface="Arial"/>
            </a:endParaRPr>
          </a:p>
        </p:txBody>
      </p:sp>
      <p:sp>
        <p:nvSpPr>
          <p:cNvPr id="74" name="Rectangle 2"/>
          <p:cNvSpPr/>
          <p:nvPr/>
        </p:nvSpPr>
        <p:spPr>
          <a:xfrm>
            <a:off x="4114800" y="3200400"/>
            <a:ext cx="39315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75" name="TextBox 3"/>
          <p:cNvSpPr/>
          <p:nvPr/>
        </p:nvSpPr>
        <p:spPr>
          <a:xfrm>
            <a:off x="548640" y="3566160"/>
            <a:ext cx="11094120" cy="633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800" spc="-1" strike="noStrike">
              <a:solidFill>
                <a:srgbClr val="ffffff"/>
              </a:solidFill>
              <a:latin typeface="Arial"/>
            </a:endParaRPr>
          </a:p>
          <a:p>
            <a:pPr algn="ctr" defTabSz="457200">
              <a:lnSpc>
                <a:spcPct val="100000"/>
              </a:lnSpc>
              <a:spcBef>
                <a:spcPts val="201"/>
              </a:spcBef>
              <a:spcAft>
                <a:spcPts val="201"/>
              </a:spcAft>
            </a:pPr>
            <a:r>
              <a:rPr b="0" lang="en-US" sz="1600" spc="-1" strike="noStrike">
                <a:solidFill>
                  <a:srgbClr val="999999"/>
                </a:solidFill>
                <a:latin typeface="IBM Plex Mono"/>
              </a:rPr>
              <a:t>CounterSpy 2026 — Atlanta, Sunday May 3</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6"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What we want to prevent</a:t>
            </a:r>
            <a:endParaRPr b="0" lang="en-US" sz="2800" spc="-1" strike="noStrike">
              <a:solidFill>
                <a:srgbClr val="ffffff"/>
              </a:solidFill>
              <a:latin typeface="Arial"/>
            </a:endParaRPr>
          </a:p>
        </p:txBody>
      </p:sp>
      <p:sp>
        <p:nvSpPr>
          <p:cNvPr id="77"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78" name="TextBox 3"/>
          <p:cNvSpPr/>
          <p:nvPr/>
        </p:nvSpPr>
        <p:spPr>
          <a:xfrm>
            <a:off x="548640" y="1005840"/>
            <a:ext cx="11094120" cy="2512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600" spc="-1" strike="noStrike">
                <a:solidFill>
                  <a:srgbClr val="cccccc"/>
                </a:solidFill>
                <a:latin typeface="Source Code Pro"/>
              </a:rPr>
              <a:t>A detective in Atlanta called an organizer at 9:37am on a Tuesday. He knew her name. He knew she'd answered calls at 11pm, 1am, and 2am during the protest. He cited specific call durations.</a:t>
            </a:r>
            <a:endParaRPr b="0" lang="en-US" sz="1600" spc="-1" strike="noStrike">
              <a:solidFill>
                <a:srgbClr val="ffffff"/>
              </a:solidFill>
              <a:latin typeface="Arial"/>
            </a:endParaRPr>
          </a:p>
          <a:p>
            <a:pPr defTabSz="457200">
              <a:lnSpc>
                <a:spcPct val="100000"/>
              </a:lnSpc>
            </a:pPr>
            <a:endParaRPr b="0" lang="en-US" sz="1600" spc="-1" strike="noStrike">
              <a:solidFill>
                <a:srgbClr val="ffffff"/>
              </a:solidFill>
              <a:latin typeface="Arial"/>
            </a:endParaRPr>
          </a:p>
          <a:p>
            <a:pPr defTabSz="457200">
              <a:lnSpc>
                <a:spcPct val="100000"/>
              </a:lnSpc>
              <a:spcBef>
                <a:spcPts val="300"/>
              </a:spcBef>
              <a:spcAft>
                <a:spcPts val="201"/>
              </a:spcAft>
            </a:pPr>
            <a:r>
              <a:rPr b="0" i="1" lang="en-US" sz="1600" spc="-1" strike="noStrike">
                <a:solidFill>
                  <a:srgbClr val="cccccc"/>
                </a:solidFill>
                <a:latin typeface="Source Code Pro"/>
              </a:rPr>
              <a:t>She'd been running the jail support hotline through Google Voice. The detective had served an administrative subpoena on Google three days earlier. Google had complied within 48 hours. She didn't know.</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He didn't need a warrant. He needed a form and 48 hours.</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9"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Who This Talk Is For</a:t>
            </a:r>
            <a:endParaRPr b="0" lang="en-US" sz="2800" spc="-1" strike="noStrike">
              <a:solidFill>
                <a:srgbClr val="ffffff"/>
              </a:solidFill>
              <a:latin typeface="Arial"/>
            </a:endParaRPr>
          </a:p>
        </p:txBody>
      </p:sp>
      <p:sp>
        <p:nvSpPr>
          <p:cNvPr id="80"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endParaRPr b="0" lang="en-US" sz="1800" spc="-1" strike="noStrike">
              <a:solidFill>
                <a:schemeClr val="lt1"/>
              </a:solidFill>
              <a:latin typeface="Calibri"/>
            </a:endParaRPr>
          </a:p>
        </p:txBody>
      </p:sp>
      <p:sp>
        <p:nvSpPr>
          <p:cNvPr id="81" name="TextBox 3"/>
          <p:cNvSpPr/>
          <p:nvPr/>
        </p:nvSpPr>
        <p:spPr>
          <a:xfrm>
            <a:off x="548640" y="1005840"/>
            <a:ext cx="11094120" cy="2766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Legal observer networks</a:t>
            </a:r>
            <a:r>
              <a:rPr b="0" lang="en-US" sz="1600" spc="-1" strike="noStrike">
                <a:solidFill>
                  <a:srgbClr val="cccccc"/>
                </a:solidFill>
                <a:latin typeface="IBM Plex Mono"/>
              </a:rPr>
              <a:t> documenting state violence at protests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Jail support</a:t>
            </a:r>
            <a:r>
              <a:rPr b="0" lang="en-US" sz="1600" spc="-1" strike="noStrike">
                <a:solidFill>
                  <a:srgbClr val="cccccc"/>
                </a:solidFill>
                <a:latin typeface="IBM Plex Mono"/>
              </a:rPr>
              <a:t> hotlines taking calls from detainees and families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Mutual aid dispatchers</a:t>
            </a:r>
            <a:r>
              <a:rPr b="0" lang="en-US" sz="1600" spc="-1" strike="noStrike">
                <a:solidFill>
                  <a:srgbClr val="cccccc"/>
                </a:solidFill>
                <a:latin typeface="IBM Plex Mono"/>
              </a:rPr>
              <a:t> coordinating direct action support</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Domestic violence crisis lines</a:t>
            </a:r>
            <a:r>
              <a:rPr b="0" lang="en-US" sz="1600" spc="-1" strike="noStrike">
                <a:solidFill>
                  <a:srgbClr val="cccccc"/>
                </a:solidFill>
                <a:latin typeface="IBM Plex Mono"/>
              </a:rPr>
              <a:t> protecting caller identity</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Immigration legal hotlines</a:t>
            </a:r>
            <a:r>
              <a:rPr b="0" lang="en-US" sz="1600" spc="-1" strike="noStrike">
                <a:solidFill>
                  <a:srgbClr val="cccccc"/>
                </a:solidFill>
                <a:latin typeface="IBM Plex Mono"/>
              </a:rPr>
              <a:t> where the call log is evidence</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Rapid response coalitions</a:t>
            </a:r>
            <a:r>
              <a:rPr b="0" lang="en-US" sz="1600" spc="-1" strike="noStrike">
                <a:solidFill>
                  <a:srgbClr val="cccccc"/>
                </a:solidFill>
                <a:latin typeface="IBM Plex Mono"/>
              </a:rPr>
              <a:t> with time-sensitive routing needs</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If you're running a phone-based support operation for people who face real threats — this talk is for you.</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2" name="TextBox 9"/>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How we got here</a:t>
            </a:r>
            <a:endParaRPr b="0" lang="en-US" sz="2800" spc="-1" strike="noStrike">
              <a:solidFill>
                <a:srgbClr val="ffffff"/>
              </a:solidFill>
              <a:latin typeface="Arial"/>
            </a:endParaRPr>
          </a:p>
        </p:txBody>
      </p:sp>
      <p:sp>
        <p:nvSpPr>
          <p:cNvPr id="83" name="Rectangle 1"/>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endParaRPr b="0" lang="en-US" sz="1800" spc="-1" strike="noStrike">
              <a:solidFill>
                <a:schemeClr val="lt1"/>
              </a:solidFill>
              <a:latin typeface="Calibri"/>
            </a:endParaRPr>
          </a:p>
        </p:txBody>
      </p:sp>
      <p:sp>
        <p:nvSpPr>
          <p:cNvPr id="84" name=""/>
          <p:cNvSpPr txBox="1"/>
          <p:nvPr/>
        </p:nvSpPr>
        <p:spPr>
          <a:xfrm>
            <a:off x="139320" y="1210680"/>
            <a:ext cx="11976480" cy="4557600"/>
          </a:xfrm>
          <a:prstGeom prst="rect">
            <a:avLst/>
          </a:prstGeom>
          <a:noFill/>
          <a:ln w="0">
            <a:noFill/>
          </a:ln>
        </p:spPr>
        <p:txBody>
          <a:bodyPr lIns="90000" rIns="90000" tIns="45000" bIns="45000" anchor="t">
            <a:noAutofit/>
          </a:bodyPr>
          <a:p>
            <a:r>
              <a:rPr b="1" lang="en-US" sz="1600" spc="-1" strike="noStrike">
                <a:solidFill>
                  <a:srgbClr val="f0c674"/>
                </a:solidFill>
                <a:latin typeface="IBM Plex Mono"/>
              </a:rPr>
              <a:t>  •  </a:t>
            </a:r>
            <a:r>
              <a:rPr b="1" lang="en-US" sz="1600" spc="-1" strike="noStrike">
                <a:solidFill>
                  <a:srgbClr val="f0c674"/>
                </a:solidFill>
                <a:latin typeface="IBM Plex Mono"/>
              </a:rPr>
              <a:t>Midnight Special Law Collective</a:t>
            </a:r>
            <a:r>
              <a:rPr b="0" lang="en-US" sz="1600" spc="-1" strike="noStrike">
                <a:solidFill>
                  <a:srgbClr val="cccccc"/>
                </a:solidFill>
                <a:latin typeface="IBM Plex Mono"/>
              </a:rPr>
              <a:t> created the framework for the jail support/hotline systems we use today</a:t>
            </a:r>
            <a:endParaRPr b="0" lang="en-US" sz="1600" spc="-1" strike="noStrike">
              <a:solidFill>
                <a:srgbClr val="ffffff"/>
              </a:solidFill>
              <a:latin typeface="Arial"/>
            </a:endParaRPr>
          </a:p>
          <a:p>
            <a:pPr>
              <a:lnSpc>
                <a:spcPct val="100000"/>
              </a:lnSpc>
            </a:pPr>
            <a:r>
              <a:rPr b="1" lang="en-US" sz="1600" spc="-1" strike="noStrike">
                <a:solidFill>
                  <a:srgbClr val="f0c674"/>
                </a:solidFill>
                <a:latin typeface="IBM Plex Mono"/>
                <a:ea typeface="Noto Sans CJK SC"/>
              </a:rPr>
              <a:t>  •  </a:t>
            </a:r>
            <a:r>
              <a:rPr b="1" lang="en-US" sz="1600" spc="-1" strike="noStrike">
                <a:solidFill>
                  <a:srgbClr val="f0c674"/>
                </a:solidFill>
                <a:latin typeface="IBM Plex Mono"/>
                <a:ea typeface="Noto Sans CJK SC"/>
              </a:rPr>
              <a:t>Occupy Oakland </a:t>
            </a:r>
            <a:r>
              <a:rPr b="0" lang="en-US" sz="1600" spc="-1" strike="noStrike">
                <a:solidFill>
                  <a:srgbClr val="cccccc"/>
                </a:solidFill>
                <a:latin typeface="IBM Plex Mono"/>
                <a:ea typeface="Noto Sans CJK SC"/>
              </a:rPr>
              <a:t>led to Memoryhole, a fork of CiviCRM, for case management</a:t>
            </a:r>
            <a:endParaRPr b="0" lang="en-US" sz="1600" spc="-1" strike="noStrike">
              <a:solidFill>
                <a:srgbClr val="ffffff"/>
              </a:solidFill>
              <a:latin typeface="Arial"/>
            </a:endParaRPr>
          </a:p>
          <a:p>
            <a:r>
              <a:rPr b="1" lang="en-US" sz="1600" spc="-1" strike="noStrike">
                <a:solidFill>
                  <a:srgbClr val="f0c674"/>
                </a:solidFill>
                <a:latin typeface="IBM Plex Mono"/>
              </a:rPr>
              <a:t>  •  </a:t>
            </a:r>
            <a:r>
              <a:rPr b="1" lang="en-US" sz="1600" spc="-1" strike="noStrike">
                <a:solidFill>
                  <a:srgbClr val="f0c674"/>
                </a:solidFill>
                <a:latin typeface="IBM Plex Mono"/>
              </a:rPr>
              <a:t>Resurgence of Black Liberation</a:t>
            </a:r>
            <a:r>
              <a:rPr b="0" lang="en-US" sz="1600" spc="-1" strike="noStrike">
                <a:solidFill>
                  <a:srgbClr val="cccccc"/>
                </a:solidFill>
                <a:latin typeface="IBM Plex Mono"/>
              </a:rPr>
              <a:t> changed how we do direct action forever, and led to us creating many hotlines and jail support systems around the country in collaboration with Black Movement Law Project, NLG, many others</a:t>
            </a:r>
            <a:endParaRPr b="0" lang="en-US" sz="1600" spc="-1" strike="noStrike">
              <a:solidFill>
                <a:srgbClr val="ffffff"/>
              </a:solidFill>
              <a:latin typeface="Arial"/>
            </a:endParaRPr>
          </a:p>
          <a:p>
            <a:pPr>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16 Cleveland RNC</a:t>
            </a:r>
            <a:r>
              <a:rPr b="0" lang="en-US" sz="1600" spc="-1" strike="noStrike">
                <a:solidFill>
                  <a:srgbClr val="cccccc"/>
                </a:solidFill>
                <a:latin typeface="IBM Plex Mono"/>
              </a:rPr>
              <a:t> counter-demonstration was when we first started using OpenVBX for hotlines, with the support of EFF</a:t>
            </a:r>
            <a:endParaRPr b="0" lang="en-US" sz="1600" spc="-1" strike="noStrike">
              <a:solidFill>
                <a:srgbClr val="ffffff"/>
              </a:solidFill>
              <a:latin typeface="Arial"/>
            </a:endParaRPr>
          </a:p>
          <a:p>
            <a:r>
              <a:rPr b="1" lang="en-US" sz="1600" spc="-1" strike="noStrike">
                <a:solidFill>
                  <a:srgbClr val="f0c674"/>
                </a:solidFill>
                <a:latin typeface="IBM Plex Mono"/>
              </a:rPr>
              <a:t>  •  </a:t>
            </a:r>
            <a:r>
              <a:rPr b="1" lang="en-US" sz="1600" spc="-1" strike="noStrike">
                <a:solidFill>
                  <a:srgbClr val="f0c674"/>
                </a:solidFill>
                <a:latin typeface="IBM Plex Mono"/>
              </a:rPr>
              <a:t>Standing Rock</a:t>
            </a:r>
            <a:r>
              <a:rPr b="0" lang="en-US" sz="1600" spc="-1" strike="noStrike">
                <a:solidFill>
                  <a:srgbClr val="cccccc"/>
                </a:solidFill>
                <a:latin typeface="IBM Plex Mono"/>
              </a:rPr>
              <a:t> deepened our experiences of mass defense, dealing with 800+ cases and sophisticated threat models</a:t>
            </a:r>
            <a:endParaRPr b="0" lang="en-US" sz="1600" spc="-1" strike="noStrike">
              <a:solidFill>
                <a:srgbClr val="ffffff"/>
              </a:solidFill>
              <a:latin typeface="Arial"/>
            </a:endParaRPr>
          </a:p>
          <a:p>
            <a:r>
              <a:rPr b="1" lang="en-US" sz="1600" spc="-1" strike="noStrike">
                <a:solidFill>
                  <a:srgbClr val="f0c674"/>
                </a:solidFill>
                <a:latin typeface="IBM Plex Mono"/>
              </a:rPr>
              <a:t>  </a:t>
            </a:r>
            <a:endParaRPr b="0" lang="en-US" sz="1600" spc="-1" strike="noStrike">
              <a:solidFill>
                <a:srgbClr val="ffffff"/>
              </a:solidFill>
              <a:latin typeface="Arial"/>
            </a:endParaRPr>
          </a:p>
          <a:p>
            <a:r>
              <a:rPr b="1" lang="en-US" sz="1600" spc="-1" strike="noStrike">
                <a:solidFill>
                  <a:srgbClr val="f0c674"/>
                </a:solidFill>
                <a:latin typeface="IBM Plex Mono"/>
              </a:rPr>
              <a:t>Since, every collective has used a patchwork of solutions:</a:t>
            </a:r>
            <a:endParaRPr b="0" lang="en-US" sz="1600" spc="-1" strike="noStrike">
              <a:solidFill>
                <a:srgbClr val="ffffff"/>
              </a:solidFill>
              <a:latin typeface="Arial"/>
            </a:endParaRPr>
          </a:p>
          <a:p>
            <a:pPr>
              <a:lnSpc>
                <a:spcPct val="100000"/>
              </a:lnSpc>
            </a:pPr>
            <a:r>
              <a:rPr b="0" lang="en-US" sz="1600" spc="-1" strike="noStrike">
                <a:solidFill>
                  <a:srgbClr val="cccccc"/>
                </a:solidFill>
                <a:latin typeface="IBM Plex Mono"/>
                <a:ea typeface="Noto Sans CJK SC"/>
              </a:rPr>
              <a:t>- at best: twilio API, voip providers, self hosted, non-encrypted airtable clones</a:t>
            </a:r>
            <a:endParaRPr b="0" lang="en-US" sz="1600" spc="-1" strike="noStrike">
              <a:solidFill>
                <a:srgbClr val="ffffff"/>
              </a:solidFill>
              <a:latin typeface="Arial"/>
            </a:endParaRPr>
          </a:p>
          <a:p>
            <a:pPr>
              <a:lnSpc>
                <a:spcPct val="100000"/>
              </a:lnSpc>
            </a:pPr>
            <a:r>
              <a:rPr b="0" lang="en-US" sz="1600" spc="-1" strike="noStrike">
                <a:solidFill>
                  <a:srgbClr val="cccccc"/>
                </a:solidFill>
                <a:latin typeface="IBM Plex Mono"/>
                <a:ea typeface="Noto Sans CJK SC"/>
              </a:rPr>
              <a:t>- at worst: google voice and google sheets </a:t>
            </a:r>
            <a:endParaRPr b="0" lang="en-US" sz="1600" spc="-1" strike="noStrike">
              <a:solidFill>
                <a:srgbClr val="ffffff"/>
              </a:solidFill>
              <a:latin typeface="Arial"/>
            </a:endParaRPr>
          </a:p>
          <a:p>
            <a:endParaRPr b="0" lang="en-US" sz="1600" spc="-1" strike="noStrike">
              <a:solidFill>
                <a:srgbClr val="ffffff"/>
              </a:solidFill>
              <a:latin typeface="Arial"/>
            </a:endParaRPr>
          </a:p>
          <a:p>
            <a:r>
              <a:rPr b="0" i="1" lang="en-US" sz="1600" spc="-1" strike="noStrike">
                <a:solidFill>
                  <a:srgbClr val="5cc4b0"/>
                </a:solidFill>
                <a:latin typeface="Source Code Pro"/>
              </a:rPr>
              <a:t>We keep revisiting this space dialectically every year or so, and the conclusion is the same: there is no CRM/communications hub made for our threat model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5"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What I'll Cover</a:t>
            </a:r>
            <a:endParaRPr b="0" lang="en-US" sz="2800" spc="-1" strike="noStrike">
              <a:solidFill>
                <a:srgbClr val="ffffff"/>
              </a:solidFill>
              <a:latin typeface="Arial"/>
            </a:endParaRPr>
          </a:p>
        </p:txBody>
      </p:sp>
      <p:sp>
        <p:nvSpPr>
          <p:cNvPr id="86"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87" name="TextBox 3"/>
          <p:cNvSpPr/>
          <p:nvPr/>
        </p:nvSpPr>
        <p:spPr>
          <a:xfrm>
            <a:off x="548640" y="1143000"/>
            <a:ext cx="11094120" cy="2548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e84d4d"/>
                </a:solidFill>
                <a:latin typeface="Fira Code"/>
              </a:rPr>
              <a:t>  </a:t>
            </a:r>
            <a:r>
              <a:rPr b="1" lang="en-US" sz="1600" spc="-1" strike="noStrike">
                <a:solidFill>
                  <a:srgbClr val="e84d4d"/>
                </a:solidFill>
                <a:latin typeface="Fira Code"/>
              </a:rPr>
              <a:t>1.  </a:t>
            </a:r>
            <a:r>
              <a:rPr b="1" lang="en-US" sz="1600" spc="-1" strike="noStrike">
                <a:solidFill>
                  <a:srgbClr val="f0f0f0"/>
                </a:solidFill>
                <a:latin typeface="JetBrains Mono"/>
              </a:rPr>
              <a:t>Why existing tools fail</a:t>
            </a:r>
            <a:r>
              <a:rPr b="0" lang="en-US" sz="1600" spc="-1" strike="noStrike">
                <a:solidFill>
                  <a:srgbClr val="999999"/>
                </a:solidFill>
                <a:latin typeface="IBM Plex Mono"/>
              </a:rPr>
              <a:t> the activist threat model (and specifically how)</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2.  </a:t>
            </a:r>
            <a:r>
              <a:rPr b="1" lang="en-US" sz="1600" spc="-1" strike="noStrike">
                <a:solidFill>
                  <a:srgbClr val="f0f0f0"/>
                </a:solidFill>
                <a:latin typeface="JetBrains Mono"/>
              </a:rPr>
              <a:t>SIP trunking</a:t>
            </a:r>
            <a:r>
              <a:rPr b="0" lang="en-US" sz="1600" spc="-1" strike="noStrike">
                <a:solidFill>
                  <a:srgbClr val="999999"/>
                </a:solidFill>
                <a:latin typeface="IBM Plex Mono"/>
              </a:rPr>
              <a:t> — why call routing matters for privacy</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3.  </a:t>
            </a:r>
            <a:r>
              <a:rPr b="1" lang="en-US" sz="1600" spc="-1" strike="noStrike">
                <a:solidFill>
                  <a:srgbClr val="f0f0f0"/>
                </a:solidFill>
                <a:latin typeface="JetBrains Mono"/>
              </a:rPr>
              <a:t>E2EE notes and messages</a:t>
            </a:r>
            <a:r>
              <a:rPr b="0" lang="en-US" sz="1600" spc="-1" strike="noStrike">
                <a:solidFill>
                  <a:srgbClr val="999999"/>
                </a:solidFill>
                <a:latin typeface="IBM Plex Mono"/>
              </a:rPr>
              <a:t> — what "zero-knowledge server" actually means</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4.  </a:t>
            </a:r>
            <a:r>
              <a:rPr b="1" lang="en-US" sz="1600" spc="-1" strike="noStrike">
                <a:solidFill>
                  <a:srgbClr val="f0f0f0"/>
                </a:solidFill>
                <a:latin typeface="JetBrains Mono"/>
              </a:rPr>
              <a:t>What a subpoena actually gets</a:t>
            </a:r>
            <a:r>
              <a:rPr b="0" lang="en-US" sz="1600" spc="-1" strike="noStrike">
                <a:solidFill>
                  <a:srgbClr val="999999"/>
                </a:solidFill>
                <a:latin typeface="IBM Plex Mono"/>
              </a:rPr>
              <a:t> — walking through the matrix</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5.  </a:t>
            </a:r>
            <a:r>
              <a:rPr b="1" lang="en-US" sz="1600" spc="-1" strike="noStrike">
                <a:solidFill>
                  <a:srgbClr val="f0f0f0"/>
                </a:solidFill>
                <a:latin typeface="JetBrains Mono"/>
              </a:rPr>
              <a:t>Signal channel integration</a:t>
            </a:r>
            <a:r>
              <a:rPr b="0" lang="en-US" sz="1600" spc="-1" strike="noStrike">
                <a:solidFill>
                  <a:srgbClr val="999999"/>
                </a:solidFill>
                <a:latin typeface="IBM Plex Mono"/>
              </a:rPr>
              <a:t> — for orgs using Signal in the field</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6.  </a:t>
            </a:r>
            <a:r>
              <a:rPr b="1" lang="en-US" sz="1600" spc="-1" strike="noStrike">
                <a:solidFill>
                  <a:srgbClr val="f0f0f0"/>
                </a:solidFill>
                <a:latin typeface="JetBrains Mono"/>
              </a:rPr>
              <a:t>What changed in v2</a:t>
            </a:r>
            <a:r>
              <a:rPr b="0" lang="en-US" sz="1600" spc="-1" strike="noStrike">
                <a:solidFill>
                  <a:srgbClr val="999999"/>
                </a:solidFill>
                <a:latin typeface="IBM Plex Mono"/>
              </a:rPr>
              <a:t> — results of a crypto review</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7.  </a:t>
            </a:r>
            <a:r>
              <a:rPr b="1" lang="en-US" sz="1600" spc="-1" strike="noStrike">
                <a:solidFill>
                  <a:srgbClr val="f0f0f0"/>
                </a:solidFill>
                <a:latin typeface="JetBrains Mono"/>
              </a:rPr>
              <a:t>Self-hosting</a:t>
            </a:r>
            <a:r>
              <a:rPr b="0" lang="en-US" sz="1600" spc="-1" strike="noStrike">
                <a:solidFill>
                  <a:srgbClr val="999999"/>
                </a:solidFill>
                <a:latin typeface="IBM Plex Mono"/>
              </a:rPr>
              <a:t> — what it takes, what it costs, what it protects</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8.  </a:t>
            </a:r>
            <a:r>
              <a:rPr b="1" lang="en-US" sz="1600" spc="-1" strike="noStrike">
                <a:solidFill>
                  <a:srgbClr val="f0f0f0"/>
                </a:solidFill>
                <a:latin typeface="JetBrains Mono"/>
              </a:rPr>
              <a:t>What we still can't protect</a:t>
            </a:r>
            <a:r>
              <a:rPr b="0" lang="en-US" sz="1600" spc="-1" strike="noStrike">
                <a:solidFill>
                  <a:srgbClr val="999999"/>
                </a:solidFill>
                <a:latin typeface="IBM Plex Mono"/>
              </a:rPr>
              <a:t> — be honest about the boundary</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88"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1</a:t>
            </a:r>
            <a:endParaRPr b="0" lang="en-US" sz="1600" spc="-1" strike="noStrike">
              <a:solidFill>
                <a:srgbClr val="ffffff"/>
              </a:solidFill>
              <a:latin typeface="Arial"/>
            </a:endParaRPr>
          </a:p>
        </p:txBody>
      </p:sp>
      <p:sp>
        <p:nvSpPr>
          <p:cNvPr id="89"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The Problem</a:t>
            </a:r>
            <a:endParaRPr b="0" lang="en-US" sz="4000" spc="-1" strike="noStrike">
              <a:solidFill>
                <a:srgbClr val="ffffff"/>
              </a:solidFill>
              <a:latin typeface="Arial"/>
            </a:endParaRPr>
          </a:p>
        </p:txBody>
      </p:sp>
      <p:sp>
        <p:nvSpPr>
          <p:cNvPr id="90"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1"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Your Adversaries, Named</a:t>
            </a:r>
            <a:endParaRPr b="0" lang="en-US" sz="2800" spc="-1" strike="noStrike">
              <a:solidFill>
                <a:srgbClr val="ffffff"/>
              </a:solidFill>
              <a:latin typeface="Arial"/>
            </a:endParaRPr>
          </a:p>
        </p:txBody>
      </p:sp>
      <p:sp>
        <p:nvSpPr>
          <p:cNvPr id="92"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93" name="TextBox 3"/>
          <p:cNvSpPr/>
          <p:nvPr/>
        </p:nvSpPr>
        <p:spPr>
          <a:xfrm>
            <a:off x="548640" y="1005840"/>
            <a:ext cx="11094120" cy="3570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State actors</a:t>
            </a:r>
            <a:endParaRPr b="0" lang="en-US" sz="18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Local police</a:t>
            </a:r>
            <a:r>
              <a:rPr b="0" lang="en-US" sz="1600" spc="-1" strike="noStrike">
                <a:solidFill>
                  <a:srgbClr val="cccccc"/>
                </a:solidFill>
                <a:latin typeface="IBM Plex Mono"/>
              </a:rPr>
              <a:t> with administrative subpoenas (no judge, 24-72 hrs)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Federal agencies</a:t>
            </a:r>
            <a:r>
              <a:rPr b="0" lang="en-US" sz="1600" spc="-1" strike="noStrike">
                <a:solidFill>
                  <a:srgbClr val="cccccc"/>
                </a:solidFill>
                <a:latin typeface="IBM Plex Mono"/>
              </a:rPr>
              <a:t> (FBI, ICE) with NSLs and grand jury subpoenas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Fusion centers</a:t>
            </a:r>
            <a:r>
              <a:rPr b="0" lang="en-US" sz="1600" spc="-1" strike="noStrike">
                <a:solidFill>
                  <a:srgbClr val="cccccc"/>
                </a:solidFill>
                <a:latin typeface="IBM Plex Mono"/>
              </a:rPr>
              <a:t> correlating data across agencies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DHS behavioral analysis units pattern-matching on call timing</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Contracted/private</a:t>
            </a:r>
            <a:endParaRPr b="0" lang="en-US" sz="18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Right-wing groups</a:t>
            </a:r>
            <a:r>
              <a:rPr b="0" lang="en-US" sz="1600" spc="-1" strike="noStrike">
                <a:solidFill>
                  <a:srgbClr val="cccccc"/>
                </a:solidFill>
                <a:latin typeface="IBM Plex Mono"/>
              </a:rPr>
              <a:t> with OSINT toolkits and PI contracts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Private investigators</a:t>
            </a:r>
            <a:r>
              <a:rPr b="0" lang="en-US" sz="1600" spc="-1" strike="noStrike">
                <a:solidFill>
                  <a:srgbClr val="cccccc"/>
                </a:solidFill>
                <a:latin typeface="IBM Plex Mono"/>
              </a:rPr>
              <a:t> with carrier-level access and courthouse relationships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Doxxing crews targeting volunteers by name, employer, and neighborhood</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None of these adversaries need to break encryption. They go to your provider with a form.</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4"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Real Scenarios</a:t>
            </a:r>
            <a:endParaRPr b="0" lang="en-US" sz="2800" spc="-1" strike="noStrike">
              <a:solidFill>
                <a:srgbClr val="ffffff"/>
              </a:solidFill>
              <a:latin typeface="Arial"/>
            </a:endParaRPr>
          </a:p>
        </p:txBody>
      </p:sp>
      <p:sp>
        <p:nvSpPr>
          <p:cNvPr id="95"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96" name="TextBox 3"/>
          <p:cNvSpPr/>
          <p:nvPr/>
        </p:nvSpPr>
        <p:spPr>
          <a:xfrm>
            <a:off x="548640" y="1005840"/>
            <a:ext cx="11094120" cy="2692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600" spc="-1" strike="noStrike">
                <a:solidFill>
                  <a:srgbClr val="cccccc"/>
                </a:solidFill>
                <a:latin typeface="Source Code Pro"/>
              </a:rPr>
              <a:t>A detective got a Google administrative subpoena. All incoming call records for the past 90 days: timestamps, caller IDs, duration. They called the organizer whose personal number showed up most often as the answering line.</a:t>
            </a:r>
            <a:endParaRPr b="0" lang="en-US" sz="1600" spc="-1" strike="noStrike">
              <a:solidFill>
                <a:srgbClr val="ffffff"/>
              </a:solidFill>
              <a:latin typeface="Arial"/>
            </a:endParaRPr>
          </a:p>
          <a:p>
            <a:pPr defTabSz="457200">
              <a:lnSpc>
                <a:spcPct val="100000"/>
              </a:lnSpc>
            </a:pPr>
            <a:endParaRPr b="0" lang="en-US" sz="1600" spc="-1" strike="noStrike">
              <a:solidFill>
                <a:srgbClr val="ffffff"/>
              </a:solidFill>
              <a:latin typeface="Arial"/>
            </a:endParaRPr>
          </a:p>
          <a:p>
            <a:pPr defTabSz="457200">
              <a:lnSpc>
                <a:spcPct val="100000"/>
              </a:lnSpc>
              <a:spcBef>
                <a:spcPts val="300"/>
              </a:spcBef>
              <a:spcAft>
                <a:spcPts val="201"/>
              </a:spcAft>
            </a:pPr>
            <a:r>
              <a:rPr b="0" i="1" lang="en-US" sz="1600" spc="-1" strike="noStrike">
                <a:solidFill>
                  <a:srgbClr val="cccccc"/>
                </a:solidFill>
                <a:latin typeface="Source Code Pro"/>
              </a:rPr>
              <a:t>A Twilio account was subpoenaed during a protest response. The dashboard showed every call: who called, who answered, how long they talked. Volunteer phone numbers were in the CDRs.</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r>
              <a:rPr b="0" i="1" lang="en-US" sz="1600" spc="-1" strike="noStrike">
                <a:solidFill>
                  <a:srgbClr val="cccccc"/>
                </a:solidFill>
                <a:latin typeface="Source Code Pro"/>
              </a:rPr>
              <a:t>A volunteer's notes were in a shared Google Doc. The doc was in a G Suite account. The org didn't know Google had responded to a CIPA request until the legal case surfaced it.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7"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Why Google Voice Fails</a:t>
            </a:r>
            <a:endParaRPr b="0" lang="en-US" sz="2800" spc="-1" strike="noStrike">
              <a:solidFill>
                <a:srgbClr val="ffffff"/>
              </a:solidFill>
              <a:latin typeface="Arial"/>
            </a:endParaRPr>
          </a:p>
        </p:txBody>
      </p:sp>
      <p:sp>
        <p:nvSpPr>
          <p:cNvPr id="98"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99" name="TextBox 3"/>
          <p:cNvSpPr/>
          <p:nvPr/>
        </p:nvSpPr>
        <p:spPr>
          <a:xfrm>
            <a:off x="548640" y="1005840"/>
            <a:ext cx="11094120" cy="325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Call records</a:t>
            </a:r>
            <a:r>
              <a:rPr b="0" lang="en-US" sz="1600" spc="-1" strike="noStrike">
                <a:solidFill>
                  <a:srgbClr val="cccccc"/>
                </a:solidFill>
                <a:latin typeface="IBM Plex Mono"/>
              </a:rPr>
              <a:t>: Google stores them. Administrative subpoena = Google hands them over within 48 hours.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Caller ID</a:t>
            </a:r>
            <a:r>
              <a:rPr b="0" lang="en-US" sz="1600" spc="-1" strike="noStrike">
                <a:solidFill>
                  <a:srgbClr val="cccccc"/>
                </a:solidFill>
                <a:latin typeface="IBM Plex Mono"/>
              </a:rPr>
              <a:t>: Google sees the real number. You have it, they have it.</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Account access</a:t>
            </a:r>
            <a:r>
              <a:rPr b="0" lang="en-US" sz="1600" spc="-1" strike="noStrike">
                <a:solidFill>
                  <a:srgbClr val="cccccc"/>
                </a:solidFill>
                <a:latin typeface="IBM Plex Mono"/>
              </a:rPr>
              <a:t>: If the G Suite account is compromised, everything is exposed.</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The volunteer's personal number</a:t>
            </a:r>
            <a:r>
              <a:rPr b="0" lang="en-US" sz="1600" spc="-1" strike="noStrike">
                <a:solidFill>
                  <a:srgbClr val="cccccc"/>
                </a:solidFill>
                <a:latin typeface="IBM Plex Mono"/>
              </a:rPr>
              <a:t>: When they answer a Google Voice forwarded call, their phone number shows up in the CDR.</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Your Google Voice call log is basically a gift-wrapped package for any detective with a subpoena and 48 hours.</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Google Voice was designed for a business's customer support line. Not for a legal observer network.</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0"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Why Twilio Direct API Fails</a:t>
            </a:r>
            <a:endParaRPr b="0" lang="en-US" sz="2800" spc="-1" strike="noStrike">
              <a:solidFill>
                <a:srgbClr val="ffffff"/>
              </a:solidFill>
              <a:latin typeface="Arial"/>
            </a:endParaRPr>
          </a:p>
        </p:txBody>
      </p:sp>
      <p:sp>
        <p:nvSpPr>
          <p:cNvPr id="101"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02" name="TextBox 3"/>
          <p:cNvSpPr/>
          <p:nvPr/>
        </p:nvSpPr>
        <p:spPr>
          <a:xfrm>
            <a:off x="564480" y="1230840"/>
            <a:ext cx="11094120" cy="288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CDRs in the dashboard</a:t>
            </a:r>
            <a:r>
              <a:rPr b="0" lang="en-US" sz="1600" spc="-1" strike="noStrike">
                <a:solidFill>
                  <a:srgbClr val="cccccc"/>
                </a:solidFill>
                <a:latin typeface="IBM Plex Mono"/>
              </a:rPr>
              <a:t>: Every call — caller ID, called number, duration, timestamp — stored in Twilio's dashboard, forever, by default.</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Twilio is US-based</a:t>
            </a:r>
            <a:r>
              <a:rPr b="0" lang="en-US" sz="1600" spc="-1" strike="noStrike">
                <a:solidFill>
                  <a:srgbClr val="cccccc"/>
                </a:solidFill>
                <a:latin typeface="IBM Plex Mono"/>
              </a:rPr>
              <a:t>: Subject to US law. Administrative subpoenas. Grand jury subpoenas. NSLs.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TwiML Apps store config</a:t>
            </a:r>
            <a:r>
              <a:rPr b="0" lang="en-US" sz="1600" spc="-1" strike="noStrike">
                <a:solidFill>
                  <a:srgbClr val="cccccc"/>
                </a:solidFill>
                <a:latin typeface="IBM Plex Mono"/>
              </a:rPr>
              <a:t>: Your volunteer phone numbers are in your Twilio account config.</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Recording storage</a:t>
            </a:r>
            <a:r>
              <a:rPr b="0" lang="en-US" sz="1600" spc="-1" strike="noStrike">
                <a:solidFill>
                  <a:srgbClr val="cccccc"/>
                </a:solidFill>
                <a:latin typeface="IBM Plex Mono"/>
              </a:rPr>
              <a:t>: If you record calls for "quality," those recordings are on Twilio S3. Under the same subpoena.</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Twilio is a great developer tool. It is a terrible privacy layer for activist hotlines.</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3"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The Subpoena Attack Surface</a:t>
            </a:r>
            <a:endParaRPr b="0" lang="en-US" sz="2800" spc="-1" strike="noStrike">
              <a:solidFill>
                <a:srgbClr val="ffffff"/>
              </a:solidFill>
              <a:latin typeface="Arial"/>
            </a:endParaRPr>
          </a:p>
        </p:txBody>
      </p:sp>
      <p:sp>
        <p:nvSpPr>
          <p:cNvPr id="104"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05" name="Rounded Rectangle 3"/>
          <p:cNvSpPr/>
          <p:nvPr/>
        </p:nvSpPr>
        <p:spPr>
          <a:xfrm>
            <a:off x="548640" y="1005840"/>
            <a:ext cx="11094120" cy="28803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 name="TextBox 4"/>
          <p:cNvSpPr/>
          <p:nvPr/>
        </p:nvSpPr>
        <p:spPr>
          <a:xfrm>
            <a:off x="685800" y="1097280"/>
            <a:ext cx="10819800" cy="2649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Google Voice account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Call history (caller ID, timestamps, duration)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Voicemail recordings (stored by Google)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Account holder identity → who runs the hotline</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Twilio dashboard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CDRs: every call, every participant phone number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TwiML config: volunteer phone numbers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Recording files on S3 → actual call audio</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Notes in Google Docs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Full plaintext content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r>
              <a:rPr b="0" lang="en-US" sz="1200" spc="-1" strike="noStrike">
                <a:solidFill>
                  <a:srgbClr val="5cc4b0"/>
                </a:solidFill>
                <a:latin typeface="Fira Code"/>
              </a:rPr>
              <a:t>Edit history showing when each volunteer wrote what</a:t>
            </a:r>
            <a:endParaRPr b="0" lang="en-US" sz="1200" spc="-1" strike="noStrike">
              <a:solidFill>
                <a:srgbClr val="ffffff"/>
              </a:solidFill>
              <a:latin typeface="Arial"/>
            </a:endParaRPr>
          </a:p>
        </p:txBody>
      </p:sp>
      <p:sp>
        <p:nvSpPr>
          <p:cNvPr id="107" name="TextBox 5"/>
          <p:cNvSpPr/>
          <p:nvPr/>
        </p:nvSpPr>
        <p:spPr>
          <a:xfrm>
            <a:off x="457200" y="411480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Every hop is a separate subpoena target. And they all comply.</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108"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2</a:t>
            </a:r>
            <a:endParaRPr b="0" lang="en-US" sz="1600" spc="-1" strike="noStrike">
              <a:solidFill>
                <a:srgbClr val="ffffff"/>
              </a:solidFill>
              <a:latin typeface="Arial"/>
            </a:endParaRPr>
          </a:p>
        </p:txBody>
      </p:sp>
      <p:sp>
        <p:nvSpPr>
          <p:cNvPr id="109"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The Architecture</a:t>
            </a:r>
            <a:endParaRPr b="0" lang="en-US" sz="4000" spc="-1" strike="noStrike">
              <a:solidFill>
                <a:srgbClr val="ffffff"/>
              </a:solidFill>
              <a:latin typeface="Arial"/>
            </a:endParaRPr>
          </a:p>
        </p:txBody>
      </p:sp>
      <p:sp>
        <p:nvSpPr>
          <p:cNvPr id="110"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11"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SIP Trunk vs. Twilio API</a:t>
            </a:r>
            <a:endParaRPr b="0" lang="en-US" sz="2800" spc="-1" strike="noStrike">
              <a:solidFill>
                <a:srgbClr val="ffffff"/>
              </a:solidFill>
              <a:latin typeface="Arial"/>
            </a:endParaRPr>
          </a:p>
        </p:txBody>
      </p:sp>
      <p:sp>
        <p:nvSpPr>
          <p:cNvPr id="112"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13" name="TextBox 3"/>
          <p:cNvSpPr/>
          <p:nvPr/>
        </p:nvSpPr>
        <p:spPr>
          <a:xfrm>
            <a:off x="548640" y="1143000"/>
            <a:ext cx="11094120" cy="4057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Twilio REST API</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Call enters Twilio's servers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Twilio stores full CDR</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Caller ID, called number, duration, timestamp</a:t>
            </a:r>
            <a:r>
              <a:rPr b="0" lang="en-US" sz="1600" spc="-1" strike="noStrike">
                <a:solidFill>
                  <a:srgbClr val="cccccc"/>
                </a:solidFill>
                <a:latin typeface="IBM Plex Mono"/>
              </a:rPr>
              <a:t> all in Twilio dashboard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Subpoena Twilio → you get everything</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Easy setup, dangerous metadata posture</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SIP Trunk (Llámenos)</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PSTN number → SIP trunk → your server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You control what gets logged (including: nothing)</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Telnyx/SignalWire offer CDR-free options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Self-hosted Asterisk/FreeSWITCH: no cloud provider at all — this is the default deployment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Ansible playbook handles setup, you own the metadata</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14"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The Call Flow</a:t>
            </a:r>
            <a:endParaRPr b="0" lang="en-US" sz="2800" spc="-1" strike="noStrike">
              <a:solidFill>
                <a:srgbClr val="ffffff"/>
              </a:solidFill>
              <a:latin typeface="Arial"/>
            </a:endParaRPr>
          </a:p>
        </p:txBody>
      </p:sp>
      <p:sp>
        <p:nvSpPr>
          <p:cNvPr id="115"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16" name="Rounded Rectangle 3"/>
          <p:cNvSpPr/>
          <p:nvPr/>
        </p:nvSpPr>
        <p:spPr>
          <a:xfrm>
            <a:off x="548640" y="1005840"/>
            <a:ext cx="11094120" cy="28803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 name="TextBox 4"/>
          <p:cNvSpPr/>
          <p:nvPr/>
        </p:nvSpPr>
        <p:spPr>
          <a:xfrm>
            <a:off x="685800" y="1097280"/>
            <a:ext cx="10819800" cy="2467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Caller dials hotline number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PSTN  ---&gt;  SIP Trunk (Telnyx/SignalWire/Self-hosted)</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Your Server  ---&gt;  WireGuard tunnel (no public IP)</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Parallel Ring -&gt; All on-shift volunteers simultaneously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First pickup wins. Others hang up instantly.</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18"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Why Parallel Ring Matters</a:t>
            </a:r>
            <a:endParaRPr b="0" lang="en-US" sz="2800" spc="-1" strike="noStrike">
              <a:solidFill>
                <a:srgbClr val="ffffff"/>
              </a:solidFill>
              <a:latin typeface="Arial"/>
            </a:endParaRPr>
          </a:p>
        </p:txBody>
      </p:sp>
      <p:sp>
        <p:nvSpPr>
          <p:cNvPr id="119"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20" name="TextBox 3"/>
          <p:cNvSpPr/>
          <p:nvPr/>
        </p:nvSpPr>
        <p:spPr>
          <a:xfrm>
            <a:off x="548640" y="1005840"/>
            <a:ext cx="11094120" cy="468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Sequential Ring (most hotlines)</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Call → Volunteer 1 (ring 20s)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 answer → Volunteer 2 (ring 20s)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 answer → Volunteer 3 (ring 20s)</a:t>
            </a:r>
            <a:endParaRPr b="0" lang="en-US" sz="1600" spc="-1" strike="noStrike">
              <a:solidFill>
                <a:srgbClr val="ffffff"/>
              </a:solidFill>
              <a:latin typeface="Arial"/>
            </a:endParaRPr>
          </a:p>
          <a:p>
            <a:pPr defTabSz="457200">
              <a:lnSpc>
                <a:spcPct val="100000"/>
              </a:lnSpc>
              <a:spcBef>
                <a:spcPts val="601"/>
              </a:spcBef>
              <a:spcAft>
                <a:spcPts val="201"/>
              </a:spcAft>
            </a:pPr>
            <a:r>
              <a:rPr b="1" lang="en-US" sz="1400" spc="-1" strike="noStrike">
                <a:solidFill>
                  <a:srgbClr val="f0f0f0"/>
                </a:solidFill>
                <a:latin typeface="IBM Plex Mono"/>
              </a:rPr>
              <a:t>What the CDR reveals:</a:t>
            </a:r>
            <a:endParaRPr b="0" lang="en-US" sz="14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Three separate call legs to three numbers. Timestamps show who was tried when. The whole volunteer roster, with timing, in one CDR.</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Parallel Ring (Llámenos)</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Call → ALL on-shift volunteers simultaneously</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First pickup → others instantly hang up</a:t>
            </a:r>
            <a:endParaRPr b="0" lang="en-US" sz="1600" spc="-1" strike="noStrike">
              <a:solidFill>
                <a:srgbClr val="ffffff"/>
              </a:solidFill>
              <a:latin typeface="Arial"/>
            </a:endParaRPr>
          </a:p>
          <a:p>
            <a:pPr defTabSz="457200">
              <a:lnSpc>
                <a:spcPct val="100000"/>
              </a:lnSpc>
              <a:spcBef>
                <a:spcPts val="601"/>
              </a:spcBef>
              <a:spcAft>
                <a:spcPts val="201"/>
              </a:spcAft>
            </a:pPr>
            <a:r>
              <a:rPr b="1" lang="en-US" sz="1400" spc="-1" strike="noStrike">
                <a:solidFill>
                  <a:srgbClr val="f0f0f0"/>
                </a:solidFill>
                <a:latin typeface="IBM Plex Mono"/>
              </a:rPr>
              <a:t>What your server logs:</a:t>
            </a:r>
            <a:endParaRPr b="0" lang="en-US" sz="14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One inbound call. Outbound legs all start at the same timestamp. First pickup wins.</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Sequential ring is a directory of your volunteer roster, handed to any detective with a subpoena. Parallel ring is a single event.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1"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8 Telephony Adapters — Choose Your Trust Level</a:t>
            </a:r>
            <a:endParaRPr b="0" lang="en-US" sz="2600" spc="-1" strike="noStrike">
              <a:solidFill>
                <a:srgbClr val="ffffff"/>
              </a:solidFill>
              <a:latin typeface="Arial"/>
            </a:endParaRPr>
          </a:p>
        </p:txBody>
      </p:sp>
      <p:sp>
        <p:nvSpPr>
          <p:cNvPr id="122"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23" name="Rounded Rectangle 3"/>
          <p:cNvSpPr/>
          <p:nvPr/>
        </p:nvSpPr>
        <p:spPr>
          <a:xfrm>
            <a:off x="548640" y="1005840"/>
            <a:ext cx="11094120" cy="28803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4"/>
          <p:cNvSpPr/>
          <p:nvPr/>
        </p:nvSpPr>
        <p:spPr>
          <a:xfrm>
            <a:off x="685800" y="1097280"/>
            <a:ext cx="10819800" cy="2467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Trust Level     Provider            CDR Posture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LOW TRUST       Twilio              Full CDR exposure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SignalWire          Full CDR exposure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Vonage              Full CDR exposure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Plivo               Full CDR exposure</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MEDIUM TRUST    Telnyx              CDR-free SIP trunk available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Bandwidth           CDR-minimal SIP trunk</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HIGH TRUST      Asterisk            Self-hosted, you own everything</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(DEFAULT)       FreeSWITCH          Self-hosted, you own everything</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5"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Self-Hosting: The Full Stack</a:t>
            </a:r>
            <a:endParaRPr b="0" lang="en-US" sz="2800" spc="-1" strike="noStrike">
              <a:solidFill>
                <a:srgbClr val="ffffff"/>
              </a:solidFill>
              <a:latin typeface="Arial"/>
            </a:endParaRPr>
          </a:p>
        </p:txBody>
      </p:sp>
      <p:sp>
        <p:nvSpPr>
          <p:cNvPr id="126"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27" name="Rounded Rectangle 3"/>
          <p:cNvSpPr/>
          <p:nvPr/>
        </p:nvSpPr>
        <p:spPr>
          <a:xfrm>
            <a:off x="548640" y="1005840"/>
            <a:ext cx="11094120" cy="105120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TextBox 4"/>
          <p:cNvSpPr/>
          <p:nvPr/>
        </p:nvSpPr>
        <p:spPr>
          <a:xfrm>
            <a:off x="685800" y="1097280"/>
            <a:ext cx="10819800" cy="109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 What you run (production — Ansible is the default)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ansible-playbook -i inventory deploy.yml</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For demos and local development only: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docker compose up -d</a:t>
            </a:r>
            <a:endParaRPr b="0" lang="en-US" sz="1200" spc="-1" strike="noStrike">
              <a:solidFill>
                <a:srgbClr val="ffffff"/>
              </a:solidFill>
              <a:latin typeface="Arial"/>
            </a:endParaRPr>
          </a:p>
        </p:txBody>
      </p:sp>
      <p:sp>
        <p:nvSpPr>
          <p:cNvPr id="129" name="TextBox 5"/>
          <p:cNvSpPr/>
          <p:nvPr/>
        </p:nvSpPr>
        <p:spPr>
          <a:xfrm>
            <a:off x="548640" y="2148840"/>
            <a:ext cx="11094120" cy="4068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800" spc="-1" strike="noStrike">
              <a:solidFill>
                <a:schemeClr val="dk1"/>
              </a:solidFill>
              <a:latin typeface="Calibri"/>
            </a:endParaRPr>
          </a:p>
        </p:txBody>
      </p:sp>
      <p:sp>
        <p:nvSpPr>
          <p:cNvPr id="130" name="Rounded Rectangle 6"/>
          <p:cNvSpPr/>
          <p:nvPr/>
        </p:nvSpPr>
        <p:spPr>
          <a:xfrm>
            <a:off x="548640" y="2148840"/>
            <a:ext cx="11094120" cy="19659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1" name="TextBox 7"/>
          <p:cNvSpPr/>
          <p:nvPr/>
        </p:nvSpPr>
        <p:spPr>
          <a:xfrm>
            <a:off x="685800" y="2240280"/>
            <a:ext cx="10819800" cy="1644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Ansible Deploy (default)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PostgreSQL 16  --&gt;  Encrypted notes, audit log</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Bun + Hono     --&gt;  API server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strfry         --&gt;  Self-hosted Nostr relay (real-time events)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Asterisk/FreeSwtich --&gt;  SIP routing (default PBX)</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Optional:  signal-notifier | Kamailio+CoTURN | Prometheus+Grafana</a:t>
            </a:r>
            <a:endParaRPr b="0" lang="en-US" sz="1200" spc="-1" strike="noStrike">
              <a:solidFill>
                <a:srgbClr val="ffffff"/>
              </a:solidFill>
              <a:latin typeface="Arial"/>
            </a:endParaRPr>
          </a:p>
        </p:txBody>
      </p:sp>
      <p:sp>
        <p:nvSpPr>
          <p:cNvPr id="132" name="TextBox 8"/>
          <p:cNvSpPr/>
          <p:nvPr/>
        </p:nvSpPr>
        <p:spPr>
          <a:xfrm>
            <a:off x="548640" y="4343400"/>
            <a:ext cx="11094120" cy="1166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1984 Hosting</a:t>
            </a:r>
            <a:r>
              <a:rPr b="0" lang="en-US" sz="1600" spc="-1" strike="noStrike">
                <a:solidFill>
                  <a:srgbClr val="cccccc"/>
                </a:solidFill>
                <a:latin typeface="IBM Plex Mono"/>
              </a:rPr>
              <a:t> (Iceland) — not subject to the US CLOUD Act, custom Debian FDE ISO with dropbear for remote unlock</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No telemetry</a:t>
            </a:r>
            <a:r>
              <a:rPr b="0" lang="en-US" sz="1600" spc="-1" strike="noStrike">
                <a:solidFill>
                  <a:srgbClr val="cccccc"/>
                </a:solidFill>
                <a:latin typeface="IBM Plex Mono"/>
              </a:rPr>
              <a:t> to any external party</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Reproducible builds with SLSA provenance and cosign verification</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133"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3</a:t>
            </a:r>
            <a:endParaRPr b="0" lang="en-US" sz="1600" spc="-1" strike="noStrike">
              <a:solidFill>
                <a:srgbClr val="ffffff"/>
              </a:solidFill>
              <a:latin typeface="Arial"/>
            </a:endParaRPr>
          </a:p>
        </p:txBody>
      </p:sp>
      <p:sp>
        <p:nvSpPr>
          <p:cNvPr id="134" name="TextBox 2"/>
          <p:cNvSpPr/>
          <p:nvPr/>
        </p:nvSpPr>
        <p:spPr>
          <a:xfrm>
            <a:off x="548640" y="2560320"/>
            <a:ext cx="11094120" cy="13086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E2EE — Zero-Knowledge Notes &amp; Messages</a:t>
            </a:r>
            <a:endParaRPr b="0" lang="en-US" sz="4000" spc="-1" strike="noStrike">
              <a:solidFill>
                <a:srgbClr val="ffffff"/>
              </a:solidFill>
              <a:latin typeface="Arial"/>
            </a:endParaRPr>
          </a:p>
        </p:txBody>
      </p:sp>
      <p:sp>
        <p:nvSpPr>
          <p:cNvPr id="135" name="Rectangle 3"/>
          <p:cNvSpPr/>
          <p:nvPr/>
        </p:nvSpPr>
        <p:spPr>
          <a:xfrm>
            <a:off x="4572000" y="430560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36"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What "Zero-Knowledge Server" Actually Means</a:t>
            </a:r>
            <a:endParaRPr b="0" lang="en-US" sz="2600" spc="-1" strike="noStrike">
              <a:solidFill>
                <a:srgbClr val="ffffff"/>
              </a:solidFill>
              <a:latin typeface="Arial"/>
            </a:endParaRPr>
          </a:p>
        </p:txBody>
      </p:sp>
      <p:sp>
        <p:nvSpPr>
          <p:cNvPr id="137"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38" name="TextBox 3"/>
          <p:cNvSpPr/>
          <p:nvPr/>
        </p:nvSpPr>
        <p:spPr>
          <a:xfrm>
            <a:off x="548640" y="1005840"/>
            <a:ext cx="11094120" cy="4492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The server should not be able to read call notes, even under subpoena.</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What the server stores</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`encryptedContent` — ciphertext blob</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`authorEnvelope` — key wrapped for volunteer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`adminEnvelopes[]` — key wrapped for each admin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Timestamps (call started/ended)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Duration</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What the server does NOT store</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Note content (plaintext)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Caller identity</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Conversation transcript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Who the volunteer is (pubkey only, not name)</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A successful subpoena of your server gets them: "yes, a call happened at 11:47pm, duration 23 minutes, here's a ciphertext blob." Have fun with that, detective.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39"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Per-Note Forward Secrecy</a:t>
            </a:r>
            <a:endParaRPr b="0" lang="en-US" sz="2800" spc="-1" strike="noStrike">
              <a:solidFill>
                <a:srgbClr val="ffffff"/>
              </a:solidFill>
              <a:latin typeface="Arial"/>
            </a:endParaRPr>
          </a:p>
        </p:txBody>
      </p:sp>
      <p:sp>
        <p:nvSpPr>
          <p:cNvPr id="140"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41" name="Rounded Rectangle 3"/>
          <p:cNvSpPr/>
          <p:nvPr/>
        </p:nvSpPr>
        <p:spPr>
          <a:xfrm>
            <a:off x="548640" y="1005840"/>
            <a:ext cx="11094120" cy="44805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TextBox 4"/>
          <p:cNvSpPr/>
          <p:nvPr/>
        </p:nvSpPr>
        <p:spPr>
          <a:xfrm>
            <a:off x="685800" y="1097280"/>
            <a:ext cx="10819800" cy="4021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For each note written:</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1. Generate random 256-bit note key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note_key = random_bytes(32)</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2. Encrypt note content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nonce = random_bytes(24)</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ciphertext = XChaCha20-Poly1305(note_key, nonce).encrypt(note_json)</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3. Wrap note_key for volunteer (author)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author_envelope = HPKE_wrap(note_key, volunteer_pubkey, "llamenos:note-key")</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4. Wrap note_key for each admin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admin_envelopes = admins.map(admin =&gt;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HPKE_wrap(note_key, admin.pubkey, "llamenos:note-key")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5. Store: { ciphertext, author_envelope, admin_envelopes[]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6. Discard note_key from memory</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43" name="TextBox 1"/>
          <p:cNvSpPr/>
          <p:nvPr/>
        </p:nvSpPr>
        <p:spPr>
          <a:xfrm>
            <a:off x="548640" y="228600"/>
            <a:ext cx="1109412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400" spc="-1" strike="noStrike">
                <a:solidFill>
                  <a:srgbClr val="f0f0f0"/>
                </a:solidFill>
                <a:latin typeface="JetBrains Mono"/>
              </a:rPr>
              <a:t>Client-Side Transcription — Audio Never Leaves the Browser</a:t>
            </a:r>
            <a:endParaRPr b="0" lang="en-US" sz="2400" spc="-1" strike="noStrike">
              <a:solidFill>
                <a:srgbClr val="ffffff"/>
              </a:solidFill>
              <a:latin typeface="Arial"/>
            </a:endParaRPr>
          </a:p>
        </p:txBody>
      </p:sp>
      <p:sp>
        <p:nvSpPr>
          <p:cNvPr id="144"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45" name="TextBox 3"/>
          <p:cNvSpPr/>
          <p:nvPr/>
        </p:nvSpPr>
        <p:spPr>
          <a:xfrm>
            <a:off x="548640" y="1005840"/>
            <a:ext cx="11094120" cy="4555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This one is a big deal.</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How most transcription works</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Call audio → sent to API (Google, OpenAI, AWS)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Transcription service processes your call content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You get text back</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The transcription provider heard everything</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Subpoena the transcription provider</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How Llámenos does it</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WASM Whisper model — runs in the volunteer's browser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AudioWorklet ring buffer → Web Worker isolation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Transcript generated locally</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Audio never leaves the device. At all.</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Works offline after first model download</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The transcription provider can't be subpoenaed for audio that never reached them.</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46"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HPKE — Why We Moved From ECIES</a:t>
            </a:r>
            <a:endParaRPr b="0" lang="en-US" sz="2800" spc="-1" strike="noStrike">
              <a:solidFill>
                <a:srgbClr val="ffffff"/>
              </a:solidFill>
              <a:latin typeface="Arial"/>
            </a:endParaRPr>
          </a:p>
        </p:txBody>
      </p:sp>
      <p:sp>
        <p:nvSpPr>
          <p:cNvPr id="147"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48" name="TextBox 3"/>
          <p:cNvSpPr/>
          <p:nvPr/>
        </p:nvSpPr>
        <p:spPr>
          <a:xfrm>
            <a:off x="548640" y="1005840"/>
            <a:ext cx="11094120" cy="4121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v1: secp256k1 ECIES</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Non-standard curve for key agreement (Nostr-specific)</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Custom construction — no formal proof for this exact combination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Single secret key per user = single point of compromise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 domain separation = cross-protocol attack surface</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Identified in review:</a:t>
            </a:r>
            <a:r>
              <a:rPr b="0" lang="en-US" sz="1600" spc="-1" strike="noStrike">
                <a:solidFill>
                  <a:srgbClr val="cccccc"/>
                </a:solidFill>
                <a:latin typeface="IBM Plex Mono"/>
              </a:rPr>
              <a:t> non-standard, not formally verified</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v2: HPKE (RFC 9180)</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X25519 key agreement (standard, constant-time)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HKDF-SHA256 for KDF (standard)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AES-256-GCM for AEAD (standard)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Formally specified, IETF-maintained, actively audited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Per-device keys + sigchain authorization</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57 domain separation labels</a:t>
            </a:r>
            <a:r>
              <a:rPr b="0" lang="en-US" sz="1600" spc="-1" strike="noStrike">
                <a:solidFill>
                  <a:srgbClr val="cccccc"/>
                </a:solidFill>
                <a:latin typeface="IBM Plex Mono"/>
              </a:rPr>
              <a:t> (Albrecht defense)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49"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57 Domain Separation Labels</a:t>
            </a:r>
            <a:endParaRPr b="0" lang="en-US" sz="2800" spc="-1" strike="noStrike">
              <a:solidFill>
                <a:srgbClr val="ffffff"/>
              </a:solidFill>
              <a:latin typeface="Arial"/>
            </a:endParaRPr>
          </a:p>
        </p:txBody>
      </p:sp>
      <p:sp>
        <p:nvSpPr>
          <p:cNvPr id="150"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51"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Every cryptographic operation has a unique context string.</a:t>
            </a:r>
            <a:endParaRPr b="0" lang="en-US" sz="1600" spc="-1" strike="noStrike">
              <a:solidFill>
                <a:srgbClr val="ffffff"/>
              </a:solidFill>
              <a:latin typeface="Arial"/>
            </a:endParaRPr>
          </a:p>
        </p:txBody>
      </p:sp>
      <p:sp>
        <p:nvSpPr>
          <p:cNvPr id="152" name="Rounded Rectangle 4"/>
          <p:cNvSpPr/>
          <p:nvPr/>
        </p:nvSpPr>
        <p:spPr>
          <a:xfrm>
            <a:off x="548640" y="1005840"/>
            <a:ext cx="11094120" cy="21945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TextBox 5"/>
          <p:cNvSpPr/>
          <p:nvPr/>
        </p:nvSpPr>
        <p:spPr>
          <a:xfrm>
            <a:off x="685800" y="1097280"/>
            <a:ext cx="10819800" cy="2009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 From packages/protocol/crypto-labels.json — source of truth for all platforms</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"llamenos:note-key"          // Per-note key wrapping</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"llamenos:message"           // Per-message envelope encryption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"llamenos:hub-key-wrap"      // Hub key distribution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"llamenos:file-key"          // Per-file symmetric key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"llamenos:device-provision"  // Device linking ECDH</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"llamenos:push-wake"         // Push notification wake key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"llamenos:sas"               // Short authentication string (SAS) HKDF salt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 50 more</a:t>
            </a:r>
            <a:endParaRPr b="0" lang="en-US" sz="1200" spc="-1" strike="noStrike">
              <a:solidFill>
                <a:srgbClr val="ffffff"/>
              </a:solidFill>
              <a:latin typeface="Arial"/>
            </a:endParaRPr>
          </a:p>
        </p:txBody>
      </p:sp>
      <p:sp>
        <p:nvSpPr>
          <p:cNvPr id="154" name="TextBox 6"/>
          <p:cNvSpPr/>
          <p:nvPr/>
        </p:nvSpPr>
        <p:spPr>
          <a:xfrm>
            <a:off x="548640" y="3751200"/>
            <a:ext cx="11094120" cy="8208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1600" spc="-1" strike="noStrike">
                <a:solidFill>
                  <a:srgbClr val="5cc4b0"/>
                </a:solidFill>
                <a:latin typeface="Source Code Pro"/>
              </a:rPr>
              <a:t>Without domain separation: an attacker could craft an input valid as both a message key and a note key, achieving a cross-protocol attack. With 57 distinct labels: each operation is cryptographically isolated.</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55"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Per-Device Keys + User Sigchain</a:t>
            </a:r>
            <a:endParaRPr b="0" lang="en-US" sz="2800" spc="-1" strike="noStrike">
              <a:solidFill>
                <a:srgbClr val="ffffff"/>
              </a:solidFill>
              <a:latin typeface="Arial"/>
            </a:endParaRPr>
          </a:p>
        </p:txBody>
      </p:sp>
      <p:sp>
        <p:nvSpPr>
          <p:cNvPr id="156"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57" name="Rounded Rectangle 3"/>
          <p:cNvSpPr/>
          <p:nvPr/>
        </p:nvSpPr>
        <p:spPr>
          <a:xfrm>
            <a:off x="548640" y="1005840"/>
            <a:ext cx="11094120" cy="31089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 name="TextBox 4"/>
          <p:cNvSpPr/>
          <p:nvPr/>
        </p:nvSpPr>
        <p:spPr>
          <a:xfrm>
            <a:off x="685800" y="1097280"/>
            <a:ext cx="10819800" cy="2832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Old model (v1):</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User has ONE secret key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Same key on every device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Device compromise = full account compromise</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New model (v2):</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User has a sigchain (append-only, hash-chained)</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Each device has its own Ed25519/X25519 keypair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New device linked via ephemeral ECDH provisioning room</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SAS verification prevents MITM on device link</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Sigchain entry: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 devicePubkey, authorizedBy, timestamp, previousHash, sig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Signed by existing authorized device</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59"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Per-Message Envelope Encryption</a:t>
            </a:r>
            <a:endParaRPr b="0" lang="en-US" sz="2800" spc="-1" strike="noStrike">
              <a:solidFill>
                <a:srgbClr val="ffffff"/>
              </a:solidFill>
              <a:latin typeface="Arial"/>
            </a:endParaRPr>
          </a:p>
        </p:txBody>
      </p:sp>
      <p:sp>
        <p:nvSpPr>
          <p:cNvPr id="160"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61"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Same zero-knowledge pattern as notes — for inbound Signal, SMS, WhatsApp messages:</a:t>
            </a:r>
            <a:endParaRPr b="0" lang="en-US" sz="1600" spc="-1" strike="noStrike">
              <a:solidFill>
                <a:srgbClr val="ffffff"/>
              </a:solidFill>
              <a:latin typeface="Arial"/>
            </a:endParaRPr>
          </a:p>
        </p:txBody>
      </p:sp>
      <p:sp>
        <p:nvSpPr>
          <p:cNvPr id="162" name="Rounded Rectangle 4"/>
          <p:cNvSpPr/>
          <p:nvPr/>
        </p:nvSpPr>
        <p:spPr>
          <a:xfrm>
            <a:off x="548640" y="1005840"/>
            <a:ext cx="11094120" cy="28803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 name="TextBox 5"/>
          <p:cNvSpPr/>
          <p:nvPr/>
        </p:nvSpPr>
        <p:spPr>
          <a:xfrm>
            <a:off x="685800" y="1097280"/>
            <a:ext cx="10819800" cy="2467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Inbound message arrives (Signal/SMS/WhatsApp)</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Server generates random symmetric key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Encrypt message with symmetric key  --&gt;  ciphertext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HPKE-wrap key for volunteer + each admin  --&gt;  envelopes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v</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Discard plaintext immediately. Store only ciphertext + envelopes.</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164"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4</a:t>
            </a:r>
            <a:endParaRPr b="0" lang="en-US" sz="1600" spc="-1" strike="noStrike">
              <a:solidFill>
                <a:srgbClr val="ffffff"/>
              </a:solidFill>
              <a:latin typeface="Arial"/>
            </a:endParaRPr>
          </a:p>
        </p:txBody>
      </p:sp>
      <p:sp>
        <p:nvSpPr>
          <p:cNvPr id="165"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What Does a Subpoena Actually Get?</a:t>
            </a:r>
            <a:endParaRPr b="0" lang="en-US" sz="4000" spc="-1" strike="noStrike">
              <a:solidFill>
                <a:srgbClr val="ffffff"/>
              </a:solidFill>
              <a:latin typeface="Arial"/>
            </a:endParaRPr>
          </a:p>
        </p:txBody>
      </p:sp>
      <p:sp>
        <p:nvSpPr>
          <p:cNvPr id="166"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67"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Hosting Provider Subpoena (1984 Hosting, VPS)</a:t>
            </a:r>
            <a:endParaRPr b="0" lang="en-US" sz="2600" spc="-1" strike="noStrike">
              <a:solidFill>
                <a:srgbClr val="ffffff"/>
              </a:solidFill>
              <a:latin typeface="Arial"/>
            </a:endParaRPr>
          </a:p>
        </p:txBody>
      </p:sp>
      <p:sp>
        <p:nvSpPr>
          <p:cNvPr id="168"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69"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What they CAN hand over:</a:t>
            </a:r>
            <a:endParaRPr b="0" lang="en-US" sz="1600" spc="-1" strike="noStrike">
              <a:solidFill>
                <a:srgbClr val="ffffff"/>
              </a:solidFill>
              <a:latin typeface="Arial"/>
            </a:endParaRPr>
          </a:p>
        </p:txBody>
      </p:sp>
      <p:graphicFrame>
        <p:nvGraphicFramePr>
          <p:cNvPr id="170" name="Table 4"/>
          <p:cNvGraphicFramePr/>
          <p:nvPr/>
        </p:nvGraphicFramePr>
        <p:xfrm>
          <a:off x="577800" y="1548360"/>
          <a:ext cx="11094120" cy="1755360"/>
        </p:xfrm>
        <a:graphic>
          <a:graphicData uri="http://schemas.openxmlformats.org/drawingml/2006/table">
            <a:tbl>
              <a:tblPr/>
              <a:tblGrid>
                <a:gridCol w="5546880"/>
                <a:gridCol w="5546880"/>
              </a:tblGrid>
              <a:tr h="292320">
                <a:tc>
                  <a:txBody>
                    <a:bodyPr anchor="t">
                      <a:noAutofit/>
                    </a:bodyPr>
                    <a:p>
                      <a:pPr defTabSz="457200">
                        <a:lnSpc>
                          <a:spcPct val="100000"/>
                        </a:lnSpc>
                      </a:pPr>
                      <a:r>
                        <a:rPr b="1" lang="en-US" sz="1300" spc="-1" strike="noStrike">
                          <a:solidFill>
                            <a:srgbClr val="f0c674"/>
                          </a:solidFill>
                          <a:latin typeface="IBM Plex Mono"/>
                        </a:rPr>
                        <a:t>Data</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2a4a"/>
                    </a:solidFill>
                  </a:tcPr>
                </a:tc>
                <a:tc>
                  <a:txBody>
                    <a:bodyPr anchor="t">
                      <a:noAutofit/>
                    </a:bodyPr>
                    <a:p>
                      <a:pPr defTabSz="457200">
                        <a:lnSpc>
                          <a:spcPct val="100000"/>
                        </a:lnSpc>
                      </a:pPr>
                      <a:r>
                        <a:rPr b="1" lang="en-US" sz="1300" spc="-1" strike="noStrike">
                          <a:solidFill>
                            <a:srgbClr val="f0c674"/>
                          </a:solidFill>
                          <a:latin typeface="IBM Plex Mono"/>
                        </a:rPr>
                        <a:t>What it reveals</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2a4a"/>
                    </a:solidFill>
                  </a:tcPr>
                </a:tc>
              </a:tr>
              <a:tr h="292320">
                <a:tc>
                  <a:txBody>
                    <a:bodyPr anchor="t">
                      <a:noAutofit/>
                    </a:bodyPr>
                    <a:p>
                      <a:pPr defTabSz="457200">
                        <a:lnSpc>
                          <a:spcPct val="100000"/>
                        </a:lnSpc>
                      </a:pPr>
                      <a:r>
                        <a:rPr b="0" lang="en-US" sz="1200" spc="-1" strike="noStrike">
                          <a:solidFill>
                            <a:srgbClr val="cccccc"/>
                          </a:solidFill>
                          <a:latin typeface="IBM Plex Mono"/>
                        </a:rPr>
                        <a:t>Call metadata</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Timestamps, durations, volunteer assignment (pubkey only)</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292320">
                <a:tc>
                  <a:txBody>
                    <a:bodyPr anchor="t">
                      <a:noAutofit/>
                    </a:bodyPr>
                    <a:p>
                      <a:pPr defTabSz="457200">
                        <a:lnSpc>
                          <a:spcPct val="100000"/>
                        </a:lnSpc>
                      </a:pPr>
                      <a:r>
                        <a:rPr b="0" lang="en-US" sz="1200" spc="-1" strike="noStrike">
                          <a:solidFill>
                            <a:srgbClr val="cccccc"/>
                          </a:solidFill>
                          <a:latin typeface="IBM Plex Mono"/>
                        </a:rPr>
                        <a:t>Encrypted database blobs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Ciphertext — useless without volunteer/admin private keys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r h="292320">
                <a:tc>
                  <a:txBody>
                    <a:bodyPr anchor="t">
                      <a:noAutofit/>
                    </a:bodyPr>
                    <a:p>
                      <a:pPr defTabSz="457200">
                        <a:lnSpc>
                          <a:spcPct val="100000"/>
                        </a:lnSpc>
                      </a:pPr>
                      <a:r>
                        <a:rPr b="0" lang="en-US" sz="1200" spc="-1" strike="noStrike">
                          <a:solidFill>
                            <a:srgbClr val="cccccc"/>
                          </a:solidFill>
                          <a:latin typeface="IBM Plex Mono"/>
                        </a:rPr>
                        <a:t>Caller phone hashes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HMAC hashes — irreversible without your HMAC secret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292320">
                <a:tc>
                  <a:txBody>
                    <a:bodyPr anchor="t">
                      <a:noAutofit/>
                    </a:bodyPr>
                    <a:p>
                      <a:pPr defTabSz="457200">
                        <a:lnSpc>
                          <a:spcPct val="100000"/>
                        </a:lnSpc>
                      </a:pPr>
                      <a:r>
                        <a:rPr b="0" lang="en-US" sz="1200" spc="-1" strike="noStrike">
                          <a:solidFill>
                            <a:srgbClr val="cccccc"/>
                          </a:solidFill>
                          <a:latin typeface="IBM Plex Mono"/>
                        </a:rPr>
                        <a:t>Audit logs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Event types + truncated IP hashes, no content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r h="292320">
                <a:tc>
                  <a:txBody>
                    <a:bodyPr anchor="t">
                      <a:noAutofit/>
                    </a:bodyPr>
                    <a:p>
                      <a:pPr defTabSz="457200">
                        <a:lnSpc>
                          <a:spcPct val="100000"/>
                        </a:lnSpc>
                      </a:pPr>
                      <a:r>
                        <a:rPr b="0" lang="en-US" sz="1200" spc="-1" strike="noStrike">
                          <a:solidFill>
                            <a:srgbClr val="cccccc"/>
                          </a:solidFill>
                          <a:latin typeface="IBM Plex Mono"/>
                        </a:rPr>
                        <a:t>Traffic metadata</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Request times, sizes, IP addresses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bl>
          </a:graphicData>
        </a:graphic>
      </p:graphicFrame>
      <p:sp>
        <p:nvSpPr>
          <p:cNvPr id="171" name="TextBox 5"/>
          <p:cNvSpPr/>
          <p:nvPr/>
        </p:nvSpPr>
        <p:spPr>
          <a:xfrm>
            <a:off x="564480" y="3429000"/>
            <a:ext cx="11094120" cy="85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What they CANNOT hand over: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Note content, message content, transcription text, per-note encryption keys (ephemeral, never stored), volunteer private keys (device-side only), your HMAC secret.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72"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Telephony Provider Subpoena (Twilio, Telnyx, etc.)</a:t>
            </a:r>
            <a:endParaRPr b="0" lang="en-US" sz="2600" spc="-1" strike="noStrike">
              <a:solidFill>
                <a:srgbClr val="ffffff"/>
              </a:solidFill>
              <a:latin typeface="Arial"/>
            </a:endParaRPr>
          </a:p>
        </p:txBody>
      </p:sp>
      <p:sp>
        <p:nvSpPr>
          <p:cNvPr id="173"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74"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What they CAN hand over:</a:t>
            </a:r>
            <a:endParaRPr b="0" lang="en-US" sz="1600" spc="-1" strike="noStrike">
              <a:solidFill>
                <a:srgbClr val="ffffff"/>
              </a:solidFill>
              <a:latin typeface="Arial"/>
            </a:endParaRPr>
          </a:p>
        </p:txBody>
      </p:sp>
      <p:graphicFrame>
        <p:nvGraphicFramePr>
          <p:cNvPr id="175" name="Table 4"/>
          <p:cNvGraphicFramePr/>
          <p:nvPr/>
        </p:nvGraphicFramePr>
        <p:xfrm>
          <a:off x="631080" y="1544760"/>
          <a:ext cx="11094120" cy="1626840"/>
        </p:xfrm>
        <a:graphic>
          <a:graphicData uri="http://schemas.openxmlformats.org/drawingml/2006/table">
            <a:tbl>
              <a:tblPr/>
              <a:tblGrid>
                <a:gridCol w="5546880"/>
                <a:gridCol w="5546880"/>
              </a:tblGrid>
              <a:tr h="292320">
                <a:tc>
                  <a:txBody>
                    <a:bodyPr anchor="t">
                      <a:noAutofit/>
                    </a:bodyPr>
                    <a:p>
                      <a:pPr defTabSz="457200">
                        <a:lnSpc>
                          <a:spcPct val="100000"/>
                        </a:lnSpc>
                      </a:pPr>
                      <a:r>
                        <a:rPr b="1" lang="en-US" sz="1300" spc="-1" strike="noStrike">
                          <a:solidFill>
                            <a:srgbClr val="f0c674"/>
                          </a:solidFill>
                          <a:latin typeface="IBM Plex Mono"/>
                        </a:rPr>
                        <a:t>Data</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2a4a"/>
                    </a:solidFill>
                  </a:tcPr>
                </a:tc>
                <a:tc>
                  <a:txBody>
                    <a:bodyPr anchor="t">
                      <a:noAutofit/>
                    </a:bodyPr>
                    <a:p>
                      <a:pPr defTabSz="457200">
                        <a:lnSpc>
                          <a:spcPct val="100000"/>
                        </a:lnSpc>
                      </a:pPr>
                      <a:r>
                        <a:rPr b="1" lang="en-US" sz="1300" spc="-1" strike="noStrike">
                          <a:solidFill>
                            <a:srgbClr val="f0c674"/>
                          </a:solidFill>
                          <a:latin typeface="IBM Plex Mono"/>
                        </a:rPr>
                        <a:t>If you use...</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2a4a"/>
                    </a:solidFill>
                  </a:tcPr>
                </a:tc>
              </a:tr>
              <a:tr h="292320">
                <a:tc>
                  <a:txBody>
                    <a:bodyPr anchor="t">
                      <a:noAutofit/>
                    </a:bodyPr>
                    <a:p>
                      <a:pPr defTabSz="457200">
                        <a:lnSpc>
                          <a:spcPct val="100000"/>
                        </a:lnSpc>
                      </a:pPr>
                      <a:r>
                        <a:rPr b="0" lang="en-US" sz="1200" spc="-1" strike="noStrike">
                          <a:solidFill>
                            <a:srgbClr val="cccccc"/>
                          </a:solidFill>
                          <a:latin typeface="IBM Plex Mono"/>
                        </a:rPr>
                        <a:t>Call detail records (caller ID, times, duration)</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All providers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292320">
                <a:tc>
                  <a:txBody>
                    <a:bodyPr anchor="t">
                      <a:noAutofit/>
                    </a:bodyPr>
                    <a:p>
                      <a:pPr defTabSz="457200">
                        <a:lnSpc>
                          <a:spcPct val="100000"/>
                        </a:lnSpc>
                      </a:pPr>
                      <a:r>
                        <a:rPr b="0" lang="en-US" sz="1200" spc="-1" strike="noStrike">
                          <a:solidFill>
                            <a:srgbClr val="cccccc"/>
                          </a:solidFill>
                          <a:latin typeface="IBM Plex Mono"/>
                        </a:rPr>
                        <a:t>Call recordings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Only if recording is enabled — **Llámenos does NOT enable recording by default**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r h="292320">
                <a:tc>
                  <a:txBody>
                    <a:bodyPr anchor="t">
                      <a:noAutofit/>
                    </a:bodyPr>
                    <a:p>
                      <a:pPr defTabSz="457200">
                        <a:lnSpc>
                          <a:spcPct val="100000"/>
                        </a:lnSpc>
                      </a:pPr>
                      <a:r>
                        <a:rPr b="0" lang="en-US" sz="1200" spc="-1" strike="noStrike">
                          <a:solidFill>
                            <a:srgbClr val="cccccc"/>
                          </a:solidFill>
                          <a:latin typeface="IBM Plex Mono"/>
                        </a:rPr>
                        <a:t>SMS message content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Twilio, SignalWire SMS (passes through in plaintext)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292320">
                <a:tc>
                  <a:txBody>
                    <a:bodyPr anchor="t">
                      <a:noAutofit/>
                    </a:bodyPr>
                    <a:p>
                      <a:pPr defTabSz="457200">
                        <a:lnSpc>
                          <a:spcPct val="100000"/>
                        </a:lnSpc>
                      </a:pPr>
                      <a:r>
                        <a:rPr b="0" lang="en-US" sz="1200" spc="-1" strike="noStrike">
                          <a:solidFill>
                            <a:srgbClr val="cccccc"/>
                          </a:solidFill>
                          <a:latin typeface="IBM Plex Mono"/>
                        </a:rPr>
                        <a:t>WhatsApp content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Via Meta Business API</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bl>
          </a:graphicData>
        </a:graphic>
      </p:graphicFrame>
      <p:sp>
        <p:nvSpPr>
          <p:cNvPr id="176" name="TextBox 5"/>
          <p:cNvSpPr/>
          <p:nvPr/>
        </p:nvSpPr>
        <p:spPr>
          <a:xfrm>
            <a:off x="548640" y="3657600"/>
            <a:ext cx="11094120" cy="1473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What they CANNOT hand over: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Call notes (never sent to telephony provider), volunteer identities beyond routing phone numbers (with CDR-free trunk), any E2EE content.</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With CDR-free SIP trunking: the telephony provider has routing records only — no call content, no volunteer phone numbers in their system.</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77"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Device Seizure</a:t>
            </a:r>
            <a:endParaRPr b="0" lang="en-US" sz="2800" spc="-1" strike="noStrike">
              <a:solidFill>
                <a:srgbClr val="ffffff"/>
              </a:solidFill>
              <a:latin typeface="Arial"/>
            </a:endParaRPr>
          </a:p>
        </p:txBody>
      </p:sp>
      <p:sp>
        <p:nvSpPr>
          <p:cNvPr id="178"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79" name="TextBox 3"/>
          <p:cNvSpPr/>
          <p:nvPr/>
        </p:nvSpPr>
        <p:spPr>
          <a:xfrm>
            <a:off x="548640" y="1005840"/>
            <a:ext cx="11094120" cy="406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Without volunteer's PIN: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Encrypted key blob in localStorage (requires PIN brute-force)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600,000 PBKDF2 iterations + 6-8 digit PIN = estimated hours to days on GPU hardware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Session tokens may still be valid if device was recently used (8-hour TTL — admin can revoke)</a:t>
            </a:r>
            <a:endParaRPr b="0" lang="en-US" sz="1600" spc="-1" strike="noStrike">
              <a:solidFill>
                <a:srgbClr val="ffffff"/>
              </a:solidFill>
              <a:latin typeface="Arial"/>
            </a:endParaRPr>
          </a:p>
          <a:p>
            <a:pPr defTabSz="457200">
              <a:lnSpc>
                <a:spcPct val="100000"/>
              </a:lnSpc>
              <a:spcBef>
                <a:spcPts val="601"/>
              </a:spcBef>
              <a:spcAft>
                <a:spcPts val="201"/>
              </a:spcAft>
            </a:pPr>
            <a:r>
              <a:rPr b="1" lang="en-US" sz="1400" spc="-1" strike="noStrike">
                <a:solidFill>
                  <a:srgbClr val="f0f0f0"/>
                </a:solidFill>
                <a:latin typeface="IBM Plex Mono"/>
              </a:rPr>
              <a:t>With PIN (or successful brute-force):</a:t>
            </a:r>
            <a:endParaRPr b="0" lang="en-US" sz="14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Access to that volunteer's notes only — not other volunteers' notes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Per-note forward secrecy: compromising identity key doesn't reveal notes without also getting per-note envelopes</a:t>
            </a:r>
            <a:endParaRPr b="0" lang="en-US" sz="1600" spc="-1" strike="noStrike">
              <a:solidFill>
                <a:srgbClr val="ffffff"/>
              </a:solidFill>
              <a:latin typeface="Arial"/>
            </a:endParaRPr>
          </a:p>
          <a:p>
            <a:pPr defTabSz="457200">
              <a:lnSpc>
                <a:spcPct val="100000"/>
              </a:lnSpc>
              <a:spcBef>
                <a:spcPts val="601"/>
              </a:spcBef>
              <a:spcAft>
                <a:spcPts val="201"/>
              </a:spcAft>
            </a:pPr>
            <a:r>
              <a:rPr b="1" lang="en-US" sz="1400" spc="-1" strike="noStrike">
                <a:solidFill>
                  <a:srgbClr val="f0f0f0"/>
                </a:solidFill>
                <a:latin typeface="IBM Plex Mono"/>
              </a:rPr>
              <a:t>Admin device seized:</a:t>
            </a:r>
            <a:endParaRPr b="0" lang="en-US" sz="14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If admin device key obtained: attacker can decrypt ALL notes (admin envelope on every note)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Admin key separation: identity key vs. decryption key are separate keypairs — compromising auth doesn't auto-expose notes</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80"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The Honest Limitations: What We Do NOT Claim</a:t>
            </a:r>
            <a:endParaRPr b="0" lang="en-US" sz="2600" spc="-1" strike="noStrike">
              <a:solidFill>
                <a:srgbClr val="ffffff"/>
              </a:solidFill>
              <a:latin typeface="Arial"/>
            </a:endParaRPr>
          </a:p>
        </p:txBody>
      </p:sp>
      <p:sp>
        <p:nvSpPr>
          <p:cNvPr id="181"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82" name="TextBox 3"/>
          <p:cNvSpPr/>
          <p:nvPr/>
        </p:nvSpPr>
        <p:spPr>
          <a:xfrm>
            <a:off x="548640" y="1005840"/>
            <a:ext cx="11094120" cy="3370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Traffic analysis resistance</a:t>
            </a:r>
            <a:r>
              <a:rPr b="0" lang="en-US" sz="1600" spc="-1" strike="noStrike">
                <a:solidFill>
                  <a:srgbClr val="cccccc"/>
                </a:solidFill>
                <a:latin typeface="IBM Plex Mono"/>
              </a:rPr>
              <a:t>: No padding, no dummy traffic. A watcher can see call timing patterns.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SMS/WhatsApp transport E2EE</a:t>
            </a:r>
            <a:r>
              <a:rPr b="0" lang="en-US" sz="1600" spc="-1" strike="noStrike">
                <a:solidFill>
                  <a:srgbClr val="cccccc"/>
                </a:solidFill>
                <a:latin typeface="IBM Plex Mono"/>
              </a:rPr>
              <a:t>: These channels require provider-side plaintext in transit. We E2EE at rest; the provider sees it in transit.</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PIN brute-force resistance (offline)</a:t>
            </a:r>
            <a:r>
              <a:rPr b="0" lang="en-US" sz="1600" spc="-1" strike="noStrike">
                <a:solidFill>
                  <a:srgbClr val="cccccc"/>
                </a:solidFill>
                <a:latin typeface="IBM Plex Mono"/>
              </a:rPr>
              <a:t>: 6-8 digits is ~27 bits of entropy. A seized encrypted blob + a GPU = brute-forceable in days to weeks.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Metadata confidentiality</a:t>
            </a:r>
            <a:r>
              <a:rPr b="0" lang="en-US" sz="1600" spc="-1" strike="noStrike">
                <a:solidFill>
                  <a:srgbClr val="cccccc"/>
                </a:solidFill>
                <a:latin typeface="IBM Plex Mono"/>
              </a:rPr>
              <a:t>: The server needs timestamps and routing data to function.</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Hosting provider coercion</a:t>
            </a:r>
            <a:r>
              <a:rPr b="0" lang="en-US" sz="1600" spc="-1" strike="noStrike">
                <a:solidFill>
                  <a:srgbClr val="cccccc"/>
                </a:solidFill>
                <a:latin typeface="IBM Plex Mono"/>
              </a:rPr>
              <a:t>: If your hosting provider is physically compelled to image your disk — Debian FDE with dropbear remote unlock means they get ciphertext. 1984 Hosting (Iceland) is outside CLOUD Act jurisdiction.</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We're solving for the full adversary spectrum: from administrative subpoenas to nation-states with NSLs and physical access to infrastructure.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183"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5</a:t>
            </a:r>
            <a:endParaRPr b="0" lang="en-US" sz="1600" spc="-1" strike="noStrike">
              <a:solidFill>
                <a:srgbClr val="ffffff"/>
              </a:solidFill>
              <a:latin typeface="Arial"/>
            </a:endParaRPr>
          </a:p>
        </p:txBody>
      </p:sp>
      <p:sp>
        <p:nvSpPr>
          <p:cNvPr id="184"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Signal Channels</a:t>
            </a:r>
            <a:endParaRPr b="0" lang="en-US" sz="4000" spc="-1" strike="noStrike">
              <a:solidFill>
                <a:srgbClr val="ffffff"/>
              </a:solidFill>
              <a:latin typeface="Arial"/>
            </a:endParaRPr>
          </a:p>
        </p:txBody>
      </p:sp>
      <p:sp>
        <p:nvSpPr>
          <p:cNvPr id="185"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86"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Why We Added Signal as a Channel</a:t>
            </a:r>
            <a:endParaRPr b="0" lang="en-US" sz="2800" spc="-1" strike="noStrike">
              <a:solidFill>
                <a:srgbClr val="ffffff"/>
              </a:solidFill>
              <a:latin typeface="Arial"/>
            </a:endParaRPr>
          </a:p>
        </p:txBody>
      </p:sp>
      <p:sp>
        <p:nvSpPr>
          <p:cNvPr id="187"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88" name="TextBox 3"/>
          <p:cNvSpPr/>
          <p:nvPr/>
        </p:nvSpPr>
        <p:spPr>
          <a:xfrm>
            <a:off x="548640" y="1005840"/>
            <a:ext cx="11094120" cy="3126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Signal is already where your people are:</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Legal observers in the field</a:t>
            </a:r>
            <a:r>
              <a:rPr b="0" lang="en-US" sz="1600" spc="-1" strike="noStrike">
                <a:solidFill>
                  <a:srgbClr val="cccccc"/>
                </a:solidFill>
                <a:latin typeface="IBM Plex Mono"/>
              </a:rPr>
              <a:t> can't install a custom app mid-protest. They have Signal.</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Jail support families</a:t>
            </a:r>
            <a:r>
              <a:rPr b="0" lang="en-US" sz="1600" spc="-1" strike="noStrike">
                <a:solidFill>
                  <a:srgbClr val="cccccc"/>
                </a:solidFill>
                <a:latin typeface="IBM Plex Mono"/>
              </a:rPr>
              <a:t> sending updates about arraignment times use what's on their phone.</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Rapid responders</a:t>
            </a:r>
            <a:r>
              <a:rPr b="0" lang="en-US" sz="1600" spc="-1" strike="noStrike">
                <a:solidFill>
                  <a:srgbClr val="cccccc"/>
                </a:solidFill>
                <a:latin typeface="IBM Plex Mono"/>
              </a:rPr>
              <a:t> on the ground need to file reports fast — Signal is the fastest secure channel.</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Callers who can't use the hotline number</a:t>
            </a:r>
            <a:r>
              <a:rPr b="0" lang="en-US" sz="1600" spc="-1" strike="noStrike">
                <a:solidFill>
                  <a:srgbClr val="cccccc"/>
                </a:solidFill>
                <a:latin typeface="IBM Plex Mono"/>
              </a:rPr>
              <a:t> can reach you via Signal with better privacy.</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The goal: one secure inbox. Voice calls, Signal, SMS, WhatsApp — all end up encrypted in the same place, behind the same zero-knowledge design.</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89"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Field Use Cases for Signal</a:t>
            </a:r>
            <a:endParaRPr b="0" lang="en-US" sz="2800" spc="-1" strike="noStrike">
              <a:solidFill>
                <a:srgbClr val="ffffff"/>
              </a:solidFill>
              <a:latin typeface="Arial"/>
            </a:endParaRPr>
          </a:p>
        </p:txBody>
      </p:sp>
      <p:sp>
        <p:nvSpPr>
          <p:cNvPr id="190"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191" name="Table 3"/>
          <p:cNvGraphicFramePr/>
          <p:nvPr/>
        </p:nvGraphicFramePr>
        <p:xfrm>
          <a:off x="548640" y="1005840"/>
          <a:ext cx="11093400" cy="2541600"/>
        </p:xfrm>
        <a:graphic>
          <a:graphicData uri="http://schemas.openxmlformats.org/drawingml/2006/table">
            <a:tbl>
              <a:tblPr/>
              <a:tblGrid>
                <a:gridCol w="5546880"/>
                <a:gridCol w="5546880"/>
              </a:tblGrid>
              <a:tr h="306720">
                <a:tc>
                  <a:txBody>
                    <a:bodyPr anchor="t">
                      <a:noAutofit/>
                    </a:bodyPr>
                    <a:p>
                      <a:pPr defTabSz="457200">
                        <a:lnSpc>
                          <a:spcPct val="100000"/>
                        </a:lnSpc>
                      </a:pPr>
                      <a:r>
                        <a:rPr b="1" lang="en-US" sz="1300" spc="-1" strike="noStrike">
                          <a:solidFill>
                            <a:srgbClr val="f0c674"/>
                          </a:solidFill>
                          <a:latin typeface="IBM Plex Mono"/>
                        </a:rPr>
                        <a:t>Scenario</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2a4a"/>
                    </a:solidFill>
                  </a:tcPr>
                </a:tc>
                <a:tc>
                  <a:txBody>
                    <a:bodyPr anchor="t">
                      <a:noAutofit/>
                    </a:bodyPr>
                    <a:p>
                      <a:pPr defTabSz="457200">
                        <a:lnSpc>
                          <a:spcPct val="100000"/>
                        </a:lnSpc>
                      </a:pPr>
                      <a:r>
                        <a:rPr b="1" lang="en-US" sz="1300" spc="-1" strike="noStrike">
                          <a:solidFill>
                            <a:srgbClr val="f0c674"/>
                          </a:solidFill>
                          <a:latin typeface="IBM Plex Mono"/>
                        </a:rPr>
                        <a:t>Signal channel enables</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2a4a"/>
                    </a:solidFill>
                  </a:tcPr>
                </a:tc>
              </a:tr>
              <a:tr h="491400">
                <a:tc>
                  <a:txBody>
                    <a:bodyPr anchor="t">
                      <a:noAutofit/>
                    </a:bodyPr>
                    <a:p>
                      <a:pPr defTabSz="457200">
                        <a:lnSpc>
                          <a:spcPct val="100000"/>
                        </a:lnSpc>
                      </a:pPr>
                      <a:r>
                        <a:rPr b="0" lang="en-US" sz="1200" spc="-1" strike="noStrike">
                          <a:solidFill>
                            <a:srgbClr val="cccccc"/>
                          </a:solidFill>
                          <a:latin typeface="IBM Plex Mono"/>
                        </a:rPr>
                        <a:t>Observer at protest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Files rapid arrest report via Signal → encrypts in case management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291600">
                <a:tc>
                  <a:txBody>
                    <a:bodyPr anchor="t">
                      <a:noAutofit/>
                    </a:bodyPr>
                    <a:p>
                      <a:pPr defTabSz="457200">
                        <a:lnSpc>
                          <a:spcPct val="100000"/>
                        </a:lnSpc>
                      </a:pPr>
                      <a:r>
                        <a:rPr b="0" lang="en-US" sz="1200" spc="-1" strike="noStrike">
                          <a:solidFill>
                            <a:srgbClr val="cccccc"/>
                          </a:solidFill>
                          <a:latin typeface="IBM Plex Mono"/>
                        </a:rPr>
                        <a:t>Jail support coordinator</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Sends arraignment update blast to all registered contacts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r h="491400">
                <a:tc>
                  <a:txBody>
                    <a:bodyPr anchor="t">
                      <a:noAutofit/>
                    </a:bodyPr>
                    <a:p>
                      <a:pPr defTabSz="457200">
                        <a:lnSpc>
                          <a:spcPct val="100000"/>
                        </a:lnSpc>
                      </a:pPr>
                      <a:r>
                        <a:rPr b="0" lang="en-US" sz="1200" spc="-1" strike="noStrike">
                          <a:solidFill>
                            <a:srgbClr val="cccccc"/>
                          </a:solidFill>
                          <a:latin typeface="IBM Plex Mono"/>
                        </a:rPr>
                        <a:t>Organizer filing incident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Sends evidence description via Signal → linked to incident record</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291600">
                <a:tc>
                  <a:txBody>
                    <a:bodyPr anchor="t">
                      <a:noAutofit/>
                    </a:bodyPr>
                    <a:p>
                      <a:pPr defTabSz="457200">
                        <a:lnSpc>
                          <a:spcPct val="100000"/>
                        </a:lnSpc>
                      </a:pPr>
                      <a:r>
                        <a:rPr b="0" lang="en-US" sz="1200" spc="-1" strike="noStrike">
                          <a:solidFill>
                            <a:srgbClr val="cccccc"/>
                          </a:solidFill>
                          <a:latin typeface="IBM Plex Mono"/>
                        </a:rPr>
                        <a:t>Admin notifying volunteers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Sends schedule change to all Signal-registered volunteers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r h="291600">
                <a:tc>
                  <a:txBody>
                    <a:bodyPr anchor="t">
                      <a:noAutofit/>
                    </a:bodyPr>
                    <a:p>
                      <a:pPr defTabSz="457200">
                        <a:lnSpc>
                          <a:spcPct val="100000"/>
                        </a:lnSpc>
                      </a:pPr>
                      <a:r>
                        <a:rPr b="0" lang="en-US" sz="1200" spc="-1" strike="noStrike">
                          <a:solidFill>
                            <a:srgbClr val="cccccc"/>
                          </a:solidFill>
                          <a:latin typeface="IBM Plex Mono"/>
                        </a:rPr>
                        <a:t>Field medic coordinating</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c>
                  <a:txBody>
                    <a:bodyPr anchor="t">
                      <a:noAutofit/>
                    </a:bodyPr>
                    <a:p>
                      <a:pPr defTabSz="457200">
                        <a:lnSpc>
                          <a:spcPct val="100000"/>
                        </a:lnSpc>
                      </a:pPr>
                      <a:r>
                        <a:rPr b="0" lang="en-US" sz="1200" spc="-1" strike="noStrike">
                          <a:solidFill>
                            <a:srgbClr val="cccccc"/>
                          </a:solidFill>
                          <a:latin typeface="IBM Plex Mono"/>
                        </a:rPr>
                        <a:t>Reports injuries without naming anyone in cleartext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1e38"/>
                    </a:solidFill>
                  </a:tcPr>
                </a:tc>
              </a:tr>
              <a:tr h="491400">
                <a:tc>
                  <a:txBody>
                    <a:bodyPr anchor="t">
                      <a:noAutofit/>
                    </a:bodyPr>
                    <a:p>
                      <a:pPr defTabSz="457200">
                        <a:lnSpc>
                          <a:spcPct val="100000"/>
                        </a:lnSpc>
                      </a:pPr>
                      <a:r>
                        <a:rPr b="0" lang="en-US" sz="1200" spc="-1" strike="noStrike">
                          <a:solidFill>
                            <a:srgbClr val="cccccc"/>
                          </a:solidFill>
                          <a:latin typeface="IBM Plex Mono"/>
                        </a:rPr>
                        <a:t>Legal team</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c>
                  <a:txBody>
                    <a:bodyPr anchor="t">
                      <a:noAutofit/>
                    </a:bodyPr>
                    <a:p>
                      <a:pPr defTabSz="457200">
                        <a:lnSpc>
                          <a:spcPct val="100000"/>
                        </a:lnSpc>
                      </a:pPr>
                      <a:r>
                        <a:rPr b="0" lang="en-US" sz="1200" spc="-1" strike="noStrike">
                          <a:solidFill>
                            <a:srgbClr val="cccccc"/>
                          </a:solidFill>
                          <a:latin typeface="IBM Plex Mono"/>
                        </a:rPr>
                        <a:t>Receives encrypted case notes from Signal channel without being in the app</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42442"/>
                    </a:solid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92" name="TextBox 1"/>
          <p:cNvSpPr/>
          <p:nvPr/>
        </p:nvSpPr>
        <p:spPr>
          <a:xfrm>
            <a:off x="548640" y="228600"/>
            <a:ext cx="1109412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400" spc="-1" strike="noStrike">
                <a:solidFill>
                  <a:srgbClr val="f0f0f0"/>
                </a:solidFill>
                <a:latin typeface="JetBrains Mono"/>
              </a:rPr>
              <a:t>The Signal Sidecar: Zero-Knowledge Contact Resolution</a:t>
            </a:r>
            <a:endParaRPr b="0" lang="en-US" sz="2400" spc="-1" strike="noStrike">
              <a:solidFill>
                <a:srgbClr val="ffffff"/>
              </a:solidFill>
              <a:latin typeface="Arial"/>
            </a:endParaRPr>
          </a:p>
        </p:txBody>
      </p:sp>
      <p:sp>
        <p:nvSpPr>
          <p:cNvPr id="193"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94" name="Rounded Rectangle 3"/>
          <p:cNvSpPr/>
          <p:nvPr/>
        </p:nvSpPr>
        <p:spPr>
          <a:xfrm>
            <a:off x="548640" y="1005840"/>
            <a:ext cx="11094120" cy="40233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 name="TextBox 4"/>
          <p:cNvSpPr/>
          <p:nvPr/>
        </p:nvSpPr>
        <p:spPr>
          <a:xfrm>
            <a:off x="685800" y="1097280"/>
            <a:ext cx="10819800" cy="356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signal-notifier/ (port 3100)</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Problem: To send Signal notifications, you need phone numbers.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But we don't store phone numbers in plaintext.</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Solution: HMAC-hashed contact resolution</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Registration: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User registers their phone number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Server stores: HMAC_SHA256("llamenos:phone:" + E.164_number)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Plaintext number discarded immediately</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Resolution: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Sidecar receives HMAC hash from app</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Looks up Signal registration by hash</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Sends notification to Signal number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App never sees the phone number in plaintext</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96"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Signal Channel Features</a:t>
            </a:r>
            <a:endParaRPr b="0" lang="en-US" sz="2800" spc="-1" strike="noStrike">
              <a:solidFill>
                <a:srgbClr val="ffffff"/>
              </a:solidFill>
              <a:latin typeface="Arial"/>
            </a:endParaRPr>
          </a:p>
        </p:txBody>
      </p:sp>
      <p:sp>
        <p:nvSpPr>
          <p:cNvPr id="197"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98" name="TextBox 3"/>
          <p:cNvSpPr/>
          <p:nvPr/>
        </p:nvSpPr>
        <p:spPr>
          <a:xfrm>
            <a:off x="548640" y="1005840"/>
            <a:ext cx="11094120" cy="4429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Inbound</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Messages from Signal arrive at sidecar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Sidecar forwards to app via webhook</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App encrypts immediately using per-message envelope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Read receipts sent back via sidecar</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Typing indicators supported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Identity key trust verification (safety number changes held pending review)</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Outbound: Blast / Broadcast</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Jail support update: "17 people arraigned, bail 9am"</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Rapid response alert: "Police moving on south side"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Schedule change: "Tonight's shift has coverage"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PostgreSQL-backed delivery queue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Per-channel rate limiting (Signal: 1 msg/sec per recipient)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Retry with exponential backoff</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99"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Why Not Just Signal For Everything?</a:t>
            </a:r>
            <a:endParaRPr b="0" lang="en-US" sz="2800" spc="-1" strike="noStrike">
              <a:solidFill>
                <a:srgbClr val="ffffff"/>
              </a:solidFill>
              <a:latin typeface="Arial"/>
            </a:endParaRPr>
          </a:p>
        </p:txBody>
      </p:sp>
      <p:sp>
        <p:nvSpPr>
          <p:cNvPr id="200"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01" name="TextBox 3"/>
          <p:cNvSpPr/>
          <p:nvPr/>
        </p:nvSpPr>
        <p:spPr>
          <a:xfrm>
            <a:off x="548640" y="1005840"/>
            <a:ext cx="11094120" cy="2703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Signal is always preferable when everyone has it. But not everyone does.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Someone calling from jail can't install Signal — they have a payphone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In an emergency, people call a phone number — they don't download an app first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Some phones can't fit additional apps — cheap prepaid burners, older devices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 family member checking if someone was released — that's public information, SMS is fine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Different situations have different threat models — not everything needs maximum security</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Don't exclude people from support because they don't have the right app installed.</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2" name="TextBox 1"/>
          <p:cNvSpPr/>
          <p:nvPr/>
        </p:nvSpPr>
        <p:spPr>
          <a:xfrm>
            <a:off x="548640" y="228600"/>
            <a:ext cx="1109412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400" spc="-1" strike="noStrike">
                <a:solidFill>
                  <a:srgbClr val="f0f0f0"/>
                </a:solidFill>
                <a:latin typeface="JetBrains Mono"/>
              </a:rPr>
              <a:t>Signal IS Our Preferred Channel — Here's How We Use It</a:t>
            </a:r>
            <a:endParaRPr b="0" lang="en-US" sz="2400" spc="-1" strike="noStrike">
              <a:solidFill>
                <a:srgbClr val="ffffff"/>
              </a:solidFill>
              <a:latin typeface="Arial"/>
            </a:endParaRPr>
          </a:p>
        </p:txBody>
      </p:sp>
      <p:sp>
        <p:nvSpPr>
          <p:cNvPr id="203"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04" name="TextBox 3"/>
          <p:cNvSpPr/>
          <p:nvPr/>
        </p:nvSpPr>
        <p:spPr>
          <a:xfrm>
            <a:off x="548640" y="1512720"/>
            <a:ext cx="11094120" cy="2830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Account invites</a:t>
            </a:r>
            <a:r>
              <a:rPr b="0" lang="en-US" sz="1600" spc="-1" strike="noStrike">
                <a:solidFill>
                  <a:srgbClr val="cccccc"/>
                </a:solidFill>
                <a:latin typeface="IBM Plex Mono"/>
              </a:rPr>
              <a:t> go via Signal (not email — no metadata trail)</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Notifications</a:t>
            </a:r>
            <a:r>
              <a:rPr b="0" lang="en-US" sz="1600" spc="-1" strike="noStrike">
                <a:solidFill>
                  <a:srgbClr val="cccccc"/>
                </a:solidFill>
                <a:latin typeface="IBM Plex Mono"/>
              </a:rPr>
              <a:t> route through Signal by default (push via zero-knowledge sidecar)</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Field reporting</a:t>
            </a:r>
            <a:r>
              <a:rPr b="0" lang="en-US" sz="1600" spc="-1" strike="noStrike">
                <a:solidFill>
                  <a:srgbClr val="cccccc"/>
                </a:solidFill>
                <a:latin typeface="IBM Plex Mono"/>
              </a:rPr>
              <a:t> — legal observers text the hub directly from Signal</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Blast alerts</a:t>
            </a:r>
            <a:r>
              <a:rPr b="0" lang="en-US" sz="1600" spc="-1" strike="noStrike">
                <a:solidFill>
                  <a:srgbClr val="cccccc"/>
                </a:solidFill>
                <a:latin typeface="IBM Plex Mono"/>
              </a:rPr>
              <a:t> — jail support updates, rapid response coordination</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Password/PIN reset</a:t>
            </a:r>
            <a:r>
              <a:rPr b="0" lang="en-US" sz="1600" spc="-1" strike="noStrike">
                <a:solidFill>
                  <a:srgbClr val="cccccc"/>
                </a:solidFill>
                <a:latin typeface="IBM Plex Mono"/>
              </a:rPr>
              <a:t> flows use Signal, never email</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Receipts, reactions, typing indicators</a:t>
            </a:r>
            <a:r>
              <a:rPr b="0" lang="en-US" sz="1600" spc="-1" strike="noStrike">
                <a:solidFill>
                  <a:srgbClr val="cccccc"/>
                </a:solidFill>
                <a:latin typeface="IBM Plex Mono"/>
              </a:rPr>
              <a:t> — full Signal UX, not just text</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Email is a surveillance channel. We route account operations through Signal instead.</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205"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6</a:t>
            </a:r>
            <a:endParaRPr b="0" lang="en-US" sz="1600" spc="-1" strike="noStrike">
              <a:solidFill>
                <a:srgbClr val="ffffff"/>
              </a:solidFill>
              <a:latin typeface="Arial"/>
            </a:endParaRPr>
          </a:p>
        </p:txBody>
      </p:sp>
      <p:sp>
        <p:nvSpPr>
          <p:cNvPr id="206"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What Changed in v2</a:t>
            </a:r>
            <a:endParaRPr b="0" lang="en-US" sz="4000" spc="-1" strike="noStrike">
              <a:solidFill>
                <a:srgbClr val="ffffff"/>
              </a:solidFill>
              <a:latin typeface="Arial"/>
            </a:endParaRPr>
          </a:p>
        </p:txBody>
      </p:sp>
      <p:sp>
        <p:nvSpPr>
          <p:cNvPr id="207"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8"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What the Review Found</a:t>
            </a:r>
            <a:endParaRPr b="0" lang="en-US" sz="2800" spc="-1" strike="noStrike">
              <a:solidFill>
                <a:srgbClr val="ffffff"/>
              </a:solidFill>
              <a:latin typeface="Arial"/>
            </a:endParaRPr>
          </a:p>
        </p:txBody>
      </p:sp>
      <p:sp>
        <p:nvSpPr>
          <p:cNvPr id="209"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10" name="TextBox 3"/>
          <p:cNvSpPr/>
          <p:nvPr/>
        </p:nvSpPr>
        <p:spPr>
          <a:xfrm>
            <a:off x="548640" y="1201680"/>
            <a:ext cx="11094120" cy="3370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A Signal protocol cryptographer reviewed v1. Key findings:</a:t>
            </a:r>
            <a:endParaRPr b="0" lang="en-US" sz="1600" spc="-1" strike="noStrike">
              <a:solidFill>
                <a:srgbClr val="ffffff"/>
              </a:solidFill>
              <a:latin typeface="Arial"/>
            </a:endParaRPr>
          </a:p>
          <a:p>
            <a:pPr defTabSz="457200">
              <a:lnSpc>
                <a:spcPct val="100000"/>
              </a:lnSpc>
            </a:pP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1.  </a:t>
            </a:r>
            <a:r>
              <a:rPr b="1" lang="en-US" sz="1600" spc="-1" strike="noStrike">
                <a:solidFill>
                  <a:srgbClr val="f0f0f0"/>
                </a:solidFill>
                <a:latin typeface="JetBrains Mono"/>
              </a:rPr>
              <a:t>secp256k1 ECIES was non-standard</a:t>
            </a:r>
            <a:r>
              <a:rPr b="0" lang="en-US" sz="1600" spc="-1" strike="noStrike">
                <a:solidFill>
                  <a:srgbClr val="999999"/>
                </a:solidFill>
                <a:latin typeface="IBM Plex Mono"/>
              </a:rPr>
              <a:t> — custom construction, no formal proof for this exact combination</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2.  </a:t>
            </a:r>
            <a:r>
              <a:rPr b="1" lang="en-US" sz="1600" spc="-1" strike="noStrike">
                <a:solidFill>
                  <a:srgbClr val="f0f0f0"/>
                </a:solidFill>
                <a:latin typeface="JetBrains Mono"/>
              </a:rPr>
              <a:t>Single secret key per user</a:t>
            </a:r>
            <a:r>
              <a:rPr b="0" lang="en-US" sz="1600" spc="-1" strike="noStrike">
                <a:solidFill>
                  <a:srgbClr val="999999"/>
                </a:solidFill>
                <a:latin typeface="IBM Plex Mono"/>
              </a:rPr>
              <a:t> — one private key per person, on multiple devices. Device compromise = all notes compromised.</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3.  </a:t>
            </a:r>
            <a:r>
              <a:rPr b="1" lang="en-US" sz="1600" spc="-1" strike="noStrike">
                <a:solidFill>
                  <a:srgbClr val="f0f0f0"/>
                </a:solidFill>
                <a:latin typeface="JetBrains Mono"/>
              </a:rPr>
              <a:t>No domain separation</a:t>
            </a:r>
            <a:r>
              <a:rPr b="0" lang="en-US" sz="1600" spc="-1" strike="noStrike">
                <a:solidFill>
                  <a:srgbClr val="999999"/>
                </a:solidFill>
                <a:latin typeface="IBM Plex Mono"/>
              </a:rPr>
              <a:t> — same HKDF inputs across different operations → cross-protocol attack surface</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4.  </a:t>
            </a:r>
            <a:r>
              <a:rPr b="1" lang="en-US" sz="1600" spc="-1" strike="noStrike">
                <a:solidFill>
                  <a:srgbClr val="f0f0f0"/>
                </a:solidFill>
                <a:latin typeface="JetBrains Mono"/>
              </a:rPr>
              <a:t>No per-note forward secrecy</a:t>
            </a:r>
            <a:r>
              <a:rPr b="0" lang="en-US" sz="1600" spc="-1" strike="noStrike">
                <a:solidFill>
                  <a:srgbClr val="999999"/>
                </a:solidFill>
                <a:latin typeface="IBM Plex Mono"/>
              </a:rPr>
              <a:t> — one content key wrapped per user, not per note → historical notes exposed by key compromise</a:t>
            </a:r>
            <a:endParaRPr b="0" lang="en-US" sz="1600" spc="-1" strike="noStrike">
              <a:solidFill>
                <a:srgbClr val="ffffff"/>
              </a:solidFill>
              <a:latin typeface="Arial"/>
            </a:endParaRPr>
          </a:p>
          <a:p>
            <a:pPr defTabSz="457200">
              <a:lnSpc>
                <a:spcPct val="100000"/>
              </a:lnSpc>
              <a:spcBef>
                <a:spcPts val="400"/>
              </a:spcBef>
              <a:spcAft>
                <a:spcPts val="201"/>
              </a:spcAft>
            </a:pPr>
            <a:r>
              <a:rPr b="1" lang="en-US" sz="1600" spc="-1" strike="noStrike">
                <a:solidFill>
                  <a:srgbClr val="e84d4d"/>
                </a:solidFill>
                <a:latin typeface="Fira Code"/>
              </a:rPr>
              <a:t>  </a:t>
            </a:r>
            <a:r>
              <a:rPr b="1" lang="en-US" sz="1600" spc="-1" strike="noStrike">
                <a:solidFill>
                  <a:srgbClr val="e84d4d"/>
                </a:solidFill>
                <a:latin typeface="Fira Code"/>
              </a:rPr>
              <a:t>5.  </a:t>
            </a:r>
            <a:r>
              <a:rPr b="1" lang="en-US" sz="1600" spc="-1" strike="noStrike">
                <a:solidFill>
                  <a:srgbClr val="f0f0f0"/>
                </a:solidFill>
                <a:latin typeface="JetBrains Mono"/>
              </a:rPr>
              <a:t>No SAS verification</a:t>
            </a:r>
            <a:r>
              <a:rPr b="0" lang="en-US" sz="1600" spc="-1" strike="noStrike">
                <a:solidFill>
                  <a:srgbClr val="999999"/>
                </a:solidFill>
                <a:latin typeface="IBM Plex Mono"/>
              </a:rPr>
              <a:t> on device linking — MITM could inject a rogue device into your sigchain</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11"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The Biggest Change: Why We Left the Browser</a:t>
            </a:r>
            <a:endParaRPr b="0" lang="en-US" sz="2600" spc="-1" strike="noStrike">
              <a:solidFill>
                <a:srgbClr val="ffffff"/>
              </a:solidFill>
              <a:latin typeface="Arial"/>
            </a:endParaRPr>
          </a:p>
        </p:txBody>
      </p:sp>
      <p:sp>
        <p:nvSpPr>
          <p:cNvPr id="212"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13" name="TextBox 3"/>
          <p:cNvSpPr/>
          <p:nvPr/>
        </p:nvSpPr>
        <p:spPr>
          <a:xfrm>
            <a:off x="564480" y="1269000"/>
            <a:ext cx="11094120" cy="3074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Web E2EE has a fatal problem for our threat model: server compromise.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Your server delivers the JavaScript that does the encryption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 compromised server can deliver modified JS that exfiltrates keys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The user has no way to verify the code they're running</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Keys in localStorage — accessible to XSS, browser extensions, devtools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Your "E2EE web app" is only as trustworthy as your server on every page load</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What's the point of E2EE if the server that's subpoenaed is the same server that delivers your crypto code?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14"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v2: Native Clients — No Webview on Mobile</a:t>
            </a:r>
            <a:endParaRPr b="0" lang="en-US" sz="2600" spc="-1" strike="noStrike">
              <a:solidFill>
                <a:srgbClr val="ffffff"/>
              </a:solidFill>
              <a:latin typeface="Arial"/>
            </a:endParaRPr>
          </a:p>
        </p:txBody>
      </p:sp>
      <p:sp>
        <p:nvSpPr>
          <p:cNvPr id="215"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16" name="TextBox 3"/>
          <p:cNvSpPr/>
          <p:nvPr/>
        </p:nvSpPr>
        <p:spPr>
          <a:xfrm>
            <a:off x="548640" y="1005840"/>
            <a:ext cx="11094120" cy="4428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Desktop (Tauri v2)</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Rust process holds device keys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Webview renders UI only — no key access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Stronghold</a:t>
            </a:r>
            <a:r>
              <a:rPr b="0" lang="en-US" sz="1600" spc="-1" strike="noStrike">
                <a:solidFill>
                  <a:srgbClr val="cccccc"/>
                </a:solidFill>
                <a:latin typeface="IBM Plex Mono"/>
              </a:rPr>
              <a:t> encrypted vault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Code is the compiled binary you installed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Reproducible builds — verify the binary matches source</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iOS + Android (Fully Native)</a:t>
            </a:r>
            <a:endParaRPr b="0" lang="en-US" sz="18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No webview.</a:t>
            </a:r>
            <a:r>
              <a:rPr b="0" lang="en-US" sz="1600" spc="-1" strike="noStrike">
                <a:solidFill>
                  <a:srgbClr val="cccccc"/>
                </a:solidFill>
                <a:latin typeface="IBM Plex Mono"/>
              </a:rPr>
              <a:t> SwiftUI / Kotlin Compose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iOS: Keychain (Secure Enclave backed)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Android: Keystore (hardware-backed)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Crypto via shared Rust crate (UniFFI/JNI)</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Code is the app you installed from a signed build</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The server can't deliver malicious code. It only serves encrypted data. The crypto runs in your native app.</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17"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What Else Changed: Crypto Protocol v1 → v2</a:t>
            </a:r>
            <a:endParaRPr b="0" lang="en-US" sz="2600" spc="-1" strike="noStrike">
              <a:solidFill>
                <a:srgbClr val="ffffff"/>
              </a:solidFill>
              <a:latin typeface="Arial"/>
            </a:endParaRPr>
          </a:p>
        </p:txBody>
      </p:sp>
      <p:sp>
        <p:nvSpPr>
          <p:cNvPr id="218"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19" name="TextBox 3"/>
          <p:cNvSpPr/>
          <p:nvPr/>
        </p:nvSpPr>
        <p:spPr>
          <a:xfrm>
            <a:off x="548640" y="1005840"/>
            <a:ext cx="11094120" cy="3814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v1</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secp256k1 ECIES (custom construction)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Single secret key per user, on every device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 domain separation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 per-note forward secrecy</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 device authorization chain</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v2</a:t>
            </a:r>
            <a:endParaRPr b="0" lang="en-US" sz="18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HPKE (RFC 9180)</a:t>
            </a:r>
            <a:r>
              <a:rPr b="0" lang="en-US" sz="1600" spc="-1" strike="noStrike">
                <a:solidFill>
                  <a:srgbClr val="cccccc"/>
                </a:solidFill>
                <a:latin typeface="IBM Plex Mono"/>
              </a:rPr>
              <a:t> — formally verified</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Per-device Ed25519/X25519 keys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57 domain separation labels</a:t>
            </a:r>
            <a:r>
              <a:rPr b="0" lang="en-US" sz="1600" spc="-1" strike="noStrike">
                <a:solidFill>
                  <a:srgbClr val="cccccc"/>
                </a:solidFill>
                <a:latin typeface="IBM Plex Mono"/>
              </a:rPr>
              <a:t> (Albrecht defense)</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Random key per note</a:t>
            </a:r>
            <a:r>
              <a:rPr b="0" lang="en-US" sz="1600" spc="-1" strike="noStrike">
                <a:solidFill>
                  <a:srgbClr val="cccccc"/>
                </a:solidFill>
                <a:latin typeface="IBM Plex Mono"/>
              </a:rPr>
              <a:t> (forward secrecy)</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Append-only sigchain</a:t>
            </a:r>
            <a:r>
              <a:rPr b="0" lang="en-US" sz="1600" spc="-1" strike="noStrike">
                <a:solidFill>
                  <a:srgbClr val="cccccc"/>
                </a:solidFill>
                <a:latin typeface="IBM Plex Mono"/>
              </a:rPr>
              <a:t> + SAS device provisioning</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0"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Three Native Clients, One Crypto Crate</a:t>
            </a:r>
            <a:endParaRPr b="0" lang="en-US" sz="2600" spc="-1" strike="noStrike">
              <a:solidFill>
                <a:srgbClr val="ffffff"/>
              </a:solidFill>
              <a:latin typeface="Arial"/>
            </a:endParaRPr>
          </a:p>
        </p:txBody>
      </p:sp>
      <p:sp>
        <p:nvSpPr>
          <p:cNvPr id="221"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22"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f0f0"/>
                </a:solidFill>
                <a:latin typeface="IBM Plex Mono"/>
              </a:rPr>
              <a:t>Same Rust code on every platform. Device keys stay in native memory.</a:t>
            </a:r>
            <a:endParaRPr b="0" lang="en-US" sz="1600" spc="-1" strike="noStrike">
              <a:solidFill>
                <a:srgbClr val="ffffff"/>
              </a:solidFill>
              <a:latin typeface="Arial"/>
            </a:endParaRPr>
          </a:p>
        </p:txBody>
      </p:sp>
      <p:sp>
        <p:nvSpPr>
          <p:cNvPr id="223" name="Rounded Rectangle 4"/>
          <p:cNvSpPr/>
          <p:nvPr/>
        </p:nvSpPr>
        <p:spPr>
          <a:xfrm>
            <a:off x="548640" y="1005840"/>
            <a:ext cx="11094120" cy="261468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 name="TextBox 5"/>
          <p:cNvSpPr/>
          <p:nvPr/>
        </p:nvSpPr>
        <p:spPr>
          <a:xfrm>
            <a:off x="685800" y="1097280"/>
            <a:ext cx="10819800" cy="2832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Desktop (Tauri v2):</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Rust process &lt;-- IPC --&gt; Webview (UI only)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Keys in Stronghold encrypted vault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Webview CANNOT access private keys</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iOS (SwiftUI):</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UniFFI XCFramework --&gt; CryptoService singleton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Keys in Keychain (Secure Enclave backed)</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UI layer gets pubkeys only</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Android (Kotlin/Compose):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JNI .so --&gt; CryptoService singleton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Keys in Keystore (hardware-backed)</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UI layer gets pubkeys only</a:t>
            </a:r>
            <a:endParaRPr b="0" lang="en-US" sz="1200" spc="-1" strike="noStrike">
              <a:solidFill>
                <a:srgbClr val="ffffff"/>
              </a:solidFill>
              <a:latin typeface="Arial"/>
            </a:endParaRPr>
          </a:p>
        </p:txBody>
      </p:sp>
      <p:sp>
        <p:nvSpPr>
          <p:cNvPr id="225" name="TextBox 6"/>
          <p:cNvSpPr/>
          <p:nvPr/>
        </p:nvSpPr>
        <p:spPr>
          <a:xfrm>
            <a:off x="548640" y="3712320"/>
            <a:ext cx="11094120" cy="3382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800" spc="-1" strike="noStrike">
              <a:solidFill>
                <a:srgbClr val="ffffff"/>
              </a:solidFill>
              <a:latin typeface="Arial"/>
            </a:endParaRPr>
          </a:p>
        </p:txBody>
      </p:sp>
      <p:sp>
        <p:nvSpPr>
          <p:cNvPr id="226" name="Rounded Rectangle 7"/>
          <p:cNvSpPr/>
          <p:nvPr/>
        </p:nvSpPr>
        <p:spPr>
          <a:xfrm>
            <a:off x="548640" y="3712320"/>
            <a:ext cx="11094120" cy="52992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7" name="TextBox 8"/>
          <p:cNvSpPr/>
          <p:nvPr/>
        </p:nvSpPr>
        <p:spPr>
          <a:xfrm>
            <a:off x="685800" y="3803760"/>
            <a:ext cx="1081980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*Signal's architecture: native crypto, thin UI shell. We adopted it wholesale.*</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8"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SFrame — Voice E2EE</a:t>
            </a:r>
            <a:endParaRPr b="0" lang="en-US" sz="2800" spc="-1" strike="noStrike">
              <a:solidFill>
                <a:srgbClr val="ffffff"/>
              </a:solidFill>
              <a:latin typeface="Arial"/>
            </a:endParaRPr>
          </a:p>
        </p:txBody>
      </p:sp>
      <p:sp>
        <p:nvSpPr>
          <p:cNvPr id="229"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30"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Voice calls are encrypted too — not just notes.</a:t>
            </a:r>
            <a:endParaRPr b="0" lang="en-US" sz="1600" spc="-1" strike="noStrike">
              <a:solidFill>
                <a:srgbClr val="ffffff"/>
              </a:solidFill>
              <a:latin typeface="Arial"/>
            </a:endParaRPr>
          </a:p>
        </p:txBody>
      </p:sp>
      <p:sp>
        <p:nvSpPr>
          <p:cNvPr id="231" name="Rounded Rectangle 4"/>
          <p:cNvSpPr/>
          <p:nvPr/>
        </p:nvSpPr>
        <p:spPr>
          <a:xfrm>
            <a:off x="548640" y="1005840"/>
            <a:ext cx="11094120" cy="15087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 name="TextBox 5"/>
          <p:cNvSpPr/>
          <p:nvPr/>
        </p:nvSpPr>
        <p:spPr>
          <a:xfrm>
            <a:off x="685800" y="1097280"/>
            <a:ext cx="10819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SFrame (RFC 9605):</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Per-call key derived from the Llámenos crypto layer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Media frames encrypted before leaving the device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Decrypted on the volunteer's device only</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Server cannot decrypt live call audio</a:t>
            </a:r>
            <a:endParaRPr b="0" lang="en-US" sz="1200" spc="-1" strike="noStrike">
              <a:solidFill>
                <a:srgbClr val="ffffff"/>
              </a:solidFill>
              <a:latin typeface="Arial"/>
            </a:endParaRPr>
          </a:p>
        </p:txBody>
      </p:sp>
      <p:sp>
        <p:nvSpPr>
          <p:cNvPr id="233" name="TextBox 6"/>
          <p:cNvSpPr/>
          <p:nvPr/>
        </p:nvSpPr>
        <p:spPr>
          <a:xfrm>
            <a:off x="564480" y="2971800"/>
            <a:ext cx="11094120" cy="577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1600" spc="-1" strike="noStrike">
                <a:solidFill>
                  <a:srgbClr val="5cc4b0"/>
                </a:solidFill>
                <a:latin typeface="Source Code Pro"/>
              </a:rPr>
              <a:t>Your SIP bridge passes encrypted frames. Even if the bridge is compromised, the audio is ciphertext.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234"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7</a:t>
            </a:r>
            <a:endParaRPr b="0" lang="en-US" sz="1600" spc="-1" strike="noStrike">
              <a:solidFill>
                <a:srgbClr val="ffffff"/>
              </a:solidFill>
              <a:latin typeface="Arial"/>
            </a:endParaRPr>
          </a:p>
        </p:txBody>
      </p:sp>
      <p:sp>
        <p:nvSpPr>
          <p:cNvPr id="235"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Self-Hosting &amp; Deployment</a:t>
            </a:r>
            <a:endParaRPr b="0" lang="en-US" sz="4000" spc="-1" strike="noStrike">
              <a:solidFill>
                <a:srgbClr val="ffffff"/>
              </a:solidFill>
              <a:latin typeface="Arial"/>
            </a:endParaRPr>
          </a:p>
        </p:txBody>
      </p:sp>
      <p:sp>
        <p:nvSpPr>
          <p:cNvPr id="236"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37"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What You Run</a:t>
            </a:r>
            <a:endParaRPr b="0" lang="en-US" sz="2800" spc="-1" strike="noStrike">
              <a:solidFill>
                <a:srgbClr val="ffffff"/>
              </a:solidFill>
              <a:latin typeface="Arial"/>
            </a:endParaRPr>
          </a:p>
        </p:txBody>
      </p:sp>
      <p:sp>
        <p:nvSpPr>
          <p:cNvPr id="238"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39" name="Rounded Rectangle 3"/>
          <p:cNvSpPr/>
          <p:nvPr/>
        </p:nvSpPr>
        <p:spPr>
          <a:xfrm>
            <a:off x="548640" y="1005840"/>
            <a:ext cx="11094120" cy="21945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 name="TextBox 4"/>
          <p:cNvSpPr/>
          <p:nvPr/>
        </p:nvSpPr>
        <p:spPr>
          <a:xfrm>
            <a:off x="685800" y="1097280"/>
            <a:ext cx="10819800" cy="191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services: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db:           PostgreSQL 16 (encrypted notes, audit log)</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app:          Bun + Hono (the API server)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relay:        strfry (self-hosted Nostr relay — real-time events)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sip-bridge:   Asterisk / FreeSWITCH / Kamailio (SIP routing)</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Optional profiles: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signal:       signal-notifier sidecar (port 3100)</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telephony:    Kamailio + CoTURN (full self-hosted SIP)</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monitoring:   Prometheus + Grafana</a:t>
            </a:r>
            <a:endParaRPr b="0" lang="en-US" sz="1200" spc="-1" strike="noStrike">
              <a:solidFill>
                <a:srgbClr val="ffffff"/>
              </a:solidFill>
              <a:latin typeface="Arial"/>
            </a:endParaRPr>
          </a:p>
        </p:txBody>
      </p:sp>
      <p:sp>
        <p:nvSpPr>
          <p:cNvPr id="241" name="TextBox 5"/>
          <p:cNvSpPr/>
          <p:nvPr/>
        </p:nvSpPr>
        <p:spPr>
          <a:xfrm>
            <a:off x="548640" y="3634200"/>
            <a:ext cx="11094120" cy="1166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WireGuard tunnels</a:t>
            </a:r>
            <a:r>
              <a:rPr b="0" lang="en-US" sz="1600" spc="-1" strike="noStrike">
                <a:solidFill>
                  <a:srgbClr val="cccccc"/>
                </a:solidFill>
                <a:latin typeface="IBM Plex Mono"/>
              </a:rPr>
              <a:t> for ingress — no exposed public IP</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1984 Hosting</a:t>
            </a:r>
            <a:r>
              <a:rPr b="0" lang="en-US" sz="1600" spc="-1" strike="noStrike">
                <a:solidFill>
                  <a:srgbClr val="cccccc"/>
                </a:solidFill>
                <a:latin typeface="IBM Plex Mono"/>
              </a:rPr>
              <a:t> (Iceland) — outside US CLOUD Act jurisdiction, custom FDE ISO, GDPR-compliant</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Kubernetes</a:t>
            </a:r>
            <a:r>
              <a:rPr b="0" lang="en-US" sz="1600" spc="-1" strike="noStrike">
                <a:solidFill>
                  <a:srgbClr val="cccccc"/>
                </a:solidFill>
                <a:latin typeface="IBM Plex Mono"/>
              </a:rPr>
              <a:t> option: Helm chart with health probes and network policies</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2"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Template-Driven — Nothing Is Hardcoded</a:t>
            </a:r>
            <a:endParaRPr b="0" lang="en-US" sz="2600" spc="-1" strike="noStrike">
              <a:solidFill>
                <a:srgbClr val="ffffff"/>
              </a:solidFill>
              <a:latin typeface="Arial"/>
            </a:endParaRPr>
          </a:p>
        </p:txBody>
      </p:sp>
      <p:sp>
        <p:nvSpPr>
          <p:cNvPr id="243"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44"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Nothing in the app is hardcoded to any specific use case.</a:t>
            </a:r>
            <a:endParaRPr b="0" lang="en-US" sz="1600" spc="-1" strike="noStrike">
              <a:solidFill>
                <a:srgbClr val="ffffff"/>
              </a:solidFill>
              <a:latin typeface="Arial"/>
            </a:endParaRPr>
          </a:p>
        </p:txBody>
      </p:sp>
      <p:sp>
        <p:nvSpPr>
          <p:cNvPr id="245" name="Rounded Rectangle 4"/>
          <p:cNvSpPr/>
          <p:nvPr/>
        </p:nvSpPr>
        <p:spPr>
          <a:xfrm>
            <a:off x="548640" y="1005840"/>
            <a:ext cx="11094120" cy="26517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 name="TextBox 5"/>
          <p:cNvSpPr/>
          <p:nvPr/>
        </p:nvSpPr>
        <p:spPr>
          <a:xfrm>
            <a:off x="685800" y="1097280"/>
            <a:ext cx="10819800" cy="2467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 Everything comes from a template: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"entityTypes": ["person", "incident", "location", "vehicle"],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"reportTypes":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"name": "arrest_report",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"fields": ["name", "charges", "badge_number", "location"],</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"mobileOptimized": true</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"roles": ["volunteer", "observer", "dispatcher"],</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  </a:t>
            </a:r>
            <a:r>
              <a:rPr b="0" lang="en-US" sz="1200" spc="-1" strike="noStrike">
                <a:solidFill>
                  <a:srgbClr val="5cc4b0"/>
                </a:solidFill>
                <a:latin typeface="Fira Code"/>
              </a:rPr>
              <a:t>"customFields":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t>
            </a:r>
            <a:endParaRPr b="0" lang="en-US" sz="1200" spc="-1" strike="noStrike">
              <a:solidFill>
                <a:srgbClr val="ffffff"/>
              </a:solidFill>
              <a:latin typeface="Arial"/>
            </a:endParaRPr>
          </a:p>
        </p:txBody>
      </p:sp>
      <p:sp>
        <p:nvSpPr>
          <p:cNvPr id="247" name="TextBox 6"/>
          <p:cNvSpPr/>
          <p:nvPr/>
        </p:nvSpPr>
        <p:spPr>
          <a:xfrm>
            <a:off x="548640" y="3886200"/>
            <a:ext cx="11094120" cy="577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1600" spc="-1" strike="noStrike">
                <a:solidFill>
                  <a:srgbClr val="5cc4b0"/>
                </a:solidFill>
                <a:latin typeface="Source Code Pro"/>
              </a:rPr>
              <a:t>Legal observer network, jail support, domestic violence line, immigration legal — same codebase, different template.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8"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Multi-Hub: One Install, Many Lines</a:t>
            </a:r>
            <a:endParaRPr b="0" lang="en-US" sz="2800" spc="-1" strike="noStrike">
              <a:solidFill>
                <a:srgbClr val="ffffff"/>
              </a:solidFill>
              <a:latin typeface="Arial"/>
            </a:endParaRPr>
          </a:p>
        </p:txBody>
      </p:sp>
      <p:sp>
        <p:nvSpPr>
          <p:cNvPr id="249"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50" name="TextBox 3"/>
          <p:cNvSpPr/>
          <p:nvPr/>
        </p:nvSpPr>
        <p:spPr>
          <a:xfrm>
            <a:off x="548640" y="1005840"/>
            <a:ext cx="1109412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Your org might run more than one line:</a:t>
            </a:r>
            <a:endParaRPr b="0" lang="en-US" sz="1600" spc="-1" strike="noStrike">
              <a:solidFill>
                <a:srgbClr val="ffffff"/>
              </a:solidFill>
              <a:latin typeface="Arial"/>
            </a:endParaRPr>
          </a:p>
        </p:txBody>
      </p:sp>
      <p:sp>
        <p:nvSpPr>
          <p:cNvPr id="251" name="Rounded Rectangle 4"/>
          <p:cNvSpPr/>
          <p:nvPr/>
        </p:nvSpPr>
        <p:spPr>
          <a:xfrm>
            <a:off x="548640" y="1005840"/>
            <a:ext cx="11094120" cy="1965960"/>
          </a:xfrm>
          <a:prstGeom prst="roundRect">
            <a:avLst>
              <a:gd name="adj" fmla="val 2000"/>
            </a:avLst>
          </a:prstGeom>
          <a:solidFill>
            <a:srgbClr val="0d111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 name="TextBox 5"/>
          <p:cNvSpPr/>
          <p:nvPr/>
        </p:nvSpPr>
        <p:spPr>
          <a:xfrm>
            <a:off x="685800" y="1097280"/>
            <a:ext cx="10819800" cy="1461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5cc4b0"/>
                </a:solidFill>
                <a:latin typeface="Fira Code"/>
              </a:rPr>
              <a:t>Hub A: Jail support line (overnight after mass arrests)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Hub B: Rapid response line (daytime, protest hours)  </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Hub C: Community safety line (ongoing)</a:t>
            </a:r>
            <a:endParaRPr b="0" lang="en-US" sz="1200" spc="-1" strike="noStrike">
              <a:solidFill>
                <a:srgbClr val="ffffff"/>
              </a:solidFill>
              <a:latin typeface="Arial"/>
            </a:endParaRPr>
          </a:p>
          <a:p>
            <a:pPr defTabSz="457200">
              <a:lnSpc>
                <a:spcPct val="100000"/>
              </a:lnSpc>
            </a:pPr>
            <a:endParaRPr b="0" lang="en-US" sz="18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One volunteer can be in all three hubs.</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All hubs active simultaneously — incoming calls from any hub ring them.</a:t>
            </a:r>
            <a:endParaRPr b="0" lang="en-US" sz="1200" spc="-1" strike="noStrike">
              <a:solidFill>
                <a:srgbClr val="ffffff"/>
              </a:solidFill>
              <a:latin typeface="Arial"/>
            </a:endParaRPr>
          </a:p>
          <a:p>
            <a:pPr defTabSz="457200">
              <a:lnSpc>
                <a:spcPct val="100000"/>
              </a:lnSpc>
            </a:pPr>
            <a:r>
              <a:rPr b="0" lang="en-US" sz="1200" spc="-1" strike="noStrike">
                <a:solidFill>
                  <a:srgbClr val="5cc4b0"/>
                </a:solidFill>
                <a:latin typeface="Fira Code"/>
              </a:rPr>
              <a:t>Active hub in the UI doesn't affect which calls they receive.</a:t>
            </a:r>
            <a:endParaRPr b="0" lang="en-US" sz="1200" spc="-1" strike="noStrike">
              <a:solidFill>
                <a:srgbClr val="ffffff"/>
              </a:solidFill>
              <a:latin typeface="Arial"/>
            </a:endParaRPr>
          </a:p>
        </p:txBody>
      </p:sp>
      <p:sp>
        <p:nvSpPr>
          <p:cNvPr id="253" name="TextBox 6"/>
          <p:cNvSpPr/>
          <p:nvPr/>
        </p:nvSpPr>
        <p:spPr>
          <a:xfrm>
            <a:off x="548640" y="3192120"/>
            <a:ext cx="11094120" cy="922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  •  </a:t>
            </a:r>
            <a:r>
              <a:rPr b="0" lang="en-US" sz="1600" spc="-1" strike="noStrike">
                <a:solidFill>
                  <a:srgbClr val="cccccc"/>
                </a:solidFill>
                <a:latin typeface="IBM Plex Mono"/>
              </a:rPr>
              <a:t>Each hub has its own encrypted key space, volunteers, shifts, and case records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Hub key rotates on member departure — departed member can't read new hub events</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Multi-org: different orgs can run separate hubs on the same install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13e"/>
        </a:solidFill>
      </p:bgPr>
    </p:bg>
    <p:spTree>
      <p:nvGrpSpPr>
        <p:cNvPr id="1" name=""/>
        <p:cNvGrpSpPr/>
        <p:nvPr/>
      </p:nvGrpSpPr>
      <p:grpSpPr>
        <a:xfrm>
          <a:off x="0" y="0"/>
          <a:ext cx="0" cy="0"/>
          <a:chOff x="0" y="0"/>
          <a:chExt cx="0" cy="0"/>
        </a:xfrm>
      </p:grpSpPr>
      <p:sp>
        <p:nvSpPr>
          <p:cNvPr id="254" name="TextBox 1"/>
          <p:cNvSpPr/>
          <p:nvPr/>
        </p:nvSpPr>
        <p:spPr>
          <a:xfrm>
            <a:off x="548640" y="2011680"/>
            <a:ext cx="1109412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pc="-1" strike="noStrike">
                <a:solidFill>
                  <a:srgbClr val="e84d4d"/>
                </a:solidFill>
                <a:latin typeface="Fira Code"/>
              </a:rPr>
              <a:t>PART 8</a:t>
            </a:r>
            <a:endParaRPr b="0" lang="en-US" sz="1600" spc="-1" strike="noStrike">
              <a:solidFill>
                <a:srgbClr val="ffffff"/>
              </a:solidFill>
              <a:latin typeface="Arial"/>
            </a:endParaRPr>
          </a:p>
        </p:txBody>
      </p:sp>
      <p:sp>
        <p:nvSpPr>
          <p:cNvPr id="255" name="TextBox 2"/>
          <p:cNvSpPr/>
          <p:nvPr/>
        </p:nvSpPr>
        <p:spPr>
          <a:xfrm>
            <a:off x="548640" y="2560320"/>
            <a:ext cx="11094120" cy="699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000" spc="-1" strike="noStrike">
                <a:solidFill>
                  <a:srgbClr val="f0f0f0"/>
                </a:solidFill>
                <a:latin typeface="JetBrains Mono"/>
              </a:rPr>
              <a:t>What We Still Can't Protect</a:t>
            </a:r>
            <a:endParaRPr b="0" lang="en-US" sz="4000" spc="-1" strike="noStrike">
              <a:solidFill>
                <a:srgbClr val="ffffff"/>
              </a:solidFill>
              <a:latin typeface="Arial"/>
            </a:endParaRPr>
          </a:p>
        </p:txBody>
      </p:sp>
      <p:sp>
        <p:nvSpPr>
          <p:cNvPr id="256" name="Rectangle 3"/>
          <p:cNvSpPr/>
          <p:nvPr/>
        </p:nvSpPr>
        <p:spPr>
          <a:xfrm>
            <a:off x="4572000" y="3749040"/>
            <a:ext cx="301716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57"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The Honest Threat Model Boundary</a:t>
            </a:r>
            <a:endParaRPr b="0" lang="en-US" sz="2800" spc="-1" strike="noStrike">
              <a:solidFill>
                <a:srgbClr val="ffffff"/>
              </a:solidFill>
              <a:latin typeface="Arial"/>
            </a:endParaRPr>
          </a:p>
        </p:txBody>
      </p:sp>
      <p:sp>
        <p:nvSpPr>
          <p:cNvPr id="258"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59" name="TextBox 3"/>
          <p:cNvSpPr/>
          <p:nvPr/>
        </p:nvSpPr>
        <p:spPr>
          <a:xfrm>
            <a:off x="548640" y="1005840"/>
            <a:ext cx="11094120" cy="4980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84d4d"/>
                </a:solidFill>
                <a:latin typeface="JetBrains Mono"/>
              </a:rPr>
              <a:t>We protect against</a:t>
            </a:r>
            <a:endParaRPr b="0" lang="en-US" sz="18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Administrative subpoenas to cloud providers (notes unreadable)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CDR analysis (with CDR-free SIP trunk)</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Note content exposure (E2EE, forward secrecy)</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Message content exposure (E2EE)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Caller identity via phone records (HMAC hashing)</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Sequential ring volunteer identification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Device seizure note exposure (PIN-protected keys)</a:t>
            </a:r>
            <a:endParaRPr b="0" lang="en-US" sz="1600" spc="-1" strike="noStrike">
              <a:solidFill>
                <a:srgbClr val="ffffff"/>
              </a:solidFill>
              <a:latin typeface="Arial"/>
            </a:endParaRPr>
          </a:p>
          <a:p>
            <a:pPr defTabSz="457200">
              <a:lnSpc>
                <a:spcPct val="100000"/>
              </a:lnSpc>
              <a:spcBef>
                <a:spcPts val="799"/>
              </a:spcBef>
              <a:spcAft>
                <a:spcPts val="201"/>
              </a:spcAft>
            </a:pPr>
            <a:r>
              <a:rPr b="1" lang="en-US" sz="1800" spc="-1" strike="noStrike">
                <a:solidFill>
                  <a:srgbClr val="e84d4d"/>
                </a:solidFill>
                <a:latin typeface="JetBrains Mono"/>
              </a:rPr>
              <a:t>We don't protect against</a:t>
            </a:r>
            <a:endParaRPr b="0" lang="en-US" sz="18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Traffic analysis</a:t>
            </a:r>
            <a:r>
              <a:rPr b="0" lang="en-US" sz="1600" spc="-1" strike="noStrike">
                <a:solidFill>
                  <a:srgbClr val="cccccc"/>
                </a:solidFill>
                <a:latin typeface="IBM Plex Mono"/>
              </a:rPr>
              <a:t>: Sophisticated adversary can see call timing patterns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Device seizure with PIN</a:t>
            </a:r>
            <a:r>
              <a:rPr b="0" lang="en-US" sz="1600" spc="-1" strike="noStrike">
                <a:solidFill>
                  <a:srgbClr val="cccccc"/>
                </a:solidFill>
                <a:latin typeface="IBM Plex Mono"/>
              </a:rPr>
              <a:t>: Seized + unlocked = notes accessible</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Admin coercion</a:t>
            </a:r>
            <a:r>
              <a:rPr b="0" lang="en-US" sz="1600" spc="-1" strike="noStrike">
                <a:solidFill>
                  <a:srgbClr val="cccccc"/>
                </a:solidFill>
                <a:latin typeface="IBM Plex Mono"/>
              </a:rPr>
              <a:t>: A coerced admin can decrypt all notes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Hosting provider coercion</a:t>
            </a:r>
            <a:r>
              <a:rPr b="0" lang="en-US" sz="1600" spc="-1" strike="noStrike">
                <a:solidFill>
                  <a:srgbClr val="cccccc"/>
                </a:solidFill>
                <a:latin typeface="IBM Plex Mono"/>
              </a:rPr>
              <a:t>: FDE + Iceland jurisdiction, but physical seizure is always a risk</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Operational security failures</a:t>
            </a:r>
            <a:r>
              <a:rPr b="0" lang="en-US" sz="1600" spc="-1" strike="noStrike">
                <a:solidFill>
                  <a:srgbClr val="cccccc"/>
                </a:solidFill>
                <a:latin typeface="IBM Plex Mono"/>
              </a:rPr>
              <a:t>: Bad passwords, phishing, shoulder surfing</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SMS/WhatsApp in transit</a:t>
            </a:r>
            <a:r>
              <a:rPr b="0" lang="en-US" sz="1600" spc="-1" strike="noStrike">
                <a:solidFill>
                  <a:srgbClr val="cccccc"/>
                </a:solidFill>
                <a:latin typeface="IBM Plex Mono"/>
              </a:rPr>
              <a:t>: Provider sees plaintext during delivery</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0" name="TextBox 1"/>
          <p:cNvSpPr/>
          <p:nvPr/>
        </p:nvSpPr>
        <p:spPr>
          <a:xfrm>
            <a:off x="548640" y="228600"/>
            <a:ext cx="1109412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f0f0f0"/>
                </a:solidFill>
                <a:latin typeface="JetBrains Mono"/>
              </a:rPr>
              <a:t>Know Your Threat Model Before You Deploy</a:t>
            </a:r>
            <a:endParaRPr b="0" lang="en-US" sz="2600" spc="-1" strike="noStrike">
              <a:solidFill>
                <a:srgbClr val="ffffff"/>
              </a:solidFill>
              <a:latin typeface="Arial"/>
            </a:endParaRPr>
          </a:p>
        </p:txBody>
      </p:sp>
      <p:sp>
        <p:nvSpPr>
          <p:cNvPr id="261"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62" name="TextBox 3"/>
          <p:cNvSpPr/>
          <p:nvPr/>
        </p:nvSpPr>
        <p:spPr>
          <a:xfrm>
            <a:off x="548640" y="1005840"/>
            <a:ext cx="11094120" cy="375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600" spc="-1" strike="noStrike">
                <a:solidFill>
                  <a:srgbClr val="cccccc"/>
                </a:solidFill>
                <a:latin typeface="Source Code Pro"/>
              </a:rPr>
              <a:t>Llámenos is designed to withstand the full adversary spectrum: from law enforcement administrative subpoenas and OSINT-level adversaries, through FBI national security letters, to nation-state actors with physical access to infrastructure. FDE hosting outside CLOUD Act jurisdiction, E2EE with per-device keys, and self-hosted SIP are the default — not optional hardening.</a:t>
            </a:r>
            <a:endParaRPr b="0" lang="en-US" sz="1600" spc="-1" strike="noStrike">
              <a:solidFill>
                <a:srgbClr val="ffffff"/>
              </a:solidFill>
              <a:latin typeface="Arial"/>
            </a:endParaRPr>
          </a:p>
          <a:p>
            <a:pPr defTabSz="457200">
              <a:lnSpc>
                <a:spcPct val="100000"/>
              </a:lnSpc>
              <a:spcBef>
                <a:spcPts val="601"/>
              </a:spcBef>
              <a:spcAft>
                <a:spcPts val="201"/>
              </a:spcAft>
            </a:pPr>
            <a:endParaRPr b="0" lang="en-US" sz="1400" spc="-1" strike="noStrike">
              <a:solidFill>
                <a:srgbClr val="ffffff"/>
              </a:solidFill>
              <a:latin typeface="Arial"/>
            </a:endParaRPr>
          </a:p>
          <a:p>
            <a:pPr defTabSz="457200">
              <a:lnSpc>
                <a:spcPct val="100000"/>
              </a:lnSpc>
              <a:spcBef>
                <a:spcPts val="601"/>
              </a:spcBef>
              <a:spcAft>
                <a:spcPts val="201"/>
              </a:spcAft>
            </a:pPr>
            <a:r>
              <a:rPr b="1" lang="en-US" sz="1400" spc="-1" strike="noStrike">
                <a:solidFill>
                  <a:srgbClr val="f0f0f0"/>
                </a:solidFill>
                <a:latin typeface="IBM Plex Mono"/>
              </a:rPr>
              <a:t>Before deploying, answer:</a:t>
            </a:r>
            <a:endParaRPr b="0" lang="en-US" sz="14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Who is your adversary? Be specific.</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What can they do without a warrant in your jurisdiction?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What can they do WITH a warrant?</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Who are your admins and what's their physical security posture?</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What happens if your server is seized?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What happens if a volunteer is an informant?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3"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Get Involved</a:t>
            </a:r>
            <a:endParaRPr b="0" lang="en-US" sz="2800" spc="-1" strike="noStrike">
              <a:solidFill>
                <a:srgbClr val="ffffff"/>
              </a:solidFill>
              <a:latin typeface="Arial"/>
            </a:endParaRPr>
          </a:p>
        </p:txBody>
      </p:sp>
      <p:sp>
        <p:nvSpPr>
          <p:cNvPr id="264"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65" name="TextBox 3"/>
          <p:cNvSpPr/>
          <p:nvPr/>
        </p:nvSpPr>
        <p:spPr>
          <a:xfrm>
            <a:off x="548640" y="1005840"/>
            <a:ext cx="11094120" cy="3445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pc="-1" strike="noStrike">
                <a:solidFill>
                  <a:srgbClr val="f0c674"/>
                </a:solidFill>
                <a:latin typeface="IBM Plex Mono"/>
              </a:rPr>
              <a:t>  •  </a:t>
            </a:r>
            <a:r>
              <a:rPr b="1" lang="en-US" sz="1600" spc="-1" strike="noStrike">
                <a:solidFill>
                  <a:srgbClr val="f0c674"/>
                </a:solidFill>
                <a:latin typeface="IBM Plex Mono"/>
              </a:rPr>
              <a:t>Code</a:t>
            </a:r>
            <a:r>
              <a:rPr b="0" lang="en-US" sz="1600" spc="-1" strike="noStrike">
                <a:solidFill>
                  <a:srgbClr val="cccccc"/>
                </a:solidFill>
                <a:latin typeface="IBM Plex Mono"/>
              </a:rPr>
              <a:t>: `github.com/rhonda-rodododo/llamenos-platform` (AGPL-3.0)</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Self-hosting docs</a:t>
            </a:r>
            <a:r>
              <a:rPr b="0" lang="en-US" sz="1600" spc="-1" strike="noStrike">
                <a:solidFill>
                  <a:srgbClr val="cccccc"/>
                </a:solidFill>
                <a:latin typeface="IBM Plex Mono"/>
              </a:rPr>
              <a:t>: `llamenos-hotline.com/docs`</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This deck</a:t>
            </a:r>
            <a:r>
              <a:rPr b="0" lang="en-US" sz="1600" spc="-1" strike="noStrike">
                <a:solidFill>
                  <a:srgbClr val="cccccc"/>
                </a:solidFill>
                <a:latin typeface="IBM Plex Mono"/>
              </a:rPr>
              <a:t>: `llamenos-hotline.com/slides/counterspy-2026/`</a:t>
            </a:r>
            <a:endParaRPr b="0" lang="en-US" sz="1600" spc="-1" strike="noStrike">
              <a:solidFill>
                <a:srgbClr val="ffffff"/>
              </a:solidFill>
              <a:latin typeface="Arial"/>
            </a:endParaRPr>
          </a:p>
          <a:p>
            <a:pPr defTabSz="457200">
              <a:lnSpc>
                <a:spcPct val="100000"/>
              </a:lnSpc>
              <a:spcBef>
                <a:spcPts val="300"/>
              </a:spcBef>
              <a:spcAft>
                <a:spcPts val="201"/>
              </a:spcAft>
            </a:pPr>
            <a:r>
              <a:rPr b="1" lang="en-US" sz="1600" spc="-1" strike="noStrike">
                <a:solidFill>
                  <a:srgbClr val="f0c674"/>
                </a:solidFill>
                <a:latin typeface="IBM Plex Mono"/>
              </a:rPr>
              <a:t>  •  </a:t>
            </a:r>
            <a:r>
              <a:rPr b="1" lang="en-US" sz="1600" spc="-1" strike="noStrike">
                <a:solidFill>
                  <a:srgbClr val="f0c674"/>
                </a:solidFill>
                <a:latin typeface="IBM Plex Mono"/>
              </a:rPr>
              <a:t>Signal</a:t>
            </a:r>
            <a:r>
              <a:rPr b="0" lang="en-US" sz="1600" spc="-1" strike="noStrike">
                <a:solidFill>
                  <a:srgbClr val="cccccc"/>
                </a:solidFill>
                <a:latin typeface="IBM Plex Mono"/>
              </a:rPr>
              <a:t>: Ask me after the talk</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We especially need:</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Organizations willing to run beta deployments — real ops, real feedback</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Cryptographers to audit the HPKE implementation</a:t>
            </a: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  •  </a:t>
            </a:r>
            <a:r>
              <a:rPr b="0" lang="en-US" sz="1600" spc="-1" strike="noStrike">
                <a:solidFill>
                  <a:srgbClr val="cccccc"/>
                </a:solidFill>
                <a:latin typeface="IBM Plex Mono"/>
              </a:rPr>
              <a:t>People who have survived subpoenas and can stress-test our threat model assumptions</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This is pre-production software. We built it to be auditable. We built it to be self-hosted. We built it because the existing options were a gift to cops.</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6" name="TextBox 1"/>
          <p:cNvSpPr/>
          <p:nvPr/>
        </p:nvSpPr>
        <p:spPr>
          <a:xfrm>
            <a:off x="548640" y="228600"/>
            <a:ext cx="1109412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800" spc="-1" strike="noStrike">
                <a:solidFill>
                  <a:srgbClr val="f0f0f0"/>
                </a:solidFill>
                <a:latin typeface="JetBrains Mono"/>
              </a:rPr>
              <a:t>Questions?</a:t>
            </a:r>
            <a:endParaRPr b="0" lang="en-US" sz="2800" spc="-1" strike="noStrike">
              <a:solidFill>
                <a:srgbClr val="ffffff"/>
              </a:solidFill>
              <a:latin typeface="Arial"/>
            </a:endParaRPr>
          </a:p>
        </p:txBody>
      </p:sp>
      <p:sp>
        <p:nvSpPr>
          <p:cNvPr id="267" name="Rectangle 2"/>
          <p:cNvSpPr/>
          <p:nvPr/>
        </p:nvSpPr>
        <p:spPr>
          <a:xfrm>
            <a:off x="548640" y="822960"/>
            <a:ext cx="1828440" cy="37800"/>
          </a:xfrm>
          <a:prstGeom prst="rect">
            <a:avLst/>
          </a:prstGeom>
          <a:solidFill>
            <a:srgbClr val="e84d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268" name="TextBox 3"/>
          <p:cNvSpPr/>
          <p:nvPr/>
        </p:nvSpPr>
        <p:spPr>
          <a:xfrm>
            <a:off x="548640" y="1005840"/>
            <a:ext cx="11094120" cy="3197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cccccc"/>
                </a:solidFill>
                <a:latin typeface="IBM Plex Mono"/>
              </a:rPr>
              <a:t>Rhonda Rhododendron / CounterSpy 2026, Atlanta</a:t>
            </a:r>
            <a:endParaRPr b="0" lang="en-US" sz="1600" spc="-1" strike="noStrike">
              <a:solidFill>
                <a:srgbClr val="ffffff"/>
              </a:solidFill>
              <a:latin typeface="Arial"/>
            </a:endParaRPr>
          </a:p>
          <a:p>
            <a:pPr algn="ctr" defTabSz="457200">
              <a:lnSpc>
                <a:spcPct val="100000"/>
              </a:lnSpc>
              <a:spcBef>
                <a:spcPts val="799"/>
              </a:spcBef>
              <a:spcAft>
                <a:spcPts val="201"/>
              </a:spcAft>
            </a:pPr>
            <a:r>
              <a:rPr b="0" i="1" lang="en-US" sz="1600" spc="-1" strike="noStrike">
                <a:solidFill>
                  <a:srgbClr val="5cc4b0"/>
                </a:solidFill>
                <a:latin typeface="Source Code Pro"/>
              </a:rPr>
              <a:t>"More Secure Hubs for Your Spokes"</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hlinkClick r:id="rId1"/>
              </a:rPr>
              <a:t>https://github.com/rhonda-rodododo/llamenos-hotline</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hlinkClick r:id="rId2"/>
              </a:rPr>
              <a:t>https://llamenos-hotline.com/</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hlinkClick r:id="rId3"/>
              </a:rPr>
              <a:t>https://github.com/rhonda-rodododo/llamenos-platform/tree/main/site/public/slides</a:t>
            </a:r>
            <a:endParaRPr b="0" lang="en-US" sz="1600" spc="-1" strike="noStrike">
              <a:solidFill>
                <a:srgbClr val="ffffff"/>
              </a:solidFill>
              <a:latin typeface="Arial"/>
            </a:endParaRPr>
          </a:p>
          <a:p>
            <a:pPr defTabSz="457200">
              <a:lnSpc>
                <a:spcPct val="100000"/>
              </a:lnSpc>
              <a:spcBef>
                <a:spcPts val="300"/>
              </a:spcBef>
              <a:spcAft>
                <a:spcPts val="201"/>
              </a:spcAft>
            </a:pPr>
            <a:endParaRPr b="0" lang="en-US" sz="1600" spc="-1" strike="noStrike">
              <a:solidFill>
                <a:srgbClr val="ffffff"/>
              </a:solidFill>
              <a:latin typeface="Arial"/>
            </a:endParaRPr>
          </a:p>
          <a:p>
            <a:pPr defTabSz="457200">
              <a:lnSpc>
                <a:spcPct val="100000"/>
              </a:lnSpc>
              <a:spcBef>
                <a:spcPts val="300"/>
              </a:spcBef>
              <a:spcAft>
                <a:spcPts val="201"/>
              </a:spcAft>
            </a:pPr>
            <a:r>
              <a:rPr b="0" lang="en-US" sz="1600" spc="-1" strike="noStrike">
                <a:solidFill>
                  <a:srgbClr val="cccccc"/>
                </a:solidFill>
                <a:latin typeface="IBM Plex Mono"/>
              </a:rPr>
              <a:t>https://cryptpad.fr/drive/#/2/drive/view/upMpFMAvdGSjlCyjKBMPuIfS8c+pW0Lt9c9JWqB5swM/</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2026-05-03T12:17:28Z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