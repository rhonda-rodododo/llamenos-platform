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Phones on airplane mode if that's relevant to your threat model — and if you're at CounterSpy, it probably is. I'm Rhonda. This talk is about software I built because people I love were getting their phones seized at protests and their call records subpoenaed. Ninety minutes. I have a lot to show you. Questions during the talk — I'd rather it be a conversation than a monologue. Before I start: I am not selling you anything. This is AGPL-3.0 software. You can read every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Pause here. Let this land. This is not a hypothetical. Administrative subpoenas to US-based cloud providers require no judicial review. The provider doesn't have to tell you they complied. You might find out months later in a transparency report, or you might find out when a detective calls you. This is the low end of the threat we're designing against — paperwork. But we're also designing against the high end: nation-state adversaries with NSLs, runtime instrumentation budgets, and physical access to infrastructure. The architecture has to hold against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Raise your hand if you operate or support a crisis line. Keep it up if you're on Google Voice. Keep it up if you use Twilio directly. Keep it up if your volunteers write notes in Google Docs. Okay. I see you. You're the reason I'm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Rough timing: Parts 1-2 take about 20 min, Part 3 about 20 min, Parts 4-6 about 20 min, Parts 7-8 about 10 min, then Q&amp;A. Adjust based on audience questions throughout. The most important section is Part 4 — the subpoena matrix. That's where the architecture becomes real.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Let's start with who's coming for your org and why your current tools are a gift to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Name the adversaries directly. "Law enforcement" is too abstract. We're talking about cops. We're talking about ICE. We're talking about FBI with national security letters. We're talking about the private investigators that right-wing groups hire after getting org member lists from leak sites. We're also talking about nation-state actors who can compel hosting providers and instrument runtimes. The threat model matters because it determines what you protect against. We defend against all of these — from the detective with 48 hours and a form, up to a sophisticated adversary with physical access to infrastructure. That's the bar we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These are composites from real incidents — don't name the orgs, obviously. The point: these are not sophisticated attacks. They're paperwork. The attacker doesn't need to break encryption or compromise your server. They just need to ask your cloud provider nicely — or not so nicely — and the provider complies. Our job is to make that form useless.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Google's administrative subpoena compliance is extremely fast. I've spoken to people who only found out they were subpoenaed because they asked for a transparency report months later. The latency between the subpoena and the detective's phone call to the organizer was under 72 hours in at least one case I know of personally.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I want to be fair to Twilio. They publish transparency reports. They push back on some requests. But "they sometimes push back" is not a threat model. When law enforcement has a valid administrative subpoena, US-based providers comply. Twilio does not have a legal obligation to protect your volunteers from cops. That obligation is yours, and the way you fulfill it is through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why we talk about "attack surface reduction." You can't make the calls disappear. But you can make the call records useless, and the notes unreadable. That's the design goal. Not invisibility. Uselessness — turning what the adversary gets into something they can't act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Now let's talk about what we actually built. The core insight is: metadata is as dangerous as content. Who called whom, when, for how long — that's enough to identify an organizer, map a network, and build a harassment campaign.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SIP trunk is the key architectural move. Instead of "Twilio routes calls for you," you're saying "a PSTN number terminates at MY server, then I route." The call detail record lives on your infrastructure, not Twilio's. Self-hosted Asterisk/FreeSWITCH is the default deployment — the Ansible playbook sets it up. With no cloud SIP provider, there's no external party with records at all — just your database on your FDE-encrypted server, which you control. Cloud SIP providers like Telnyx exist as an option for orgs that aren't ready to run their own PBX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Walk through this slowly. The SIP bridge is the key piece — it's running on your server, behind a WireGuard tunnel for ingress, no public IP needed. The PSTN number is just a DID (Direct Inward Dial) from whatever SIP provider you chose. The caller's phone rings YOUR server. Not Twilio's server. Not Google's server. Yours.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subtle but important for OSINT defense. If an adversary can see CDRs, sequential ring tells them: here are the volunteer phone numbers, in order of who answers first, on which days. That's your volunteer mapping. Parallel ring gives them much less — and combined with CDR-free SIP trunks, the metadata posture is dramatically better. Also: parallel ring is better operations. In a real crisis line, if you ring volunteers sequentially, the first person gets all the calls. Parallel ring distributes load AND reduces timing correlation. Two wins.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default Ansible deployment gives you self-hosted Asterisk or FreeSWITCH — that's the recommended setup. But the adapter architecture means if an org needs to start with Twilio while building out infrastructure, they can, and migrate later with zero code changes — just update PBX_TYPE in your .env. The SIP bridge is provider-agnostic. You don't want to rewrite your hotline infrastructure every time your threat model evolves.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WireGuard tunnel means your server doesn't need a public IP. No port scanning. No DDoS directly at your IP. IP address not exposed to clients. No third-party TLS termination — the tunnel is point-to-point encrypted between your server and your entry node.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Now the most important part — what happens after the call. The notes. The conversation history. The reason your server is valuable to an adversary. Let me show you what "zero-knowledge" actually means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the core promise. If your server is compromised, if you're served a subpoena, if an admin is coerced — they get encrypted blobs. To read a note, you need the volunteer's private key. The private key never leaves the device. Ever. The server is a zero-knowledge relay. It's moving data it can't read.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"Forward secrecy" means: if someone gets a volunteer's identity key tomorrow, it doesn't let them decrypt yesterday's notes. Each note has its own random 256-bit key. The identity key is only used to WRAP the per-note key — not to encrypt content directly. So even if the identity key is compromised, the attacker has to also get the wrapped note key for each individual note. It's envelopes inside envelopes. A whole detective novel's worth of extra homework.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one of the things I'm most proud of. We moved transcription from a cloud API to in-browser WASM — Whisper via Hugging Face's ONNX runtime. The audio is captured by MediaRecorder, processed in a Web Worker, and the resulting transcript text is encrypted immediately with the note's E2EE key. No network request. No API key. No transcript provider. The call audio exists only in browser memory for the duration of the processing. For this audience: that's huge. That's the audio equivalent of zero-knowledge.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v1 → v2 migration came out of a review by a cryptographer who has worked on Signal's protocol. The core problem with v1 was: it worked, but "it worked" is not the same as "it's formally verified." A custom ECIES scheme using Nostr's secp256k1 curve — you can't point a peer at an RFC and say "that's what we do." HPKE is an IETF RFC. It's the same key agreement used in TLS 1.3's 0-RTT mode. The formal security analysis exists. That matters when you're trying to explain your security model to a lawyer, a journalist, or another cryptographer.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"Albrecht defense" — named after Martin Albrecht's work on cross-protocol attacks in real-world deployments. If you use the same KDF with the same inputs across two different operations, an attacker who can interact with one context might be able to influence the other. Domain separation labels prevent this by binding every HKDF/ECDH/HPKE output to its specific purpose. We generate these constants from a single JSON file and compile them to TypeScript, Swift, and Kotlin via codegen. No raw string literals anywhere in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sigchain is conceptually borrowed from Signal's sealed sender. Each device authorization is a signed statement from an already-authorized device. You verify a new device by comparing a Short Authentication String — four emoji, six words, whatever — between the two devices. This prevents a MITM from injecting a rogue device into your account. And importantly: if one device is seized, the other devices aren't automatically compromised. Device compromise is local.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important for Signal integration especially. When someone sends a Signal message to your org's Signal number, the server receives it, encrypts it immediately, and throws away the plaintext. Even if the server is compromised moments after the message arrives, the plaintext is gone. The attacker gets ciphertext. This is different from how most messaging integrations work — most store the plaintext forever. We discard it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the slide I really want this audience to internalize. Let me walk through each subpoena scenario concretely. What does each adversary actually get, and what can't they get.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the key scenario. Law enforcement goes to your hosting provider. With 1984 Hosting in Iceland, they're outside US CLOUD Act jurisdiction — a US subpoena doesn't work, they'd need an MLAT request through Icelandic courts, which takes months and has a higher bar. Even if they succeed, what does the provider hand over? Encrypted blobs, timestamps, and hashed phone numbers. The disk is FDE with your custom ISO — 1984 can't read it at rest. They can prove a call happened. They cannot read what was said in the notes. They cannot identify the caller. Metadata: yes. Content: no. That's a meaningful 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why the SIP trunk choice matters. With Twilio Programmable Voice: they have everything. With Telnyx CDR-free SIP trunk: they have much less — just the DID termination record. With self-hosted Asterisk pointing at a SIP DID: the provider sees only that a call terminated at your server, and your server is what you just talked about — encrypted blobs and metadata.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device seizure scenario is worth walking through carefully. If a volunteer's phone is seized unlocked — bad day. Admin can revoke the session. The volunteer's notes are accessible but only their notes. If the phone is locked, the attacker needs to brute-force a 6-8 digit PIN against 600k PBKDF2 iterations. That's not impossible but it's not fast either. The admin device is the most sensitive — store it somewhere that isn't your pocket at a protest.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I want to say this clearly: we built this for the full threat spectrum. A county sheriff with a form and 48 hours is the easy case — we handle that trivially. But we also handle the hard case: an FBI agent with a national security letter, a fusion center correlating metadata across providers, a nation-state actor with physical access to your hosting infrastructure. FDE with a custom ISO on 1984 Hosting means even physical seizure of the disk doesn't help. CLOUD Act non-applicability means US legal process doesn't reach your provider. E2EE with per-device keys means server compromise reveals nothing. This is the full stack — not one layer, but defense in depth from the hosting jurisdiction to the key material on each device.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A lot of orgs already use Signal for internal coordination. We built a way to route Signal messages into the same zero-knowledge system. Let me explain what we actually built and what the field use cases look like.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impetus for Signal integration was feedback from legal observer networks. Their observers in the field have Signal, not a custom app, and they're not going to install one while they're watching police arrest people. They need to send: "12 people arrested, here are the names, badge number 4471 made the call." That message needs to be encrypted at rest, not sitting in a Signal group that includes 40 people with varying device security.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These aren't hypothetical. These are the workflows that led to the Signal integration request. The pattern is: someone in a high-stakes field situation needs to file a record, they can't stop and open a custom app, but they have Signal. The channel integration means that Signal message becomes an E2EE record in the case management system. No copy-paste. No manual logging later. It just appears, encrypted.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Signal sidecar is isolated from the main app. It communicates via a bearer token. If the sidecar is compromised, the attacker sees HMAC hashes, not phone numbers. The sidecar knows "hash ABC → Signal registration XYZ" but not "hash ABC → +14045551234". The mapping is hash to registration, not hash to number. This is what zero-knowledge contact resolution means: we can route notifications to people without knowing who they are.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Rate limiting is critical. Signal aggressively rate-limits bulk senders — if you blast 200 recipients without rate limiting, you'll get your org's Signal number banned. The delivery queue handles this. Also important: the identity key verification. If someone reinstalls Signal, they get a new identity key. The sidecar detects this as a safety number change and holds delivery pending manual review — same as Signal desktop does. This prevents you from accidentally sending to a number that's been taken over.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comes up in every conversation. "Why not just Signal for everything?" And the answer is: because we serve people in crisis who don't get to choose their communication channel. Someone calling from a county jail is on a monitored payphone. They don't have Signal. A family member who just found out their kid was arrested is calling the number on a flyer — they're not going to download an app in that moment. An organizer texting jail support updates about who's been released — that's already public information the moment the person walks out. SMS is fine for that. WhatsApp, RCS, Telegram are better if they have them. Signal is best if they have it. We support ALL of them because every threat model is different, and the right channel depends on the sensitivity of the specific communication, not a blanket policy.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We're not anti-Signal — we're deeply integrated with it. Account invites go via Signal, not email. Why? Because email leaves metadata everywhere. Your email provider knows you received an invite to a crisis hotline platform. That's the kind of thing that ends up in a fusion center database. Signal invites: the notifier sidecar uses HMAC-hashed contact identifiers, never stores plaintext phone numbers. The recipient gets a Signal message with an invite link. No email provider in the loop. Same with notifications — volunteer shift reminders, call alerts, they all go through Signal by default. PIN reset? Signal. Not email. The principle is: email is a surveillance channel. Every email provider is a potential subpoena target. Signal is the preferred transport for everything administrative. The other channels exist for the people you SERVE, not for your internal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I want to be transparent about our process. We had v1 working, we had a cryptographer review it, and they found real problems. Here's what we found and what we changed. This is important: don't use software where the developers are afraid to talk about what they got wrong.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I want to be clear: v1 wasn't broken in the sense of "trivially exploited by a script kiddie." The issues were architectural weaknesses that would matter against a sophisticated cryptographic adversary. The review was valuable precisely because it forced us to think through each protocol detail. None of the changes were cosmetic. Each one closes a specific attack class.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the question that killed v1. We had a perfectly good web-based E2EE system. The noble-curves library is audited, constant-time, the algorithms were correct. But it didn't matter. Because here's the scenario: a law enforcement agency serves a subpoena on your hosting provider. They don't ask for the encrypted data — they know they can't decrypt it. Instead, they ask the provider to modify the JavaScript that gets served to users on next page load. A tiny change: before encrypting, also POST the plaintext to a different endpoint. The user sees the same UI. The same green lock icon. The same "end-to-end encrypted" badge. But their notes are being exfiltrated in plaintext. This isn't theoretical. This is how web-based E2EE systems are attacked by sophisticated adversaries. ProtonMail has written about this. The Lavabit case established the precedent. For our threat model — activists facing law enforcement with subpoena power — a web app is a liability, not a protection. That's why v2 is native clients only.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On mobile there is NO webview. The iOS app is native SwiftUI. The Android app is native Kotlin Compose. The crypto layer is a shared Rust crate compiled to an XCFramework for iOS via UniFFI, and JNI shared library for Android. The UI code never touches private keys — CryptoService is a singleton, the ViewModel gets pubkeys for display, that's it. On desktop, Tauri has a webview for the React UI, but the Rust backend process holds the keys. The webview calls Rust via IPC. If someone finds an XSS in our React code, they can mess up the UI but they cannot exfiltrate keys — the keys are in a different process. The critical difference from a web app: the code running on your device is the binary you installed. It doesn't change on every page load. It can be reproducibly built and verified. Your server serves encrypted data to the client. It never serves code. That's the architecture that makes E2EE meaningful against our threat model.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platform shift is the headline, but the crypto protocol changed too. HPKE replaces our custom ECIES — you can point a cryptographer at RFC 9180 and they can verify our implementation against a specification, not against our own claims. Per-device keys mean compromising one device doesn't compromise all your other devices. The sigchain means you can revoke a compromised device without rotating your identity. These are all changes that came from the crypto review.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Signal's design principle applied to a hotline platform. One Rust crate, compiled to native binary for desktop, XCFramework via UniFFI for iOS, JNI shared library for Android. WASM build exists too — but only for browser-based tests, not for the production app. The production app is ALWAYS native. Why does this matter? Because the security boundary is the process boundary. On desktop, the Tauri webview renders React — it handles UI, routing, forms. Every crypto operation goes through IPC to the Rust backend process. The webview literally does not have access to the device private key. It can ask Rust to sign something, decrypt something, but it never sees the key. Same on mobile — the CryptoService is a singleton that wraps the FFI. The ViewModel gets pubkeys for display. It never gets private keys. If someone finds an XSS in our React code — which is possible, we're not arrogant about that — they can mess up the UI. They cannot exfiltrate keys. That's the platform shift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SFrame is an IETF RFC (9605) for media frame encryption. Designed for WebRTC streams. The key derivation is integrated into packages/crypto — same Rust crate, same audit surface. What this means: a compromised SIP bridge sees only encrypted media frames, not call audio. The wiretap is broken at the media layer.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What does it actually take to run this? This section is for the people in the room who are thinking about deploying it, or who are advising orgs that might.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strfry Nostr relay is not optional — it's the real-time event bus between server and clients. Your Nostr relay, running on your infrastructure, not one of the public ones. This is important: hub events, call routing, presence — all go through the relay. That relay is yours. We host on 1984 Hosting in Iceland — they're not subject to the US CLOUD Act, which means a US subpoena doesn't compel them to hand over data. They support custom FDE ISOs, so you control the full-disk encryption key — even 1984 staff can't read your disk at rest. Cost for a small org: 2 CPU, 4GB RAM VPS on 1984 is about €10/month. SIP DID from Telnyx is $1-5/month. That's the infrastructure cost for a nation-state-resistant hotline.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This is intentional. We didn't build a "jail support app" that gets repurposed. We built secure routing and case management infrastructure that you configure via templates. Your org's use case is a JSON file. If you change use cases — new template. If a different org wants to use Llámenos — different template. The platform doesn't care what kind of crisis hotline you run. You define the entities, the report types, the fields, the workflows.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Multi-hub came from feedback that orgs don't run one line — they run several. The jail support crew runs overnight. The rapid response crew runs during protests. The community safety line runs all the time. Before Llámenos, each of these was a separate system — or worse, a separate phone number with volunteers managing multiple Google Voice accounts. Multi-hub means one deployment, one set of volunteers, multiple operational contexts. Each hub is cryptographically isolated.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I want to close with honesty. Llámenos is a significant improvement over Google Voice and Twilio direct. It is not magic. Here's what we can't protect against, and I want to say this clearly so you don't deploy it with false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Admin coercion deserves a mention. If an admin is physically coerced — that's a bad day. They can decrypt notes. This is not a flaw in the cryptography — it's a fundamental property of any multi-admin system where admins need to read records. The design choice: admins need case management access, so they have an envelope on every note. If your threat model includes coerced admins, store the admin key on an air-gapped device that doesn't travel to protests.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"seized server" question matters. If law enforcement seizes your server, they get encrypted blobs and call metadata. They do NOT get note content or plaintext caller IDs — if you've configured CDR-free SIP. That's a meaningful protection. It means they have to come back with something harder to get than an administrative subpoena. And that means more time, more scrutiny, more opportunity for your legal team to fight it. Not invincibility. But friction.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b="0" i="0">
                <a:solidFill>
                  <a:srgbClr val="333333"/>
                </a:solidFill>
                <a:latin typeface="IBM Plex Mono"/>
              </a:rPr>
              <a:t>The project is pre-production. No production users yet. We need orgs with real security needs who are willing to give us real-world feedback. If you've been subpoenaed — I want to talk to you specifically. Your experience stress-tests our assumptions in ways that theoretical analysis cannot. Come find me after this. I'll be the one by the coffee trying to convince people that self-hosting a Nostr relay is worth it. Likely questions: 1. "What does it cost?" — €10-20/month VPS on 1984 Hosting (Iceland). $1-5/month SIP DID. That's it. 2. "What about GDPR?" — HMAC-hashed caller numbers, E2EE content, Icelandic hosting outside CLOUD Act. Caller data question for your DPA. 3. "Can we port our Google Voice number?" — Yes. Port to a SIP-capable provider, point at your trunk. 4. "What's the status of MLS?" — Behind a feature flag. Functional, not battle-tested. Wait for the RFC to stabilize. 5. "What if a volunteer leaves badly?" — Hub key rotation. Future notes inaccessible. Historical notes they took: they still have their device key. That's the forward secrecy trade-off. Same as any E2EE system. 6. "Can we use this with existing Twilio numbers?" — Yes, via Twilio Elastic SIP Trunking — different from Programmable Voice API, better CDR posture.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1645920"/>
            <a:ext cx="11094415" cy="1097280"/>
          </a:xfrm>
          <a:prstGeom prst="rect">
            <a:avLst/>
          </a:prstGeom>
          <a:noFill/>
        </p:spPr>
        <p:txBody>
          <a:bodyPr wrap="square">
            <a:spAutoFit/>
          </a:bodyPr>
          <a:lstStyle/>
          <a:p>
            <a:pPr algn="ctr"/>
            <a:r>
              <a:rPr sz="5000" b="1" i="0">
                <a:solidFill>
                  <a:srgbClr val="F0F0F0"/>
                </a:solidFill>
                <a:latin typeface="JetBrains Mono"/>
              </a:rPr>
              <a:t>Llamenos Hotline</a:t>
            </a:r>
          </a:p>
          <a:p>
            <a:pPr algn="ctr">
              <a:spcBef>
                <a:spcPts val="800"/>
              </a:spcBef>
              <a:spcAft>
                <a:spcPts val="200"/>
              </a:spcAft>
            </a:pPr>
            <a:r>
              <a:rPr sz="2600" b="0" i="0">
                <a:solidFill>
                  <a:srgbClr val="F0C674"/>
                </a:solidFill>
                <a:latin typeface="Source Code Pro"/>
              </a:rPr>
              <a:t>More Secure Hubs for Your Spokes</a:t>
            </a:r>
          </a:p>
        </p:txBody>
      </p:sp>
      <p:sp>
        <p:nvSpPr>
          <p:cNvPr id="3" name="Rectangle 2"/>
          <p:cNvSpPr/>
          <p:nvPr/>
        </p:nvSpPr>
        <p:spPr>
          <a:xfrm>
            <a:off x="4114800" y="3200400"/>
            <a:ext cx="39319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566160"/>
            <a:ext cx="11094415" cy="914400"/>
          </a:xfrm>
          <a:prstGeom prst="rect">
            <a:avLst/>
          </a:prstGeom>
          <a:noFill/>
        </p:spPr>
        <p:txBody>
          <a:bodyPr wrap="square">
            <a:spAutoFit/>
          </a:bodyPr>
          <a:lstStyle/>
          <a:p/>
          <a:p>
            <a:pPr algn="ctr">
              <a:spcBef>
                <a:spcPts val="200"/>
              </a:spcBef>
              <a:spcAft>
                <a:spcPts val="200"/>
              </a:spcAft>
            </a:pPr>
            <a:r>
              <a:rPr sz="1600" b="0" i="0">
                <a:solidFill>
                  <a:srgbClr val="999999"/>
                </a:solidFill>
                <a:latin typeface="IBM Plex Mono"/>
              </a:rPr>
              <a:t>CounterSpy 2026 — Atlanta, Sunday May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It Started Like This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1">
                <a:solidFill>
                  <a:srgbClr val="CCCCCC"/>
                </a:solidFill>
                <a:latin typeface="Source Code Pro"/>
              </a:rPr>
              <a:t>A detective in Atlanta called an organizer at 9:37am on a Tuesday. He knew her name. He knew she'd answered calls at 11pm, 1am, and 2am during the protest. He cited specific call durations.</a:t>
            </a:r>
          </a:p>
          <a:p>
            <a:pPr>
              <a:spcBef>
                <a:spcPts val="300"/>
              </a:spcBef>
              <a:spcAft>
                <a:spcPts val="200"/>
              </a:spcAft>
            </a:pPr>
            <a:r>
              <a:rPr sz="1600" b="0" i="1">
                <a:solidFill>
                  <a:srgbClr val="CCCCCC"/>
                </a:solidFill>
                <a:latin typeface="Source Code Pro"/>
              </a:rPr>
              <a:t>She'd been running her org's crisis line through Google Voice. The detective had served an administrative subpoena on Google three days earlier. Google had complied within 48 hours. She didn't know.</a:t>
            </a:r>
          </a:p>
          <a:p>
            <a:pPr algn="ctr">
              <a:spcBef>
                <a:spcPts val="800"/>
              </a:spcBef>
              <a:spcAft>
                <a:spcPts val="200"/>
              </a:spcAft>
            </a:pPr>
            <a:r>
              <a:rPr sz="1600" b="0" i="1">
                <a:solidFill>
                  <a:srgbClr val="5CC4B0"/>
                </a:solidFill>
                <a:latin typeface="Source Code Pro"/>
              </a:rPr>
              <a:t>He didn't need a warrant. He needed a form and 48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Who This Talk Is For</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Legal observer networks</a:t>
            </a:r>
            <a:r>
              <a:rPr sz="1600" b="0" i="0">
                <a:solidFill>
                  <a:srgbClr val="CCCCCC"/>
                </a:solidFill>
                <a:latin typeface="IBM Plex Mono"/>
              </a:rPr>
              <a:t> documenting state violence at protests</a:t>
            </a:r>
          </a:p>
          <a:p>
            <a:pPr>
              <a:spcBef>
                <a:spcPts val="300"/>
              </a:spcBef>
              <a:spcAft>
                <a:spcPts val="200"/>
              </a:spcAft>
            </a:pPr>
            <a:r>
              <a:rPr sz="1600" b="1" i="0">
                <a:solidFill>
                  <a:srgbClr val="F0C674"/>
                </a:solidFill>
                <a:latin typeface="IBM Plex Mono"/>
              </a:rPr>
              <a:t>  •  Jail support</a:t>
            </a:r>
            <a:r>
              <a:rPr sz="1600" b="0" i="0">
                <a:solidFill>
                  <a:srgbClr val="CCCCCC"/>
                </a:solidFill>
                <a:latin typeface="IBM Plex Mono"/>
              </a:rPr>
              <a:t> hotlines taking calls from detainees and families</a:t>
            </a:r>
          </a:p>
          <a:p>
            <a:pPr>
              <a:spcBef>
                <a:spcPts val="300"/>
              </a:spcBef>
              <a:spcAft>
                <a:spcPts val="200"/>
              </a:spcAft>
            </a:pPr>
            <a:r>
              <a:rPr sz="1600" b="1" i="0">
                <a:solidFill>
                  <a:srgbClr val="F0C674"/>
                </a:solidFill>
                <a:latin typeface="IBM Plex Mono"/>
              </a:rPr>
              <a:t>  •  Mutual aid dispatchers</a:t>
            </a:r>
            <a:r>
              <a:rPr sz="1600" b="0" i="0">
                <a:solidFill>
                  <a:srgbClr val="CCCCCC"/>
                </a:solidFill>
                <a:latin typeface="IBM Plex Mono"/>
              </a:rPr>
              <a:t> coordinating direct action support</a:t>
            </a:r>
          </a:p>
          <a:p>
            <a:pPr>
              <a:spcBef>
                <a:spcPts val="300"/>
              </a:spcBef>
              <a:spcAft>
                <a:spcPts val="200"/>
              </a:spcAft>
            </a:pPr>
            <a:r>
              <a:rPr sz="1600" b="1" i="0">
                <a:solidFill>
                  <a:srgbClr val="F0C674"/>
                </a:solidFill>
                <a:latin typeface="IBM Plex Mono"/>
              </a:rPr>
              <a:t>  •  Domestic violence crisis lines</a:t>
            </a:r>
            <a:r>
              <a:rPr sz="1600" b="0" i="0">
                <a:solidFill>
                  <a:srgbClr val="CCCCCC"/>
                </a:solidFill>
                <a:latin typeface="IBM Plex Mono"/>
              </a:rPr>
              <a:t> protecting caller identity</a:t>
            </a:r>
          </a:p>
          <a:p>
            <a:pPr>
              <a:spcBef>
                <a:spcPts val="300"/>
              </a:spcBef>
              <a:spcAft>
                <a:spcPts val="200"/>
              </a:spcAft>
            </a:pPr>
            <a:r>
              <a:rPr sz="1600" b="1" i="0">
                <a:solidFill>
                  <a:srgbClr val="F0C674"/>
                </a:solidFill>
                <a:latin typeface="IBM Plex Mono"/>
              </a:rPr>
              <a:t>  •  Immigration legal hotlines</a:t>
            </a:r>
            <a:r>
              <a:rPr sz="1600" b="0" i="0">
                <a:solidFill>
                  <a:srgbClr val="CCCCCC"/>
                </a:solidFill>
                <a:latin typeface="IBM Plex Mono"/>
              </a:rPr>
              <a:t> where the call log is evidence</a:t>
            </a:r>
          </a:p>
          <a:p>
            <a:pPr>
              <a:spcBef>
                <a:spcPts val="300"/>
              </a:spcBef>
              <a:spcAft>
                <a:spcPts val="200"/>
              </a:spcAft>
            </a:pPr>
            <a:r>
              <a:rPr sz="1600" b="1" i="0">
                <a:solidFill>
                  <a:srgbClr val="F0C674"/>
                </a:solidFill>
                <a:latin typeface="IBM Plex Mono"/>
              </a:rPr>
              <a:t>  •  Rapid response coalitions</a:t>
            </a:r>
            <a:r>
              <a:rPr sz="1600" b="0" i="0">
                <a:solidFill>
                  <a:srgbClr val="CCCCCC"/>
                </a:solidFill>
                <a:latin typeface="IBM Plex Mono"/>
              </a:rPr>
              <a:t> with time-sensitive routing needs</a:t>
            </a:r>
          </a:p>
          <a:p>
            <a:pPr algn="ctr">
              <a:spcBef>
                <a:spcPts val="800"/>
              </a:spcBef>
              <a:spcAft>
                <a:spcPts val="200"/>
              </a:spcAft>
            </a:pPr>
            <a:r>
              <a:rPr sz="1600" b="0" i="1">
                <a:solidFill>
                  <a:srgbClr val="5CC4B0"/>
                </a:solidFill>
                <a:latin typeface="Source Code Pro"/>
              </a:rPr>
              <a:t>If you're running a phone-based support operation for people who face real threats — this talk is for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What I'll Cover</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E84D4D"/>
                </a:solidFill>
                <a:latin typeface="Fira Code"/>
              </a:rPr>
              <a:t>  1.  </a:t>
            </a:r>
            <a:r>
              <a:rPr sz="1600" b="1" i="0">
                <a:solidFill>
                  <a:srgbClr val="F0F0F0"/>
                </a:solidFill>
                <a:latin typeface="JetBrains Mono"/>
              </a:rPr>
              <a:t>Why existing tools fail</a:t>
            </a:r>
            <a:r>
              <a:rPr sz="1600" b="0" i="0">
                <a:solidFill>
                  <a:srgbClr val="999999"/>
                </a:solidFill>
                <a:latin typeface="IBM Plex Mono"/>
              </a:rPr>
              <a:t> the activist threat model (and specifically how)</a:t>
            </a:r>
          </a:p>
          <a:p>
            <a:pPr>
              <a:spcBef>
                <a:spcPts val="400"/>
              </a:spcBef>
              <a:spcAft>
                <a:spcPts val="200"/>
              </a:spcAft>
            </a:pPr>
            <a:r>
              <a:rPr sz="1600" b="1" i="0">
                <a:solidFill>
                  <a:srgbClr val="E84D4D"/>
                </a:solidFill>
                <a:latin typeface="Fira Code"/>
              </a:rPr>
              <a:t>  2.  </a:t>
            </a:r>
            <a:r>
              <a:rPr sz="1600" b="1" i="0">
                <a:solidFill>
                  <a:srgbClr val="F0F0F0"/>
                </a:solidFill>
                <a:latin typeface="JetBrains Mono"/>
              </a:rPr>
              <a:t>SIP trunking</a:t>
            </a:r>
            <a:r>
              <a:rPr sz="1600" b="0" i="0">
                <a:solidFill>
                  <a:srgbClr val="999999"/>
                </a:solidFill>
                <a:latin typeface="IBM Plex Mono"/>
              </a:rPr>
              <a:t> — why call routing matters for privacy</a:t>
            </a:r>
          </a:p>
          <a:p>
            <a:pPr>
              <a:spcBef>
                <a:spcPts val="400"/>
              </a:spcBef>
              <a:spcAft>
                <a:spcPts val="200"/>
              </a:spcAft>
            </a:pPr>
            <a:r>
              <a:rPr sz="1600" b="1" i="0">
                <a:solidFill>
                  <a:srgbClr val="E84D4D"/>
                </a:solidFill>
                <a:latin typeface="Fira Code"/>
              </a:rPr>
              <a:t>  3.  </a:t>
            </a:r>
            <a:r>
              <a:rPr sz="1600" b="1" i="0">
                <a:solidFill>
                  <a:srgbClr val="F0F0F0"/>
                </a:solidFill>
                <a:latin typeface="JetBrains Mono"/>
              </a:rPr>
              <a:t>E2EE notes and messages</a:t>
            </a:r>
            <a:r>
              <a:rPr sz="1600" b="0" i="0">
                <a:solidFill>
                  <a:srgbClr val="999999"/>
                </a:solidFill>
                <a:latin typeface="IBM Plex Mono"/>
              </a:rPr>
              <a:t> — what "zero-knowledge server" actually means</a:t>
            </a:r>
          </a:p>
          <a:p>
            <a:pPr>
              <a:spcBef>
                <a:spcPts val="400"/>
              </a:spcBef>
              <a:spcAft>
                <a:spcPts val="200"/>
              </a:spcAft>
            </a:pPr>
            <a:r>
              <a:rPr sz="1600" b="1" i="0">
                <a:solidFill>
                  <a:srgbClr val="E84D4D"/>
                </a:solidFill>
                <a:latin typeface="Fira Code"/>
              </a:rPr>
              <a:t>  4.  </a:t>
            </a:r>
            <a:r>
              <a:rPr sz="1600" b="1" i="0">
                <a:solidFill>
                  <a:srgbClr val="F0F0F0"/>
                </a:solidFill>
                <a:latin typeface="JetBrains Mono"/>
              </a:rPr>
              <a:t>What a subpoena actually gets</a:t>
            </a:r>
            <a:r>
              <a:rPr sz="1600" b="0" i="0">
                <a:solidFill>
                  <a:srgbClr val="999999"/>
                </a:solidFill>
                <a:latin typeface="IBM Plex Mono"/>
              </a:rPr>
              <a:t> — walking through the matrix</a:t>
            </a:r>
          </a:p>
          <a:p>
            <a:pPr>
              <a:spcBef>
                <a:spcPts val="400"/>
              </a:spcBef>
              <a:spcAft>
                <a:spcPts val="200"/>
              </a:spcAft>
            </a:pPr>
            <a:r>
              <a:rPr sz="1600" b="1" i="0">
                <a:solidFill>
                  <a:srgbClr val="E84D4D"/>
                </a:solidFill>
                <a:latin typeface="Fira Code"/>
              </a:rPr>
              <a:t>  5.  </a:t>
            </a:r>
            <a:r>
              <a:rPr sz="1600" b="1" i="0">
                <a:solidFill>
                  <a:srgbClr val="F0F0F0"/>
                </a:solidFill>
                <a:latin typeface="JetBrains Mono"/>
              </a:rPr>
              <a:t>Signal channel integration</a:t>
            </a:r>
            <a:r>
              <a:rPr sz="1600" b="0" i="0">
                <a:solidFill>
                  <a:srgbClr val="999999"/>
                </a:solidFill>
                <a:latin typeface="IBM Plex Mono"/>
              </a:rPr>
              <a:t> — for orgs using Signal in the field</a:t>
            </a:r>
          </a:p>
          <a:p>
            <a:pPr>
              <a:spcBef>
                <a:spcPts val="400"/>
              </a:spcBef>
              <a:spcAft>
                <a:spcPts val="200"/>
              </a:spcAft>
            </a:pPr>
            <a:r>
              <a:rPr sz="1600" b="1" i="0">
                <a:solidFill>
                  <a:srgbClr val="E84D4D"/>
                </a:solidFill>
                <a:latin typeface="Fira Code"/>
              </a:rPr>
              <a:t>  6.  </a:t>
            </a:r>
            <a:r>
              <a:rPr sz="1600" b="1" i="0">
                <a:solidFill>
                  <a:srgbClr val="F0F0F0"/>
                </a:solidFill>
                <a:latin typeface="JetBrains Mono"/>
              </a:rPr>
              <a:t>What changed in v2</a:t>
            </a:r>
            <a:r>
              <a:rPr sz="1600" b="0" i="0">
                <a:solidFill>
                  <a:srgbClr val="999999"/>
                </a:solidFill>
                <a:latin typeface="IBM Plex Mono"/>
              </a:rPr>
              <a:t> — results of a crypto review</a:t>
            </a:r>
          </a:p>
          <a:p>
            <a:pPr>
              <a:spcBef>
                <a:spcPts val="400"/>
              </a:spcBef>
              <a:spcAft>
                <a:spcPts val="200"/>
              </a:spcAft>
            </a:pPr>
            <a:r>
              <a:rPr sz="1600" b="1" i="0">
                <a:solidFill>
                  <a:srgbClr val="E84D4D"/>
                </a:solidFill>
                <a:latin typeface="Fira Code"/>
              </a:rPr>
              <a:t>  7.  </a:t>
            </a:r>
            <a:r>
              <a:rPr sz="1600" b="1" i="0">
                <a:solidFill>
                  <a:srgbClr val="F0F0F0"/>
                </a:solidFill>
                <a:latin typeface="JetBrains Mono"/>
              </a:rPr>
              <a:t>Self-hosting</a:t>
            </a:r>
            <a:r>
              <a:rPr sz="1600" b="0" i="0">
                <a:solidFill>
                  <a:srgbClr val="999999"/>
                </a:solidFill>
                <a:latin typeface="IBM Plex Mono"/>
              </a:rPr>
              <a:t> — what it takes, what it costs, what it protects</a:t>
            </a:r>
          </a:p>
          <a:p>
            <a:pPr>
              <a:spcBef>
                <a:spcPts val="400"/>
              </a:spcBef>
              <a:spcAft>
                <a:spcPts val="200"/>
              </a:spcAft>
            </a:pPr>
            <a:r>
              <a:rPr sz="1600" b="1" i="0">
                <a:solidFill>
                  <a:srgbClr val="E84D4D"/>
                </a:solidFill>
                <a:latin typeface="Fira Code"/>
              </a:rPr>
              <a:t>  8.  </a:t>
            </a:r>
            <a:r>
              <a:rPr sz="1600" b="1" i="0">
                <a:solidFill>
                  <a:srgbClr val="F0F0F0"/>
                </a:solidFill>
                <a:latin typeface="JetBrains Mono"/>
              </a:rPr>
              <a:t>What we still can't protect</a:t>
            </a:r>
            <a:r>
              <a:rPr sz="1600" b="0" i="0">
                <a:solidFill>
                  <a:srgbClr val="999999"/>
                </a:solidFill>
                <a:latin typeface="IBM Plex Mono"/>
              </a:rPr>
              <a:t> — be honest about the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1</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The Problem</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Your Adversaries, Named</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State actors</a:t>
            </a:r>
          </a:p>
          <a:p>
            <a:pPr>
              <a:spcBef>
                <a:spcPts val="300"/>
              </a:spcBef>
              <a:spcAft>
                <a:spcPts val="200"/>
              </a:spcAft>
            </a:pPr>
            <a:r>
              <a:rPr sz="1600" b="1" i="0">
                <a:solidFill>
                  <a:srgbClr val="F0C674"/>
                </a:solidFill>
                <a:latin typeface="IBM Plex Mono"/>
              </a:rPr>
              <a:t>  •  Local police</a:t>
            </a:r>
            <a:r>
              <a:rPr sz="1600" b="0" i="0">
                <a:solidFill>
                  <a:srgbClr val="CCCCCC"/>
                </a:solidFill>
                <a:latin typeface="IBM Plex Mono"/>
              </a:rPr>
              <a:t> with administrative subpoenas (no judge, 24-72 hrs)</a:t>
            </a:r>
          </a:p>
          <a:p>
            <a:pPr>
              <a:spcBef>
                <a:spcPts val="300"/>
              </a:spcBef>
              <a:spcAft>
                <a:spcPts val="200"/>
              </a:spcAft>
            </a:pPr>
            <a:r>
              <a:rPr sz="1600" b="1" i="0">
                <a:solidFill>
                  <a:srgbClr val="F0C674"/>
                </a:solidFill>
                <a:latin typeface="IBM Plex Mono"/>
              </a:rPr>
              <a:t>  •  Federal agencies</a:t>
            </a:r>
            <a:r>
              <a:rPr sz="1600" b="0" i="0">
                <a:solidFill>
                  <a:srgbClr val="CCCCCC"/>
                </a:solidFill>
                <a:latin typeface="IBM Plex Mono"/>
              </a:rPr>
              <a:t> (FBI, ICE) with NSLs and grand jury subpoenas</a:t>
            </a:r>
          </a:p>
          <a:p>
            <a:pPr>
              <a:spcBef>
                <a:spcPts val="300"/>
              </a:spcBef>
              <a:spcAft>
                <a:spcPts val="200"/>
              </a:spcAft>
            </a:pPr>
            <a:r>
              <a:rPr sz="1600" b="1" i="0">
                <a:solidFill>
                  <a:srgbClr val="F0C674"/>
                </a:solidFill>
                <a:latin typeface="IBM Plex Mono"/>
              </a:rPr>
              <a:t>  •  Fusion centers</a:t>
            </a:r>
            <a:r>
              <a:rPr sz="1600" b="0" i="0">
                <a:solidFill>
                  <a:srgbClr val="CCCCCC"/>
                </a:solidFill>
                <a:latin typeface="IBM Plex Mono"/>
              </a:rPr>
              <a:t> correlating data across agencies</a:t>
            </a:r>
          </a:p>
          <a:p>
            <a:pPr>
              <a:spcBef>
                <a:spcPts val="300"/>
              </a:spcBef>
              <a:spcAft>
                <a:spcPts val="200"/>
              </a:spcAft>
            </a:pPr>
            <a:r>
              <a:rPr sz="1600" b="0" i="0">
                <a:solidFill>
                  <a:srgbClr val="CCCCCC"/>
                </a:solidFill>
                <a:latin typeface="IBM Plex Mono"/>
              </a:rPr>
              <a:t>  •  DHS behavioral analysis units pattern-matching on call timing</a:t>
            </a:r>
          </a:p>
          <a:p>
            <a:pPr>
              <a:spcBef>
                <a:spcPts val="800"/>
              </a:spcBef>
              <a:spcAft>
                <a:spcPts val="200"/>
              </a:spcAft>
            </a:pPr>
            <a:r>
              <a:rPr sz="1800" b="1" i="0">
                <a:solidFill>
                  <a:srgbClr val="E84D4D"/>
                </a:solidFill>
                <a:latin typeface="JetBrains Mono"/>
              </a:rPr>
              <a:t>Contracted/private</a:t>
            </a:r>
          </a:p>
          <a:p>
            <a:pPr>
              <a:spcBef>
                <a:spcPts val="300"/>
              </a:spcBef>
              <a:spcAft>
                <a:spcPts val="200"/>
              </a:spcAft>
            </a:pPr>
            <a:r>
              <a:rPr sz="1600" b="1" i="0">
                <a:solidFill>
                  <a:srgbClr val="F0C674"/>
                </a:solidFill>
                <a:latin typeface="IBM Plex Mono"/>
              </a:rPr>
              <a:t>  •  Right-wing groups</a:t>
            </a:r>
            <a:r>
              <a:rPr sz="1600" b="0" i="0">
                <a:solidFill>
                  <a:srgbClr val="CCCCCC"/>
                </a:solidFill>
                <a:latin typeface="IBM Plex Mono"/>
              </a:rPr>
              <a:t> with OSINT toolkits and PI contracts</a:t>
            </a:r>
          </a:p>
          <a:p>
            <a:pPr>
              <a:spcBef>
                <a:spcPts val="300"/>
              </a:spcBef>
              <a:spcAft>
                <a:spcPts val="200"/>
              </a:spcAft>
            </a:pPr>
            <a:r>
              <a:rPr sz="1600" b="1" i="0">
                <a:solidFill>
                  <a:srgbClr val="F0C674"/>
                </a:solidFill>
                <a:latin typeface="IBM Plex Mono"/>
              </a:rPr>
              <a:t>  •  Private investigators</a:t>
            </a:r>
            <a:r>
              <a:rPr sz="1600" b="0" i="0">
                <a:solidFill>
                  <a:srgbClr val="CCCCCC"/>
                </a:solidFill>
                <a:latin typeface="IBM Plex Mono"/>
              </a:rPr>
              <a:t> with carrier-level access and courthouse relationships</a:t>
            </a:r>
          </a:p>
          <a:p>
            <a:pPr>
              <a:spcBef>
                <a:spcPts val="300"/>
              </a:spcBef>
              <a:spcAft>
                <a:spcPts val="200"/>
              </a:spcAft>
            </a:pPr>
            <a:r>
              <a:rPr sz="1600" b="0" i="0">
                <a:solidFill>
                  <a:srgbClr val="CCCCCC"/>
                </a:solidFill>
                <a:latin typeface="IBM Plex Mono"/>
              </a:rPr>
              <a:t>  •  Doxxing crews targeting volunteers by name, employer, and neighborhood</a:t>
            </a:r>
          </a:p>
          <a:p>
            <a:pPr algn="ctr">
              <a:spcBef>
                <a:spcPts val="800"/>
              </a:spcBef>
              <a:spcAft>
                <a:spcPts val="200"/>
              </a:spcAft>
            </a:pPr>
            <a:r>
              <a:rPr sz="1600" b="0" i="1">
                <a:solidFill>
                  <a:srgbClr val="5CC4B0"/>
                </a:solidFill>
                <a:latin typeface="Source Code Pro"/>
              </a:rPr>
              <a:t>None of these adversaries need to break encryption. They go to your provider with a 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Real Scenarios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1">
                <a:solidFill>
                  <a:srgbClr val="CCCCCC"/>
                </a:solidFill>
                <a:latin typeface="Source Code Pro"/>
              </a:rPr>
              <a:t>A detective got a Google administrative subpoena. All incoming call records for the past 90 days: timestamps, caller IDs, duration. They called the organizer whose personal number showed up most often as the answering line.</a:t>
            </a:r>
          </a:p>
          <a:p>
            <a:pPr>
              <a:spcBef>
                <a:spcPts val="300"/>
              </a:spcBef>
              <a:spcAft>
                <a:spcPts val="200"/>
              </a:spcAft>
            </a:pPr>
            <a:r>
              <a:rPr sz="1600" b="0" i="1">
                <a:solidFill>
                  <a:srgbClr val="CCCCCC"/>
                </a:solidFill>
                <a:latin typeface="Source Code Pro"/>
              </a:rPr>
              <a:t>A Twilio account was subpoenaed during a protest response. The dashboard showed every call: who called, who answered, how long they talked. Volunteer phone numbers were in the CDRs.</a:t>
            </a:r>
          </a:p>
          <a:p>
            <a:pPr>
              <a:spcBef>
                <a:spcPts val="300"/>
              </a:spcBef>
              <a:spcAft>
                <a:spcPts val="200"/>
              </a:spcAft>
            </a:pPr>
            <a:r>
              <a:rPr sz="1600" b="0" i="1">
                <a:solidFill>
                  <a:srgbClr val="CCCCCC"/>
                </a:solidFill>
                <a:latin typeface="Source Code Pro"/>
              </a:rPr>
              <a:t>A volunteer's notes were in a shared Google Doc. The doc was in a G Suite account. The org didn't know Google had responded to a CIPA request until the legal case surfaced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Why Google Voice Fails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Call records</a:t>
            </a:r>
            <a:r>
              <a:rPr sz="1600" b="0" i="0">
                <a:solidFill>
                  <a:srgbClr val="CCCCCC"/>
                </a:solidFill>
                <a:latin typeface="IBM Plex Mono"/>
              </a:rPr>
              <a:t>: Google stores them. Administrative subpoena = Google hands them over within 48 hours.</a:t>
            </a:r>
          </a:p>
          <a:p>
            <a:pPr>
              <a:spcBef>
                <a:spcPts val="300"/>
              </a:spcBef>
              <a:spcAft>
                <a:spcPts val="200"/>
              </a:spcAft>
            </a:pPr>
            <a:r>
              <a:rPr sz="1600" b="1" i="0">
                <a:solidFill>
                  <a:srgbClr val="F0C674"/>
                </a:solidFill>
                <a:latin typeface="IBM Plex Mono"/>
              </a:rPr>
              <a:t>  •  Caller ID</a:t>
            </a:r>
            <a:r>
              <a:rPr sz="1600" b="0" i="0">
                <a:solidFill>
                  <a:srgbClr val="CCCCCC"/>
                </a:solidFill>
                <a:latin typeface="IBM Plex Mono"/>
              </a:rPr>
              <a:t>: Google sees the real number. You have it, they have it.</a:t>
            </a:r>
          </a:p>
          <a:p>
            <a:pPr>
              <a:spcBef>
                <a:spcPts val="300"/>
              </a:spcBef>
              <a:spcAft>
                <a:spcPts val="200"/>
              </a:spcAft>
            </a:pPr>
            <a:r>
              <a:rPr sz="1600" b="1" i="0">
                <a:solidFill>
                  <a:srgbClr val="F0C674"/>
                </a:solidFill>
                <a:latin typeface="IBM Plex Mono"/>
              </a:rPr>
              <a:t>  •  Account access</a:t>
            </a:r>
            <a:r>
              <a:rPr sz="1600" b="0" i="0">
                <a:solidFill>
                  <a:srgbClr val="CCCCCC"/>
                </a:solidFill>
                <a:latin typeface="IBM Plex Mono"/>
              </a:rPr>
              <a:t>: If the G Suite account is compromised, everything is exposed.</a:t>
            </a:r>
          </a:p>
          <a:p>
            <a:pPr>
              <a:spcBef>
                <a:spcPts val="300"/>
              </a:spcBef>
              <a:spcAft>
                <a:spcPts val="200"/>
              </a:spcAft>
            </a:pPr>
            <a:r>
              <a:rPr sz="1600" b="1" i="0">
                <a:solidFill>
                  <a:srgbClr val="F0C674"/>
                </a:solidFill>
                <a:latin typeface="IBM Plex Mono"/>
              </a:rPr>
              <a:t>  •  The volunteer's personal number</a:t>
            </a:r>
            <a:r>
              <a:rPr sz="1600" b="0" i="0">
                <a:solidFill>
                  <a:srgbClr val="CCCCCC"/>
                </a:solidFill>
                <a:latin typeface="IBM Plex Mono"/>
              </a:rPr>
              <a:t>: When they answer a Google Voice forwarded call, their phone number shows up in the CDR.</a:t>
            </a:r>
          </a:p>
          <a:p>
            <a:pPr algn="ctr">
              <a:spcBef>
                <a:spcPts val="800"/>
              </a:spcBef>
              <a:spcAft>
                <a:spcPts val="200"/>
              </a:spcAft>
            </a:pPr>
            <a:r>
              <a:rPr sz="1600" b="0" i="1">
                <a:solidFill>
                  <a:srgbClr val="5CC4B0"/>
                </a:solidFill>
                <a:latin typeface="Source Code Pro"/>
              </a:rPr>
              <a:t>Your Google Voice call log is basically a gift-wrapped package for any detective with a subpoena and 48 hours.</a:t>
            </a:r>
          </a:p>
          <a:p>
            <a:pPr algn="ctr">
              <a:spcBef>
                <a:spcPts val="800"/>
              </a:spcBef>
              <a:spcAft>
                <a:spcPts val="200"/>
              </a:spcAft>
            </a:pPr>
            <a:r>
              <a:rPr sz="1600" b="0" i="1">
                <a:solidFill>
                  <a:srgbClr val="5CC4B0"/>
                </a:solidFill>
                <a:latin typeface="Source Code Pro"/>
              </a:rPr>
              <a:t>Google Voice was designed for a business's customer support line. Not for a legal observer network.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Why Twilio Direct API Fails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CDRs in the dashboard</a:t>
            </a:r>
            <a:r>
              <a:rPr sz="1600" b="0" i="0">
                <a:solidFill>
                  <a:srgbClr val="CCCCCC"/>
                </a:solidFill>
                <a:latin typeface="IBM Plex Mono"/>
              </a:rPr>
              <a:t>: Every call — caller ID, called number, duration, timestamp — stored in Twilio's dashboard, forever, by default.</a:t>
            </a:r>
          </a:p>
          <a:p>
            <a:pPr>
              <a:spcBef>
                <a:spcPts val="300"/>
              </a:spcBef>
              <a:spcAft>
                <a:spcPts val="200"/>
              </a:spcAft>
            </a:pPr>
            <a:r>
              <a:rPr sz="1600" b="1" i="0">
                <a:solidFill>
                  <a:srgbClr val="F0C674"/>
                </a:solidFill>
                <a:latin typeface="IBM Plex Mono"/>
              </a:rPr>
              <a:t>  •  Twilio is US-based</a:t>
            </a:r>
            <a:r>
              <a:rPr sz="1600" b="0" i="0">
                <a:solidFill>
                  <a:srgbClr val="CCCCCC"/>
                </a:solidFill>
                <a:latin typeface="IBM Plex Mono"/>
              </a:rPr>
              <a:t>: Subject to US law. Administrative subpoenas. Grand jury subpoenas. NSLs.</a:t>
            </a:r>
          </a:p>
          <a:p>
            <a:pPr>
              <a:spcBef>
                <a:spcPts val="300"/>
              </a:spcBef>
              <a:spcAft>
                <a:spcPts val="200"/>
              </a:spcAft>
            </a:pPr>
            <a:r>
              <a:rPr sz="1600" b="1" i="0">
                <a:solidFill>
                  <a:srgbClr val="F0C674"/>
                </a:solidFill>
                <a:latin typeface="IBM Plex Mono"/>
              </a:rPr>
              <a:t>  •  TwiML Apps store config</a:t>
            </a:r>
            <a:r>
              <a:rPr sz="1600" b="0" i="0">
                <a:solidFill>
                  <a:srgbClr val="CCCCCC"/>
                </a:solidFill>
                <a:latin typeface="IBM Plex Mono"/>
              </a:rPr>
              <a:t>: Your volunteer phone numbers are in your Twilio account config.</a:t>
            </a:r>
          </a:p>
          <a:p>
            <a:pPr>
              <a:spcBef>
                <a:spcPts val="300"/>
              </a:spcBef>
              <a:spcAft>
                <a:spcPts val="200"/>
              </a:spcAft>
            </a:pPr>
            <a:r>
              <a:rPr sz="1600" b="1" i="0">
                <a:solidFill>
                  <a:srgbClr val="F0C674"/>
                </a:solidFill>
                <a:latin typeface="IBM Plex Mono"/>
              </a:rPr>
              <a:t>  •  Recording storage</a:t>
            </a:r>
            <a:r>
              <a:rPr sz="1600" b="0" i="0">
                <a:solidFill>
                  <a:srgbClr val="CCCCCC"/>
                </a:solidFill>
                <a:latin typeface="IBM Plex Mono"/>
              </a:rPr>
              <a:t>: If you record calls for "quality," those recordings are on Twilio S3. Under the same subpoena.</a:t>
            </a:r>
          </a:p>
          <a:p>
            <a:pPr algn="ctr">
              <a:spcBef>
                <a:spcPts val="800"/>
              </a:spcBef>
              <a:spcAft>
                <a:spcPts val="200"/>
              </a:spcAft>
            </a:pPr>
            <a:r>
              <a:rPr sz="1600" b="0" i="1">
                <a:solidFill>
                  <a:srgbClr val="5CC4B0"/>
                </a:solidFill>
                <a:latin typeface="Source Code Pro"/>
              </a:rPr>
              <a:t>Twilio is a great developer tool. It is a terrible privacy layer for activist hotlines.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The Subpoena Attack Surface</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2441448"/>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2258568"/>
          </a:xfrm>
          <a:prstGeom prst="rect">
            <a:avLst/>
          </a:prstGeom>
          <a:noFill/>
        </p:spPr>
        <p:txBody>
          <a:bodyPr wrap="square">
            <a:spAutoFit/>
          </a:bodyPr>
          <a:lstStyle/>
          <a:p>
            <a:pPr>
              <a:spcBef>
                <a:spcPts val="0"/>
              </a:spcBef>
              <a:spcAft>
                <a:spcPts val="0"/>
              </a:spcAft>
            </a:pPr>
            <a:r>
              <a:rPr sz="1200" b="0" i="0">
                <a:solidFill>
                  <a:srgbClr val="5CC4B0"/>
                </a:solidFill>
                <a:latin typeface="Fira Code"/>
              </a:rPr>
              <a:t>Google Voice account</a:t>
            </a:r>
          </a:p>
          <a:p>
            <a:pPr>
              <a:spcBef>
                <a:spcPts val="0"/>
              </a:spcBef>
              <a:spcAft>
                <a:spcPts val="0"/>
              </a:spcAft>
            </a:pPr>
            <a:r>
              <a:rPr sz="1200" b="0" i="0">
                <a:solidFill>
                  <a:srgbClr val="5CC4B0"/>
                </a:solidFill>
                <a:latin typeface="Fira Code"/>
              </a:rPr>
              <a:t>    ├── Call history (caller ID, timestamps, duration)</a:t>
            </a:r>
          </a:p>
          <a:p>
            <a:pPr>
              <a:spcBef>
                <a:spcPts val="0"/>
              </a:spcBef>
              <a:spcAft>
                <a:spcPts val="0"/>
              </a:spcAft>
            </a:pPr>
            <a:r>
              <a:rPr sz="1200" b="0" i="0">
                <a:solidFill>
                  <a:srgbClr val="5CC4B0"/>
                </a:solidFill>
                <a:latin typeface="Fira Code"/>
              </a:rPr>
              <a:t>    ├── Voicemail recordings (stored by Google)</a:t>
            </a:r>
          </a:p>
          <a:p>
            <a:pPr>
              <a:spcBef>
                <a:spcPts val="0"/>
              </a:spcBef>
              <a:spcAft>
                <a:spcPts val="0"/>
              </a:spcAft>
            </a:pPr>
            <a:r>
              <a:rPr sz="1200" b="0" i="0">
                <a:solidFill>
                  <a:srgbClr val="5CC4B0"/>
                </a:solidFill>
                <a:latin typeface="Fira Code"/>
              </a:rPr>
              <a:t>    └── Account holder identity → who runs the hotline</a:t>
            </a:r>
          </a:p>
          <a:p>
            <a:pPr>
              <a:spcBef>
                <a:spcPts val="0"/>
              </a:spcBef>
              <a:spcAft>
                <a:spcPts val="0"/>
              </a:spcAft>
            </a:pPr>
          </a:p>
          <a:p>
            <a:pPr>
              <a:spcBef>
                <a:spcPts val="0"/>
              </a:spcBef>
              <a:spcAft>
                <a:spcPts val="0"/>
              </a:spcAft>
            </a:pPr>
            <a:r>
              <a:rPr sz="1200" b="0" i="0">
                <a:solidFill>
                  <a:srgbClr val="5CC4B0"/>
                </a:solidFill>
                <a:latin typeface="Fira Code"/>
              </a:rPr>
              <a:t>Twilio dashboard  </a:t>
            </a:r>
          </a:p>
          <a:p>
            <a:pPr>
              <a:spcBef>
                <a:spcPts val="0"/>
              </a:spcBef>
              <a:spcAft>
                <a:spcPts val="0"/>
              </a:spcAft>
            </a:pPr>
            <a:r>
              <a:rPr sz="1200" b="0" i="0">
                <a:solidFill>
                  <a:srgbClr val="5CC4B0"/>
                </a:solidFill>
                <a:latin typeface="Fira Code"/>
              </a:rPr>
              <a:t>    ├── CDRs: every call, every participant phone number</a:t>
            </a:r>
          </a:p>
          <a:p>
            <a:pPr>
              <a:spcBef>
                <a:spcPts val="0"/>
              </a:spcBef>
              <a:spcAft>
                <a:spcPts val="0"/>
              </a:spcAft>
            </a:pPr>
            <a:r>
              <a:rPr sz="1200" b="0" i="0">
                <a:solidFill>
                  <a:srgbClr val="5CC4B0"/>
                </a:solidFill>
                <a:latin typeface="Fira Code"/>
              </a:rPr>
              <a:t>    ├── TwiML config: volunteer phone numbers</a:t>
            </a:r>
          </a:p>
          <a:p>
            <a:pPr>
              <a:spcBef>
                <a:spcPts val="0"/>
              </a:spcBef>
              <a:spcAft>
                <a:spcPts val="0"/>
              </a:spcAft>
            </a:pPr>
            <a:r>
              <a:rPr sz="1200" b="0" i="0">
                <a:solidFill>
                  <a:srgbClr val="5CC4B0"/>
                </a:solidFill>
                <a:latin typeface="Fira Code"/>
              </a:rPr>
              <a:t>    └── Recording files on S3 → actual call audio</a:t>
            </a:r>
          </a:p>
          <a:p>
            <a:pPr>
              <a:spcBef>
                <a:spcPts val="0"/>
              </a:spcBef>
              <a:spcAft>
                <a:spcPts val="0"/>
              </a:spcAft>
            </a:pPr>
          </a:p>
          <a:p>
            <a:pPr>
              <a:spcBef>
                <a:spcPts val="0"/>
              </a:spcBef>
              <a:spcAft>
                <a:spcPts val="0"/>
              </a:spcAft>
            </a:pPr>
            <a:r>
              <a:rPr sz="1200" b="0" i="0">
                <a:solidFill>
                  <a:srgbClr val="5CC4B0"/>
                </a:solidFill>
                <a:latin typeface="Fira Code"/>
              </a:rPr>
              <a:t>Notes in Google Docs</a:t>
            </a:r>
          </a:p>
          <a:p>
            <a:pPr>
              <a:spcBef>
                <a:spcPts val="0"/>
              </a:spcBef>
              <a:spcAft>
                <a:spcPts val="0"/>
              </a:spcAft>
            </a:pPr>
            <a:r>
              <a:rPr sz="1200" b="0" i="0">
                <a:solidFill>
                  <a:srgbClr val="5CC4B0"/>
                </a:solidFill>
                <a:latin typeface="Fira Code"/>
              </a:rPr>
              <a:t>    ├── Full plaintext content</a:t>
            </a:r>
          </a:p>
          <a:p>
            <a:pPr>
              <a:spcBef>
                <a:spcPts val="0"/>
              </a:spcBef>
              <a:spcAft>
                <a:spcPts val="0"/>
              </a:spcAft>
            </a:pPr>
            <a:r>
              <a:rPr sz="1200" b="0" i="0">
                <a:solidFill>
                  <a:srgbClr val="5CC4B0"/>
                </a:solidFill>
                <a:latin typeface="Fira Code"/>
              </a:rPr>
              <a:t>    └── Edit history showing when each volunteer wrote what</a:t>
            </a:r>
          </a:p>
        </p:txBody>
      </p:sp>
      <p:sp>
        <p:nvSpPr>
          <p:cNvPr id="6" name="TextBox 5"/>
          <p:cNvSpPr txBox="1"/>
          <p:nvPr/>
        </p:nvSpPr>
        <p:spPr>
          <a:xfrm>
            <a:off x="548640" y="3538728"/>
            <a:ext cx="11094415" cy="2679192"/>
          </a:xfrm>
          <a:prstGeom prst="rect">
            <a:avLst/>
          </a:prstGeom>
          <a:noFill/>
        </p:spPr>
        <p:txBody>
          <a:bodyPr wrap="square">
            <a:spAutoFit/>
          </a:bodyPr>
          <a:lstStyle/>
          <a:p>
            <a:r>
              <a:rPr sz="1600" b="1" i="0">
                <a:solidFill>
                  <a:srgbClr val="F0F0F0"/>
                </a:solidFill>
                <a:latin typeface="IBM Plex Mono"/>
              </a:rPr>
              <a:t>Every hop is a separate subpoena target. And they all comply.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2</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The Architecture</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SIP Trunk vs. Twilio API</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Twilio REST API</a:t>
            </a:r>
          </a:p>
          <a:p>
            <a:pPr>
              <a:spcBef>
                <a:spcPts val="300"/>
              </a:spcBef>
              <a:spcAft>
                <a:spcPts val="200"/>
              </a:spcAft>
            </a:pPr>
            <a:r>
              <a:rPr sz="1600" b="0" i="0">
                <a:solidFill>
                  <a:srgbClr val="CCCCCC"/>
                </a:solidFill>
                <a:latin typeface="IBM Plex Mono"/>
              </a:rPr>
              <a:t>  •  Call enters Twilio's servers</a:t>
            </a:r>
          </a:p>
          <a:p>
            <a:pPr>
              <a:spcBef>
                <a:spcPts val="300"/>
              </a:spcBef>
              <a:spcAft>
                <a:spcPts val="200"/>
              </a:spcAft>
            </a:pPr>
            <a:r>
              <a:rPr sz="1600" b="0" i="0">
                <a:solidFill>
                  <a:srgbClr val="CCCCCC"/>
                </a:solidFill>
                <a:latin typeface="IBM Plex Mono"/>
              </a:rPr>
              <a:t>  •  Twilio stores full CDR</a:t>
            </a:r>
          </a:p>
          <a:p>
            <a:pPr>
              <a:spcBef>
                <a:spcPts val="300"/>
              </a:spcBef>
              <a:spcAft>
                <a:spcPts val="200"/>
              </a:spcAft>
            </a:pPr>
            <a:r>
              <a:rPr sz="1600" b="1" i="0">
                <a:solidFill>
                  <a:srgbClr val="F0C674"/>
                </a:solidFill>
                <a:latin typeface="IBM Plex Mono"/>
              </a:rPr>
              <a:t>  •  Caller ID, called number, duration, timestamp</a:t>
            </a:r>
            <a:r>
              <a:rPr sz="1600" b="0" i="0">
                <a:solidFill>
                  <a:srgbClr val="CCCCCC"/>
                </a:solidFill>
                <a:latin typeface="IBM Plex Mono"/>
              </a:rPr>
              <a:t> all in Twilio dashboard</a:t>
            </a:r>
          </a:p>
          <a:p>
            <a:pPr>
              <a:spcBef>
                <a:spcPts val="300"/>
              </a:spcBef>
              <a:spcAft>
                <a:spcPts val="200"/>
              </a:spcAft>
            </a:pPr>
            <a:r>
              <a:rPr sz="1600" b="0" i="0">
                <a:solidFill>
                  <a:srgbClr val="CCCCCC"/>
                </a:solidFill>
                <a:latin typeface="IBM Plex Mono"/>
              </a:rPr>
              <a:t>  •  Subpoena Twilio → you get everything</a:t>
            </a:r>
          </a:p>
          <a:p>
            <a:pPr>
              <a:spcBef>
                <a:spcPts val="300"/>
              </a:spcBef>
              <a:spcAft>
                <a:spcPts val="200"/>
              </a:spcAft>
            </a:pPr>
            <a:r>
              <a:rPr sz="1600" b="0" i="0">
                <a:solidFill>
                  <a:srgbClr val="CCCCCC"/>
                </a:solidFill>
                <a:latin typeface="IBM Plex Mono"/>
              </a:rPr>
              <a:t>  •  Easy setup, dangerous metadata posture</a:t>
            </a:r>
          </a:p>
          <a:p>
            <a:pPr>
              <a:spcBef>
                <a:spcPts val="800"/>
              </a:spcBef>
              <a:spcAft>
                <a:spcPts val="200"/>
              </a:spcAft>
            </a:pPr>
            <a:r>
              <a:rPr sz="1800" b="1" i="0">
                <a:solidFill>
                  <a:srgbClr val="E84D4D"/>
                </a:solidFill>
                <a:latin typeface="JetBrains Mono"/>
              </a:rPr>
              <a:t>SIP Trunk (Llámenos)</a:t>
            </a:r>
          </a:p>
          <a:p>
            <a:pPr>
              <a:spcBef>
                <a:spcPts val="300"/>
              </a:spcBef>
              <a:spcAft>
                <a:spcPts val="200"/>
              </a:spcAft>
            </a:pPr>
            <a:r>
              <a:rPr sz="1600" b="0" i="0">
                <a:solidFill>
                  <a:srgbClr val="CCCCCC"/>
                </a:solidFill>
                <a:latin typeface="IBM Plex Mono"/>
              </a:rPr>
              <a:t>  •  PSTN number → SIP trunk → your server</a:t>
            </a:r>
          </a:p>
          <a:p>
            <a:pPr>
              <a:spcBef>
                <a:spcPts val="300"/>
              </a:spcBef>
              <a:spcAft>
                <a:spcPts val="200"/>
              </a:spcAft>
            </a:pPr>
            <a:r>
              <a:rPr sz="1600" b="0" i="0">
                <a:solidFill>
                  <a:srgbClr val="CCCCCC"/>
                </a:solidFill>
                <a:latin typeface="IBM Plex Mono"/>
              </a:rPr>
              <a:t>  •  You control what gets logged (including: nothing)</a:t>
            </a:r>
          </a:p>
          <a:p>
            <a:pPr>
              <a:spcBef>
                <a:spcPts val="300"/>
              </a:spcBef>
              <a:spcAft>
                <a:spcPts val="200"/>
              </a:spcAft>
            </a:pPr>
            <a:r>
              <a:rPr sz="1600" b="0" i="0">
                <a:solidFill>
                  <a:srgbClr val="CCCCCC"/>
                </a:solidFill>
                <a:latin typeface="IBM Plex Mono"/>
              </a:rPr>
              <a:t>  •  Telnyx/SignalWire offer CDR-free options</a:t>
            </a:r>
          </a:p>
          <a:p>
            <a:pPr>
              <a:spcBef>
                <a:spcPts val="300"/>
              </a:spcBef>
              <a:spcAft>
                <a:spcPts val="200"/>
              </a:spcAft>
            </a:pPr>
            <a:r>
              <a:rPr sz="1600" b="0" i="0">
                <a:solidFill>
                  <a:srgbClr val="CCCCCC"/>
                </a:solidFill>
                <a:latin typeface="IBM Plex Mono"/>
              </a:rPr>
              <a:t>  •  Self-hosted Asterisk/FreeSWITCH: no cloud provider at all — this is the default deployment</a:t>
            </a:r>
          </a:p>
          <a:p>
            <a:pPr>
              <a:spcBef>
                <a:spcPts val="300"/>
              </a:spcBef>
              <a:spcAft>
                <a:spcPts val="200"/>
              </a:spcAft>
            </a:pPr>
            <a:r>
              <a:rPr sz="1600" b="0" i="0">
                <a:solidFill>
                  <a:srgbClr val="CCCCCC"/>
                </a:solidFill>
                <a:latin typeface="IBM Plex Mono"/>
              </a:rPr>
              <a:t>  •  Ansible playbook handles setup, you own the metadata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The Call Flow</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2441448"/>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2258568"/>
          </a:xfrm>
          <a:prstGeom prst="rect">
            <a:avLst/>
          </a:prstGeom>
          <a:noFill/>
        </p:spPr>
        <p:txBody>
          <a:bodyPr wrap="square">
            <a:spAutoFit/>
          </a:bodyPr>
          <a:lstStyle/>
          <a:p>
            <a:pPr>
              <a:spcBef>
                <a:spcPts val="0"/>
              </a:spcBef>
              <a:spcAft>
                <a:spcPts val="0"/>
              </a:spcAft>
            </a:pPr>
            <a:r>
              <a:rPr sz="1200" b="0" i="0">
                <a:solidFill>
                  <a:srgbClr val="5CC4B0"/>
                </a:solidFill>
                <a:latin typeface="Fira Code"/>
              </a:rPr>
              <a:t>Caller dials hotline number</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PSTN  ---&gt;  SIP Trunk (Telnyx/SignalWire/Self-hosted)</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Your Server  ---&gt;  WireGuard tunnel (no public IP)</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Parallel Ring -&gt; All on-shift volunteers simultaneously</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First pickup wins. Others hang up instantly.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Why Parallel Ring Matters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Sequential Ring (most hotlines)</a:t>
            </a:r>
          </a:p>
          <a:p>
            <a:pPr>
              <a:spcBef>
                <a:spcPts val="300"/>
              </a:spcBef>
              <a:spcAft>
                <a:spcPts val="200"/>
              </a:spcAft>
            </a:pPr>
            <a:r>
              <a:rPr sz="1600" b="0" i="0">
                <a:solidFill>
                  <a:srgbClr val="CCCCCC"/>
                </a:solidFill>
                <a:latin typeface="IBM Plex Mono"/>
              </a:rPr>
              <a:t>  •  Call → Volunteer 1 (ring 20s)</a:t>
            </a:r>
          </a:p>
          <a:p>
            <a:pPr>
              <a:spcBef>
                <a:spcPts val="300"/>
              </a:spcBef>
              <a:spcAft>
                <a:spcPts val="200"/>
              </a:spcAft>
            </a:pPr>
            <a:r>
              <a:rPr sz="1600" b="0" i="0">
                <a:solidFill>
                  <a:srgbClr val="CCCCCC"/>
                </a:solidFill>
                <a:latin typeface="IBM Plex Mono"/>
              </a:rPr>
              <a:t>  •  No answer → Volunteer 2 (ring 20s)</a:t>
            </a:r>
          </a:p>
          <a:p>
            <a:pPr>
              <a:spcBef>
                <a:spcPts val="300"/>
              </a:spcBef>
              <a:spcAft>
                <a:spcPts val="200"/>
              </a:spcAft>
            </a:pPr>
            <a:r>
              <a:rPr sz="1600" b="0" i="0">
                <a:solidFill>
                  <a:srgbClr val="CCCCCC"/>
                </a:solidFill>
                <a:latin typeface="IBM Plex Mono"/>
              </a:rPr>
              <a:t>  •  No answer → Volunteer 3 (ring 20s)</a:t>
            </a:r>
          </a:p>
          <a:p>
            <a:pPr>
              <a:spcBef>
                <a:spcPts val="600"/>
              </a:spcBef>
              <a:spcAft>
                <a:spcPts val="200"/>
              </a:spcAft>
            </a:pPr>
            <a:r>
              <a:rPr sz="1400" b="1" i="0">
                <a:solidFill>
                  <a:srgbClr val="F0F0F0"/>
                </a:solidFill>
                <a:latin typeface="IBM Plex Mono"/>
              </a:rPr>
              <a:t>What the CDR reveals:</a:t>
            </a:r>
          </a:p>
          <a:p>
            <a:pPr>
              <a:spcBef>
                <a:spcPts val="300"/>
              </a:spcBef>
              <a:spcAft>
                <a:spcPts val="200"/>
              </a:spcAft>
            </a:pPr>
            <a:r>
              <a:rPr sz="1600" b="0" i="0">
                <a:solidFill>
                  <a:srgbClr val="CCCCCC"/>
                </a:solidFill>
                <a:latin typeface="IBM Plex Mono"/>
              </a:rPr>
              <a:t>Three separate call legs to three numbers. Timestamps show who was tried when. The whole volunteer roster, with timing, in one CDR.</a:t>
            </a:r>
          </a:p>
          <a:p>
            <a:pPr>
              <a:spcBef>
                <a:spcPts val="800"/>
              </a:spcBef>
              <a:spcAft>
                <a:spcPts val="200"/>
              </a:spcAft>
            </a:pPr>
            <a:r>
              <a:rPr sz="1800" b="1" i="0">
                <a:solidFill>
                  <a:srgbClr val="E84D4D"/>
                </a:solidFill>
                <a:latin typeface="JetBrains Mono"/>
              </a:rPr>
              <a:t>Parallel Ring (Llámenos)</a:t>
            </a:r>
          </a:p>
          <a:p>
            <a:pPr>
              <a:spcBef>
                <a:spcPts val="300"/>
              </a:spcBef>
              <a:spcAft>
                <a:spcPts val="200"/>
              </a:spcAft>
            </a:pPr>
            <a:r>
              <a:rPr sz="1600" b="0" i="0">
                <a:solidFill>
                  <a:srgbClr val="CCCCCC"/>
                </a:solidFill>
                <a:latin typeface="IBM Plex Mono"/>
              </a:rPr>
              <a:t>  •  Call → ALL on-shift volunteers simultaneously</a:t>
            </a:r>
          </a:p>
          <a:p>
            <a:pPr>
              <a:spcBef>
                <a:spcPts val="300"/>
              </a:spcBef>
              <a:spcAft>
                <a:spcPts val="200"/>
              </a:spcAft>
            </a:pPr>
            <a:r>
              <a:rPr sz="1600" b="0" i="0">
                <a:solidFill>
                  <a:srgbClr val="CCCCCC"/>
                </a:solidFill>
                <a:latin typeface="IBM Plex Mono"/>
              </a:rPr>
              <a:t>  •  First pickup → others instantly hang up</a:t>
            </a:r>
          </a:p>
          <a:p>
            <a:pPr>
              <a:spcBef>
                <a:spcPts val="600"/>
              </a:spcBef>
              <a:spcAft>
                <a:spcPts val="200"/>
              </a:spcAft>
            </a:pPr>
            <a:r>
              <a:rPr sz="1400" b="1" i="0">
                <a:solidFill>
                  <a:srgbClr val="F0F0F0"/>
                </a:solidFill>
                <a:latin typeface="IBM Plex Mono"/>
              </a:rPr>
              <a:t>What your server logs:</a:t>
            </a:r>
          </a:p>
          <a:p>
            <a:pPr>
              <a:spcBef>
                <a:spcPts val="300"/>
              </a:spcBef>
              <a:spcAft>
                <a:spcPts val="200"/>
              </a:spcAft>
            </a:pPr>
            <a:r>
              <a:rPr sz="1600" b="0" i="0">
                <a:solidFill>
                  <a:srgbClr val="CCCCCC"/>
                </a:solidFill>
                <a:latin typeface="IBM Plex Mono"/>
              </a:rPr>
              <a:t>One inbound call. Outbound legs all start at the same timestamp. First pickup wins.</a:t>
            </a:r>
          </a:p>
          <a:p>
            <a:pPr algn="ctr">
              <a:spcBef>
                <a:spcPts val="800"/>
              </a:spcBef>
              <a:spcAft>
                <a:spcPts val="200"/>
              </a:spcAft>
            </a:pPr>
            <a:r>
              <a:rPr sz="1600" b="0" i="1">
                <a:solidFill>
                  <a:srgbClr val="5CC4B0"/>
                </a:solidFill>
                <a:latin typeface="Source Code Pro"/>
              </a:rPr>
              <a:t>Sequential ring is a directory of your volunteer roster, handed to any detective with a subpoena. Parallel ring is a single event.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8 Telephony Adapters — Choose Your Trust Level</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2267712"/>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2084832"/>
          </a:xfrm>
          <a:prstGeom prst="rect">
            <a:avLst/>
          </a:prstGeom>
          <a:noFill/>
        </p:spPr>
        <p:txBody>
          <a:bodyPr wrap="square">
            <a:spAutoFit/>
          </a:bodyPr>
          <a:lstStyle/>
          <a:p>
            <a:pPr>
              <a:spcBef>
                <a:spcPts val="0"/>
              </a:spcBef>
              <a:spcAft>
                <a:spcPts val="0"/>
              </a:spcAft>
            </a:pPr>
            <a:r>
              <a:rPr sz="1200" b="0" i="0">
                <a:solidFill>
                  <a:srgbClr val="5CC4B0"/>
                </a:solidFill>
                <a:latin typeface="Fira Code"/>
              </a:rPr>
              <a:t>Trust Level     Provider            CDR Posture</a:t>
            </a:r>
          </a:p>
          <a:p>
            <a:pPr>
              <a:spcBef>
                <a:spcPts val="0"/>
              </a:spcBef>
              <a:spcAft>
                <a:spcPts val="0"/>
              </a:spcAft>
            </a:pPr>
            <a:r>
              <a:rPr sz="1200" b="0" i="0">
                <a:solidFill>
                  <a:srgbClr val="5CC4B0"/>
                </a:solidFill>
                <a:latin typeface="Fira Code"/>
              </a:rPr>
              <a:t>-----------     --------            -----------</a:t>
            </a:r>
          </a:p>
          <a:p>
            <a:pPr>
              <a:spcBef>
                <a:spcPts val="0"/>
              </a:spcBef>
              <a:spcAft>
                <a:spcPts val="0"/>
              </a:spcAft>
            </a:pPr>
            <a:r>
              <a:rPr sz="1200" b="0" i="0">
                <a:solidFill>
                  <a:srgbClr val="5CC4B0"/>
                </a:solidFill>
                <a:latin typeface="Fira Code"/>
              </a:rPr>
              <a:t>LOW TRUST       Twilio              Full CDR exposure</a:t>
            </a:r>
          </a:p>
          <a:p>
            <a:pPr>
              <a:spcBef>
                <a:spcPts val="0"/>
              </a:spcBef>
              <a:spcAft>
                <a:spcPts val="0"/>
              </a:spcAft>
            </a:pPr>
            <a:r>
              <a:rPr sz="1200" b="0" i="0">
                <a:solidFill>
                  <a:srgbClr val="5CC4B0"/>
                </a:solidFill>
                <a:latin typeface="Fira Code"/>
              </a:rPr>
              <a:t>                SignalWire          Full CDR exposure</a:t>
            </a:r>
          </a:p>
          <a:p>
            <a:pPr>
              <a:spcBef>
                <a:spcPts val="0"/>
              </a:spcBef>
              <a:spcAft>
                <a:spcPts val="0"/>
              </a:spcAft>
            </a:pPr>
            <a:r>
              <a:rPr sz="1200" b="0" i="0">
                <a:solidFill>
                  <a:srgbClr val="5CC4B0"/>
                </a:solidFill>
                <a:latin typeface="Fira Code"/>
              </a:rPr>
              <a:t>                Vonage              Full CDR exposure</a:t>
            </a:r>
          </a:p>
          <a:p>
            <a:pPr>
              <a:spcBef>
                <a:spcPts val="0"/>
              </a:spcBef>
              <a:spcAft>
                <a:spcPts val="0"/>
              </a:spcAft>
            </a:pPr>
            <a:r>
              <a:rPr sz="1200" b="0" i="0">
                <a:solidFill>
                  <a:srgbClr val="5CC4B0"/>
                </a:solidFill>
                <a:latin typeface="Fira Code"/>
              </a:rPr>
              <a:t>                Plivo               Full CDR exposure</a:t>
            </a:r>
          </a:p>
          <a:p>
            <a:pPr>
              <a:spcBef>
                <a:spcPts val="0"/>
              </a:spcBef>
              <a:spcAft>
                <a:spcPts val="0"/>
              </a:spcAft>
            </a:pPr>
          </a:p>
          <a:p>
            <a:pPr>
              <a:spcBef>
                <a:spcPts val="0"/>
              </a:spcBef>
              <a:spcAft>
                <a:spcPts val="0"/>
              </a:spcAft>
            </a:pPr>
            <a:r>
              <a:rPr sz="1200" b="0" i="0">
                <a:solidFill>
                  <a:srgbClr val="5CC4B0"/>
                </a:solidFill>
                <a:latin typeface="Fira Code"/>
              </a:rPr>
              <a:t>MEDIUM TRUST    Telnyx              CDR-free SIP trunk available</a:t>
            </a:r>
          </a:p>
          <a:p>
            <a:pPr>
              <a:spcBef>
                <a:spcPts val="0"/>
              </a:spcBef>
              <a:spcAft>
                <a:spcPts val="0"/>
              </a:spcAft>
            </a:pPr>
            <a:r>
              <a:rPr sz="1200" b="0" i="0">
                <a:solidFill>
                  <a:srgbClr val="5CC4B0"/>
                </a:solidFill>
                <a:latin typeface="Fira Code"/>
              </a:rPr>
              <a:t>                Bandwidth           CDR-minimal SIP trunk</a:t>
            </a:r>
          </a:p>
          <a:p>
            <a:pPr>
              <a:spcBef>
                <a:spcPts val="0"/>
              </a:spcBef>
              <a:spcAft>
                <a:spcPts val="0"/>
              </a:spcAft>
            </a:pPr>
          </a:p>
          <a:p>
            <a:pPr>
              <a:spcBef>
                <a:spcPts val="0"/>
              </a:spcBef>
              <a:spcAft>
                <a:spcPts val="0"/>
              </a:spcAft>
            </a:pPr>
            <a:r>
              <a:rPr sz="1200" b="0" i="0">
                <a:solidFill>
                  <a:srgbClr val="5CC4B0"/>
                </a:solidFill>
                <a:latin typeface="Fira Code"/>
              </a:rPr>
              <a:t>HIGH TRUST      Asterisk            Self-hosted, you own everything</a:t>
            </a:r>
          </a:p>
          <a:p>
            <a:pPr>
              <a:spcBef>
                <a:spcPts val="0"/>
              </a:spcBef>
              <a:spcAft>
                <a:spcPts val="0"/>
              </a:spcAft>
            </a:pPr>
            <a:r>
              <a:rPr sz="1200" b="0" i="0">
                <a:solidFill>
                  <a:srgbClr val="5CC4B0"/>
                </a:solidFill>
                <a:latin typeface="Fira Code"/>
              </a:rPr>
              <a:t>(DEFAULT)       FreeSWITCH          Self-hosted, you own everything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Self-Hosting: The Full Stack</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1051560"/>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868680"/>
          </a:xfrm>
          <a:prstGeom prst="rect">
            <a:avLst/>
          </a:prstGeom>
          <a:noFill/>
        </p:spPr>
        <p:txBody>
          <a:bodyPr wrap="square">
            <a:spAutoFit/>
          </a:bodyPr>
          <a:lstStyle/>
          <a:p>
            <a:pPr>
              <a:spcBef>
                <a:spcPts val="0"/>
              </a:spcBef>
              <a:spcAft>
                <a:spcPts val="0"/>
              </a:spcAft>
            </a:pPr>
            <a:r>
              <a:rPr sz="1200" b="0" i="0">
                <a:solidFill>
                  <a:srgbClr val="5CC4B0"/>
                </a:solidFill>
                <a:latin typeface="Fira Code"/>
              </a:rPr>
              <a:t># What you run (production — Ansible is the default)</a:t>
            </a:r>
          </a:p>
          <a:p>
            <a:pPr>
              <a:spcBef>
                <a:spcPts val="0"/>
              </a:spcBef>
              <a:spcAft>
                <a:spcPts val="0"/>
              </a:spcAft>
            </a:pPr>
            <a:r>
              <a:rPr sz="1200" b="0" i="0">
                <a:solidFill>
                  <a:srgbClr val="5CC4B0"/>
                </a:solidFill>
                <a:latin typeface="Fira Code"/>
              </a:rPr>
              <a:t>ansible-playbook -i inventory deploy.yml</a:t>
            </a:r>
          </a:p>
          <a:p>
            <a:pPr>
              <a:spcBef>
                <a:spcPts val="0"/>
              </a:spcBef>
              <a:spcAft>
                <a:spcPts val="0"/>
              </a:spcAft>
            </a:pPr>
          </a:p>
          <a:p>
            <a:pPr>
              <a:spcBef>
                <a:spcPts val="0"/>
              </a:spcBef>
              <a:spcAft>
                <a:spcPts val="0"/>
              </a:spcAft>
            </a:pPr>
            <a:r>
              <a:rPr sz="1200" b="0" i="0">
                <a:solidFill>
                  <a:srgbClr val="5CC4B0"/>
                </a:solidFill>
                <a:latin typeface="Fira Code"/>
              </a:rPr>
              <a:t># For demos and local development only:</a:t>
            </a:r>
          </a:p>
          <a:p>
            <a:pPr>
              <a:spcBef>
                <a:spcPts val="0"/>
              </a:spcBef>
              <a:spcAft>
                <a:spcPts val="0"/>
              </a:spcAft>
            </a:pPr>
            <a:r>
              <a:rPr sz="1200" b="0" i="0">
                <a:solidFill>
                  <a:srgbClr val="5CC4B0"/>
                </a:solidFill>
                <a:latin typeface="Fira Code"/>
              </a:rPr>
              <a:t>docker compose up -d</a:t>
            </a:r>
          </a:p>
        </p:txBody>
      </p:sp>
      <p:sp>
        <p:nvSpPr>
          <p:cNvPr id="6" name="TextBox 5"/>
          <p:cNvSpPr txBox="1"/>
          <p:nvPr/>
        </p:nvSpPr>
        <p:spPr>
          <a:xfrm>
            <a:off x="548640" y="2148840"/>
            <a:ext cx="11094415" cy="4069080"/>
          </a:xfrm>
          <a:prstGeom prst="rect">
            <a:avLst/>
          </a:prstGeom>
          <a:noFill/>
        </p:spPr>
        <p:txBody>
          <a:bodyPr wrap="square">
            <a:spAutoFit/>
          </a:bodyPr>
          <a:lstStyle/>
          <a:p/>
        </p:txBody>
      </p:sp>
      <p:sp>
        <p:nvSpPr>
          <p:cNvPr id="7" name="Rounded Rectangle 6"/>
          <p:cNvSpPr/>
          <p:nvPr/>
        </p:nvSpPr>
        <p:spPr>
          <a:xfrm>
            <a:off x="548640" y="2148840"/>
            <a:ext cx="11094415" cy="1572768"/>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40280"/>
            <a:ext cx="10820095" cy="1389888"/>
          </a:xfrm>
          <a:prstGeom prst="rect">
            <a:avLst/>
          </a:prstGeom>
          <a:noFill/>
        </p:spPr>
        <p:txBody>
          <a:bodyPr wrap="square">
            <a:spAutoFit/>
          </a:bodyPr>
          <a:lstStyle/>
          <a:p>
            <a:pPr>
              <a:spcBef>
                <a:spcPts val="0"/>
              </a:spcBef>
              <a:spcAft>
                <a:spcPts val="0"/>
              </a:spcAft>
            </a:pPr>
            <a:r>
              <a:rPr sz="1200" b="0" i="0">
                <a:solidFill>
                  <a:srgbClr val="5CC4B0"/>
                </a:solidFill>
                <a:latin typeface="Fira Code"/>
              </a:rPr>
              <a:t>                    Ansible Deploy (default)</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PostgreSQL 16  --&gt;  Encrypted notes, audit log</a:t>
            </a:r>
          </a:p>
          <a:p>
            <a:pPr>
              <a:spcBef>
                <a:spcPts val="0"/>
              </a:spcBef>
              <a:spcAft>
                <a:spcPts val="0"/>
              </a:spcAft>
            </a:pPr>
            <a:r>
              <a:rPr sz="1200" b="0" i="0">
                <a:solidFill>
                  <a:srgbClr val="5CC4B0"/>
                </a:solidFill>
                <a:latin typeface="Fira Code"/>
              </a:rPr>
              <a:t>Bun + Hono     --&gt;  API server</a:t>
            </a:r>
          </a:p>
          <a:p>
            <a:pPr>
              <a:spcBef>
                <a:spcPts val="0"/>
              </a:spcBef>
              <a:spcAft>
                <a:spcPts val="0"/>
              </a:spcAft>
            </a:pPr>
            <a:r>
              <a:rPr sz="1200" b="0" i="0">
                <a:solidFill>
                  <a:srgbClr val="5CC4B0"/>
                </a:solidFill>
                <a:latin typeface="Fira Code"/>
              </a:rPr>
              <a:t>strfry         --&gt;  Self-hosted Nostr relay (real-time events)</a:t>
            </a:r>
          </a:p>
          <a:p>
            <a:pPr>
              <a:spcBef>
                <a:spcPts val="0"/>
              </a:spcBef>
              <a:spcAft>
                <a:spcPts val="0"/>
              </a:spcAft>
            </a:pPr>
            <a:r>
              <a:rPr sz="1200" b="0" i="0">
                <a:solidFill>
                  <a:srgbClr val="5CC4B0"/>
                </a:solidFill>
                <a:latin typeface="Fira Code"/>
              </a:rPr>
              <a:t>Asterisk/FreeS --&gt;  SIP routing (default PBX)</a:t>
            </a:r>
          </a:p>
          <a:p>
            <a:pPr>
              <a:spcBef>
                <a:spcPts val="0"/>
              </a:spcBef>
              <a:spcAft>
                <a:spcPts val="0"/>
              </a:spcAft>
            </a:pPr>
          </a:p>
          <a:p>
            <a:pPr>
              <a:spcBef>
                <a:spcPts val="0"/>
              </a:spcBef>
              <a:spcAft>
                <a:spcPts val="0"/>
              </a:spcAft>
            </a:pPr>
            <a:r>
              <a:rPr sz="1200" b="0" i="0">
                <a:solidFill>
                  <a:srgbClr val="5CC4B0"/>
                </a:solidFill>
                <a:latin typeface="Fira Code"/>
              </a:rPr>
              <a:t>Optional:  signal-notifier | Kamailio+CoTURN | Prometheus+Grafana</a:t>
            </a:r>
          </a:p>
        </p:txBody>
      </p:sp>
      <p:sp>
        <p:nvSpPr>
          <p:cNvPr id="9" name="TextBox 8"/>
          <p:cNvSpPr txBox="1"/>
          <p:nvPr/>
        </p:nvSpPr>
        <p:spPr>
          <a:xfrm>
            <a:off x="548640" y="3813048"/>
            <a:ext cx="11094415" cy="2404872"/>
          </a:xfrm>
          <a:prstGeom prst="rect">
            <a:avLst/>
          </a:prstGeom>
          <a:noFill/>
        </p:spPr>
        <p:txBody>
          <a:bodyPr wrap="square">
            <a:spAutoFit/>
          </a:bodyPr>
          <a:lstStyle/>
          <a:p>
            <a:r>
              <a:rPr sz="1600" b="1" i="0">
                <a:solidFill>
                  <a:srgbClr val="F0C674"/>
                </a:solidFill>
                <a:latin typeface="IBM Plex Mono"/>
              </a:rPr>
              <a:t>  •  1984 Hosting</a:t>
            </a:r>
            <a:r>
              <a:rPr sz="1600" b="0" i="0">
                <a:solidFill>
                  <a:srgbClr val="CCCCCC"/>
                </a:solidFill>
                <a:latin typeface="IBM Plex Mono"/>
              </a:rPr>
              <a:t> (Iceland) — not subject to the US CLOUD Act, custom Debian FDE ISO with dropbear for remote unlock</a:t>
            </a:r>
          </a:p>
          <a:p>
            <a:pPr>
              <a:spcBef>
                <a:spcPts val="300"/>
              </a:spcBef>
              <a:spcAft>
                <a:spcPts val="200"/>
              </a:spcAft>
            </a:pPr>
            <a:r>
              <a:rPr sz="1600" b="1" i="0">
                <a:solidFill>
                  <a:srgbClr val="F0C674"/>
                </a:solidFill>
                <a:latin typeface="IBM Plex Mono"/>
              </a:rPr>
              <a:t>  •  No telemetry</a:t>
            </a:r>
            <a:r>
              <a:rPr sz="1600" b="0" i="0">
                <a:solidFill>
                  <a:srgbClr val="CCCCCC"/>
                </a:solidFill>
                <a:latin typeface="IBM Plex Mono"/>
              </a:rPr>
              <a:t> to any external party</a:t>
            </a:r>
          </a:p>
          <a:p>
            <a:pPr>
              <a:spcBef>
                <a:spcPts val="300"/>
              </a:spcBef>
              <a:spcAft>
                <a:spcPts val="200"/>
              </a:spcAft>
            </a:pPr>
            <a:r>
              <a:rPr sz="1600" b="0" i="0">
                <a:solidFill>
                  <a:srgbClr val="CCCCCC"/>
                </a:solidFill>
                <a:latin typeface="IBM Plex Mono"/>
              </a:rPr>
              <a:t>  •  Reproducible builds with SLSA provenance and cosign verification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3</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E2EE — Zero-Knowledge Notes &amp; Messages</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What "Zero-Knowledge Server" Actually Means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The server should not be able to read call notes, even under subpoena.</a:t>
            </a:r>
          </a:p>
          <a:p>
            <a:pPr>
              <a:spcBef>
                <a:spcPts val="800"/>
              </a:spcBef>
              <a:spcAft>
                <a:spcPts val="200"/>
              </a:spcAft>
            </a:pPr>
            <a:r>
              <a:rPr sz="1800" b="1" i="0">
                <a:solidFill>
                  <a:srgbClr val="E84D4D"/>
                </a:solidFill>
                <a:latin typeface="JetBrains Mono"/>
              </a:rPr>
              <a:t>What the server stores</a:t>
            </a:r>
          </a:p>
          <a:p>
            <a:pPr>
              <a:spcBef>
                <a:spcPts val="300"/>
              </a:spcBef>
              <a:spcAft>
                <a:spcPts val="200"/>
              </a:spcAft>
            </a:pPr>
            <a:r>
              <a:rPr sz="1600" b="0" i="0">
                <a:solidFill>
                  <a:srgbClr val="CCCCCC"/>
                </a:solidFill>
                <a:latin typeface="IBM Plex Mono"/>
              </a:rPr>
              <a:t>  •  `encryptedContent` — ciphertext blob</a:t>
            </a:r>
          </a:p>
          <a:p>
            <a:pPr>
              <a:spcBef>
                <a:spcPts val="300"/>
              </a:spcBef>
              <a:spcAft>
                <a:spcPts val="200"/>
              </a:spcAft>
            </a:pPr>
            <a:r>
              <a:rPr sz="1600" b="0" i="0">
                <a:solidFill>
                  <a:srgbClr val="CCCCCC"/>
                </a:solidFill>
                <a:latin typeface="IBM Plex Mono"/>
              </a:rPr>
              <a:t>  •  `authorEnvelope` — key wrapped for volunteer</a:t>
            </a:r>
          </a:p>
          <a:p>
            <a:pPr>
              <a:spcBef>
                <a:spcPts val="300"/>
              </a:spcBef>
              <a:spcAft>
                <a:spcPts val="200"/>
              </a:spcAft>
            </a:pPr>
            <a:r>
              <a:rPr sz="1600" b="0" i="0">
                <a:solidFill>
                  <a:srgbClr val="CCCCCC"/>
                </a:solidFill>
                <a:latin typeface="IBM Plex Mono"/>
              </a:rPr>
              <a:t>  •  `adminEnvelopes[]` — key wrapped for each admin</a:t>
            </a:r>
          </a:p>
          <a:p>
            <a:pPr>
              <a:spcBef>
                <a:spcPts val="300"/>
              </a:spcBef>
              <a:spcAft>
                <a:spcPts val="200"/>
              </a:spcAft>
            </a:pPr>
            <a:r>
              <a:rPr sz="1600" b="0" i="0">
                <a:solidFill>
                  <a:srgbClr val="CCCCCC"/>
                </a:solidFill>
                <a:latin typeface="IBM Plex Mono"/>
              </a:rPr>
              <a:t>  •  Timestamps (call started/ended)</a:t>
            </a:r>
          </a:p>
          <a:p>
            <a:pPr>
              <a:spcBef>
                <a:spcPts val="300"/>
              </a:spcBef>
              <a:spcAft>
                <a:spcPts val="200"/>
              </a:spcAft>
            </a:pPr>
            <a:r>
              <a:rPr sz="1600" b="0" i="0">
                <a:solidFill>
                  <a:srgbClr val="CCCCCC"/>
                </a:solidFill>
                <a:latin typeface="IBM Plex Mono"/>
              </a:rPr>
              <a:t>  •  Duration</a:t>
            </a:r>
          </a:p>
          <a:p>
            <a:pPr>
              <a:spcBef>
                <a:spcPts val="800"/>
              </a:spcBef>
              <a:spcAft>
                <a:spcPts val="200"/>
              </a:spcAft>
            </a:pPr>
            <a:r>
              <a:rPr sz="1800" b="1" i="0">
                <a:solidFill>
                  <a:srgbClr val="E84D4D"/>
                </a:solidFill>
                <a:latin typeface="JetBrains Mono"/>
              </a:rPr>
              <a:t>What the server does NOT store</a:t>
            </a:r>
          </a:p>
          <a:p>
            <a:pPr>
              <a:spcBef>
                <a:spcPts val="300"/>
              </a:spcBef>
              <a:spcAft>
                <a:spcPts val="200"/>
              </a:spcAft>
            </a:pPr>
            <a:r>
              <a:rPr sz="1600" b="0" i="0">
                <a:solidFill>
                  <a:srgbClr val="CCCCCC"/>
                </a:solidFill>
                <a:latin typeface="IBM Plex Mono"/>
              </a:rPr>
              <a:t>  •  Note content (plaintext)</a:t>
            </a:r>
          </a:p>
          <a:p>
            <a:pPr>
              <a:spcBef>
                <a:spcPts val="300"/>
              </a:spcBef>
              <a:spcAft>
                <a:spcPts val="200"/>
              </a:spcAft>
            </a:pPr>
            <a:r>
              <a:rPr sz="1600" b="0" i="0">
                <a:solidFill>
                  <a:srgbClr val="CCCCCC"/>
                </a:solidFill>
                <a:latin typeface="IBM Plex Mono"/>
              </a:rPr>
              <a:t>  •  Caller identity</a:t>
            </a:r>
          </a:p>
          <a:p>
            <a:pPr>
              <a:spcBef>
                <a:spcPts val="300"/>
              </a:spcBef>
              <a:spcAft>
                <a:spcPts val="200"/>
              </a:spcAft>
            </a:pPr>
            <a:r>
              <a:rPr sz="1600" b="0" i="0">
                <a:solidFill>
                  <a:srgbClr val="CCCCCC"/>
                </a:solidFill>
                <a:latin typeface="IBM Plex Mono"/>
              </a:rPr>
              <a:t>  •  Conversation transcript</a:t>
            </a:r>
          </a:p>
          <a:p>
            <a:pPr>
              <a:spcBef>
                <a:spcPts val="300"/>
              </a:spcBef>
              <a:spcAft>
                <a:spcPts val="200"/>
              </a:spcAft>
            </a:pPr>
            <a:r>
              <a:rPr sz="1600" b="0" i="0">
                <a:solidFill>
                  <a:srgbClr val="CCCCCC"/>
                </a:solidFill>
                <a:latin typeface="IBM Plex Mono"/>
              </a:rPr>
              <a:t>  •  Who the volunteer is (pubkey only, not name)</a:t>
            </a:r>
          </a:p>
          <a:p>
            <a:pPr algn="ctr">
              <a:spcBef>
                <a:spcPts val="800"/>
              </a:spcBef>
              <a:spcAft>
                <a:spcPts val="200"/>
              </a:spcAft>
            </a:pPr>
            <a:r>
              <a:rPr sz="1600" b="0" i="1">
                <a:solidFill>
                  <a:srgbClr val="5CC4B0"/>
                </a:solidFill>
                <a:latin typeface="Source Code Pro"/>
              </a:rPr>
              <a:t>A successful subpoena of your server gets them: "yes, a call happened at 11:47pm, duration 23 minutes, here's a ciphertext blob." Have fun with that, detective.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Per-Note Forward Secrecy</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3200400"/>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3017520"/>
          </a:xfrm>
          <a:prstGeom prst="rect">
            <a:avLst/>
          </a:prstGeom>
          <a:noFill/>
        </p:spPr>
        <p:txBody>
          <a:bodyPr wrap="square">
            <a:spAutoFit/>
          </a:bodyPr>
          <a:lstStyle/>
          <a:p>
            <a:pPr>
              <a:spcBef>
                <a:spcPts val="0"/>
              </a:spcBef>
              <a:spcAft>
                <a:spcPts val="0"/>
              </a:spcAft>
            </a:pPr>
            <a:r>
              <a:rPr sz="1200" b="0" i="0">
                <a:solidFill>
                  <a:srgbClr val="5CC4B0"/>
                </a:solidFill>
                <a:latin typeface="Fira Code"/>
              </a:rPr>
              <a:t>For each note written:</a:t>
            </a:r>
          </a:p>
          <a:p>
            <a:pPr>
              <a:spcBef>
                <a:spcPts val="0"/>
              </a:spcBef>
              <a:spcAft>
                <a:spcPts val="0"/>
              </a:spcAft>
            </a:pPr>
          </a:p>
          <a:p>
            <a:pPr>
              <a:spcBef>
                <a:spcPts val="0"/>
              </a:spcBef>
              <a:spcAft>
                <a:spcPts val="0"/>
              </a:spcAft>
            </a:pPr>
            <a:r>
              <a:rPr sz="1200" b="0" i="0">
                <a:solidFill>
                  <a:srgbClr val="5CC4B0"/>
                </a:solidFill>
                <a:latin typeface="Fira Code"/>
              </a:rPr>
              <a:t>  1. Generate random 256-bit note key</a:t>
            </a:r>
          </a:p>
          <a:p>
            <a:pPr>
              <a:spcBef>
                <a:spcPts val="0"/>
              </a:spcBef>
              <a:spcAft>
                <a:spcPts val="0"/>
              </a:spcAft>
            </a:pPr>
            <a:r>
              <a:rPr sz="1200" b="0" i="0">
                <a:solidFill>
                  <a:srgbClr val="5CC4B0"/>
                </a:solidFill>
                <a:latin typeface="Fira Code"/>
              </a:rPr>
              <a:t>     note_key = random_bytes(32)</a:t>
            </a:r>
          </a:p>
          <a:p>
            <a:pPr>
              <a:spcBef>
                <a:spcPts val="0"/>
              </a:spcBef>
              <a:spcAft>
                <a:spcPts val="0"/>
              </a:spcAft>
            </a:pPr>
          </a:p>
          <a:p>
            <a:pPr>
              <a:spcBef>
                <a:spcPts val="0"/>
              </a:spcBef>
              <a:spcAft>
                <a:spcPts val="0"/>
              </a:spcAft>
            </a:pPr>
            <a:r>
              <a:rPr sz="1200" b="0" i="0">
                <a:solidFill>
                  <a:srgbClr val="5CC4B0"/>
                </a:solidFill>
                <a:latin typeface="Fira Code"/>
              </a:rPr>
              <a:t>  2. Encrypt note content</a:t>
            </a:r>
          </a:p>
          <a:p>
            <a:pPr>
              <a:spcBef>
                <a:spcPts val="0"/>
              </a:spcBef>
              <a:spcAft>
                <a:spcPts val="0"/>
              </a:spcAft>
            </a:pPr>
            <a:r>
              <a:rPr sz="1200" b="0" i="0">
                <a:solidFill>
                  <a:srgbClr val="5CC4B0"/>
                </a:solidFill>
                <a:latin typeface="Fira Code"/>
              </a:rPr>
              <a:t>     nonce = random_bytes(24)</a:t>
            </a:r>
          </a:p>
          <a:p>
            <a:pPr>
              <a:spcBef>
                <a:spcPts val="0"/>
              </a:spcBef>
              <a:spcAft>
                <a:spcPts val="0"/>
              </a:spcAft>
            </a:pPr>
            <a:r>
              <a:rPr sz="1200" b="0" i="0">
                <a:solidFill>
                  <a:srgbClr val="5CC4B0"/>
                </a:solidFill>
                <a:latin typeface="Fira Code"/>
              </a:rPr>
              <a:t>     ciphertext = XChaCha20-Poly1305(note_key, nonce).encrypt(note_json)</a:t>
            </a:r>
          </a:p>
          <a:p>
            <a:pPr>
              <a:spcBef>
                <a:spcPts val="0"/>
              </a:spcBef>
              <a:spcAft>
                <a:spcPts val="0"/>
              </a:spcAft>
            </a:pPr>
          </a:p>
          <a:p>
            <a:pPr>
              <a:spcBef>
                <a:spcPts val="0"/>
              </a:spcBef>
              <a:spcAft>
                <a:spcPts val="0"/>
              </a:spcAft>
            </a:pPr>
            <a:r>
              <a:rPr sz="1200" b="0" i="0">
                <a:solidFill>
                  <a:srgbClr val="5CC4B0"/>
                </a:solidFill>
                <a:latin typeface="Fira Code"/>
              </a:rPr>
              <a:t>  3. Wrap note_key for volunteer (author)</a:t>
            </a:r>
          </a:p>
          <a:p>
            <a:pPr>
              <a:spcBef>
                <a:spcPts val="0"/>
              </a:spcBef>
              <a:spcAft>
                <a:spcPts val="0"/>
              </a:spcAft>
            </a:pPr>
            <a:r>
              <a:rPr sz="1200" b="0" i="0">
                <a:solidFill>
                  <a:srgbClr val="5CC4B0"/>
                </a:solidFill>
                <a:latin typeface="Fira Code"/>
              </a:rPr>
              <a:t>     author_envelope = HPKE_wrap(note_key, volunteer_pubkey, "llamenos:note-key")</a:t>
            </a:r>
          </a:p>
          <a:p>
            <a:pPr>
              <a:spcBef>
                <a:spcPts val="0"/>
              </a:spcBef>
              <a:spcAft>
                <a:spcPts val="0"/>
              </a:spcAft>
            </a:pPr>
          </a:p>
          <a:p>
            <a:pPr>
              <a:spcBef>
                <a:spcPts val="0"/>
              </a:spcBef>
              <a:spcAft>
                <a:spcPts val="0"/>
              </a:spcAft>
            </a:pPr>
            <a:r>
              <a:rPr sz="1200" b="0" i="0">
                <a:solidFill>
                  <a:srgbClr val="5CC4B0"/>
                </a:solidFill>
                <a:latin typeface="Fira Code"/>
              </a:rPr>
              <a:t>  4. Wrap note_key for each admin</a:t>
            </a:r>
          </a:p>
          <a:p>
            <a:pPr>
              <a:spcBef>
                <a:spcPts val="0"/>
              </a:spcBef>
              <a:spcAft>
                <a:spcPts val="0"/>
              </a:spcAft>
            </a:pPr>
            <a:r>
              <a:rPr sz="1200" b="0" i="0">
                <a:solidFill>
                  <a:srgbClr val="5CC4B0"/>
                </a:solidFill>
                <a:latin typeface="Fira Code"/>
              </a:rPr>
              <a:t>     admin_envelopes = admins.map(admin =&gt;</a:t>
            </a:r>
          </a:p>
          <a:p>
            <a:pPr>
              <a:spcBef>
                <a:spcPts val="0"/>
              </a:spcBef>
              <a:spcAft>
                <a:spcPts val="0"/>
              </a:spcAft>
            </a:pPr>
            <a:r>
              <a:rPr sz="1200" b="0" i="0">
                <a:solidFill>
                  <a:srgbClr val="5CC4B0"/>
                </a:solidFill>
                <a:latin typeface="Fira Code"/>
              </a:rPr>
              <a:t>       HPKE_wrap(note_key, admin.pubkey, "llamenos:note-key")</a:t>
            </a:r>
          </a:p>
          <a:p>
            <a:pPr>
              <a:spcBef>
                <a:spcPts val="0"/>
              </a:spcBef>
              <a:spcAft>
                <a:spcPts val="0"/>
              </a:spcAft>
            </a:pPr>
            <a:r>
              <a:rPr sz="1200" b="0" i="0">
                <a:solidFill>
                  <a:srgbClr val="5CC4B0"/>
                </a:solidFill>
                <a:latin typeface="Fira Code"/>
              </a:rPr>
              <a:t>     )</a:t>
            </a:r>
          </a:p>
          <a:p>
            <a:pPr>
              <a:spcBef>
                <a:spcPts val="0"/>
              </a:spcBef>
              <a:spcAft>
                <a:spcPts val="0"/>
              </a:spcAft>
            </a:pPr>
          </a:p>
          <a:p>
            <a:pPr>
              <a:spcBef>
                <a:spcPts val="0"/>
              </a:spcBef>
              <a:spcAft>
                <a:spcPts val="0"/>
              </a:spcAft>
            </a:pPr>
            <a:r>
              <a:rPr sz="1200" b="0" i="0">
                <a:solidFill>
                  <a:srgbClr val="5CC4B0"/>
                </a:solidFill>
                <a:latin typeface="Fira Code"/>
              </a:rPr>
              <a:t>  5. Store: { ciphertext, author_envelope, admin_envelopes[] }</a:t>
            </a:r>
          </a:p>
          <a:p>
            <a:pPr>
              <a:spcBef>
                <a:spcPts val="0"/>
              </a:spcBef>
              <a:spcAft>
                <a:spcPts val="0"/>
              </a:spcAft>
            </a:pPr>
            <a:r>
              <a:rPr sz="1200" b="0" i="0">
                <a:solidFill>
                  <a:srgbClr val="5CC4B0"/>
                </a:solidFill>
                <a:latin typeface="Fira Code"/>
              </a:rPr>
              <a:t>  6. Discard note_key from memory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400" b="1" i="0">
                <a:solidFill>
                  <a:srgbClr val="F0F0F0"/>
                </a:solidFill>
                <a:latin typeface="JetBrains Mono"/>
              </a:rPr>
              <a:t>Client-Side Transcription — Audio Never Leaves the Browser</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This one is a big deal.</a:t>
            </a:r>
          </a:p>
          <a:p>
            <a:pPr>
              <a:spcBef>
                <a:spcPts val="800"/>
              </a:spcBef>
              <a:spcAft>
                <a:spcPts val="200"/>
              </a:spcAft>
            </a:pPr>
            <a:r>
              <a:rPr sz="1800" b="1" i="0">
                <a:solidFill>
                  <a:srgbClr val="E84D4D"/>
                </a:solidFill>
                <a:latin typeface="JetBrains Mono"/>
              </a:rPr>
              <a:t>How most transcription works</a:t>
            </a:r>
          </a:p>
          <a:p>
            <a:pPr>
              <a:spcBef>
                <a:spcPts val="300"/>
              </a:spcBef>
              <a:spcAft>
                <a:spcPts val="200"/>
              </a:spcAft>
            </a:pPr>
            <a:r>
              <a:rPr sz="1600" b="0" i="0">
                <a:solidFill>
                  <a:srgbClr val="CCCCCC"/>
                </a:solidFill>
                <a:latin typeface="IBM Plex Mono"/>
              </a:rPr>
              <a:t>  •  Call audio → sent to API (Google, OpenAI, AWS)</a:t>
            </a:r>
          </a:p>
          <a:p>
            <a:pPr>
              <a:spcBef>
                <a:spcPts val="300"/>
              </a:spcBef>
              <a:spcAft>
                <a:spcPts val="200"/>
              </a:spcAft>
            </a:pPr>
            <a:r>
              <a:rPr sz="1600" b="0" i="0">
                <a:solidFill>
                  <a:srgbClr val="CCCCCC"/>
                </a:solidFill>
                <a:latin typeface="IBM Plex Mono"/>
              </a:rPr>
              <a:t>  •  Transcription service processes your call content</a:t>
            </a:r>
          </a:p>
          <a:p>
            <a:pPr>
              <a:spcBef>
                <a:spcPts val="300"/>
              </a:spcBef>
              <a:spcAft>
                <a:spcPts val="200"/>
              </a:spcAft>
            </a:pPr>
            <a:r>
              <a:rPr sz="1600" b="0" i="0">
                <a:solidFill>
                  <a:srgbClr val="CCCCCC"/>
                </a:solidFill>
                <a:latin typeface="IBM Plex Mono"/>
              </a:rPr>
              <a:t>  •  You get text back</a:t>
            </a:r>
          </a:p>
          <a:p>
            <a:pPr>
              <a:spcBef>
                <a:spcPts val="300"/>
              </a:spcBef>
              <a:spcAft>
                <a:spcPts val="200"/>
              </a:spcAft>
            </a:pPr>
            <a:r>
              <a:rPr sz="1600" b="1" i="0">
                <a:solidFill>
                  <a:srgbClr val="F0C674"/>
                </a:solidFill>
                <a:latin typeface="IBM Plex Mono"/>
              </a:rPr>
              <a:t>  •  The transcription provider heard everything</a:t>
            </a:r>
          </a:p>
          <a:p>
            <a:pPr>
              <a:spcBef>
                <a:spcPts val="300"/>
              </a:spcBef>
              <a:spcAft>
                <a:spcPts val="200"/>
              </a:spcAft>
            </a:pPr>
            <a:r>
              <a:rPr sz="1600" b="0" i="0">
                <a:solidFill>
                  <a:srgbClr val="CCCCCC"/>
                </a:solidFill>
                <a:latin typeface="IBM Plex Mono"/>
              </a:rPr>
              <a:t>  •  Subpoena the transcription provider</a:t>
            </a:r>
          </a:p>
          <a:p>
            <a:pPr>
              <a:spcBef>
                <a:spcPts val="800"/>
              </a:spcBef>
              <a:spcAft>
                <a:spcPts val="200"/>
              </a:spcAft>
            </a:pPr>
            <a:r>
              <a:rPr sz="1800" b="1" i="0">
                <a:solidFill>
                  <a:srgbClr val="E84D4D"/>
                </a:solidFill>
                <a:latin typeface="JetBrains Mono"/>
              </a:rPr>
              <a:t>How Llámenos does it</a:t>
            </a:r>
          </a:p>
          <a:p>
            <a:pPr>
              <a:spcBef>
                <a:spcPts val="300"/>
              </a:spcBef>
              <a:spcAft>
                <a:spcPts val="200"/>
              </a:spcAft>
            </a:pPr>
            <a:r>
              <a:rPr sz="1600" b="0" i="0">
                <a:solidFill>
                  <a:srgbClr val="CCCCCC"/>
                </a:solidFill>
                <a:latin typeface="IBM Plex Mono"/>
              </a:rPr>
              <a:t>  •  WASM Whisper model — runs in the volunteer's browser</a:t>
            </a:r>
          </a:p>
          <a:p>
            <a:pPr>
              <a:spcBef>
                <a:spcPts val="300"/>
              </a:spcBef>
              <a:spcAft>
                <a:spcPts val="200"/>
              </a:spcAft>
            </a:pPr>
            <a:r>
              <a:rPr sz="1600" b="0" i="0">
                <a:solidFill>
                  <a:srgbClr val="CCCCCC"/>
                </a:solidFill>
                <a:latin typeface="IBM Plex Mono"/>
              </a:rPr>
              <a:t>  •  AudioWorklet ring buffer → Web Worker isolation</a:t>
            </a:r>
          </a:p>
          <a:p>
            <a:pPr>
              <a:spcBef>
                <a:spcPts val="300"/>
              </a:spcBef>
              <a:spcAft>
                <a:spcPts val="200"/>
              </a:spcAft>
            </a:pPr>
            <a:r>
              <a:rPr sz="1600" b="0" i="0">
                <a:solidFill>
                  <a:srgbClr val="CCCCCC"/>
                </a:solidFill>
                <a:latin typeface="IBM Plex Mono"/>
              </a:rPr>
              <a:t>  •  Transcript generated locally</a:t>
            </a:r>
          </a:p>
          <a:p>
            <a:pPr>
              <a:spcBef>
                <a:spcPts val="300"/>
              </a:spcBef>
              <a:spcAft>
                <a:spcPts val="200"/>
              </a:spcAft>
            </a:pPr>
            <a:r>
              <a:rPr sz="1600" b="1" i="0">
                <a:solidFill>
                  <a:srgbClr val="F0C674"/>
                </a:solidFill>
                <a:latin typeface="IBM Plex Mono"/>
              </a:rPr>
              <a:t>  •  Audio never leaves the device. At all.</a:t>
            </a:r>
          </a:p>
          <a:p>
            <a:pPr>
              <a:spcBef>
                <a:spcPts val="300"/>
              </a:spcBef>
              <a:spcAft>
                <a:spcPts val="200"/>
              </a:spcAft>
            </a:pPr>
            <a:r>
              <a:rPr sz="1600" b="0" i="0">
                <a:solidFill>
                  <a:srgbClr val="CCCCCC"/>
                </a:solidFill>
                <a:latin typeface="IBM Plex Mono"/>
              </a:rPr>
              <a:t>  •  Works offline after first model download</a:t>
            </a:r>
          </a:p>
          <a:p>
            <a:pPr algn="ctr">
              <a:spcBef>
                <a:spcPts val="800"/>
              </a:spcBef>
              <a:spcAft>
                <a:spcPts val="200"/>
              </a:spcAft>
            </a:pPr>
            <a:r>
              <a:rPr sz="1600" b="0" i="1">
                <a:solidFill>
                  <a:srgbClr val="5CC4B0"/>
                </a:solidFill>
                <a:latin typeface="Source Code Pro"/>
              </a:rPr>
              <a:t>The transcription provider can't be subpoenaed for audio that never reached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HPKE — Why We Moved From ECIES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v1: secp256k1 ECIES</a:t>
            </a:r>
          </a:p>
          <a:p>
            <a:pPr>
              <a:spcBef>
                <a:spcPts val="300"/>
              </a:spcBef>
              <a:spcAft>
                <a:spcPts val="200"/>
              </a:spcAft>
            </a:pPr>
            <a:r>
              <a:rPr sz="1600" b="0" i="0">
                <a:solidFill>
                  <a:srgbClr val="CCCCCC"/>
                </a:solidFill>
                <a:latin typeface="IBM Plex Mono"/>
              </a:rPr>
              <a:t>  •  Non-standard curve for key agreement (Nostr-specific)</a:t>
            </a:r>
          </a:p>
          <a:p>
            <a:pPr>
              <a:spcBef>
                <a:spcPts val="300"/>
              </a:spcBef>
              <a:spcAft>
                <a:spcPts val="200"/>
              </a:spcAft>
            </a:pPr>
            <a:r>
              <a:rPr sz="1600" b="0" i="0">
                <a:solidFill>
                  <a:srgbClr val="CCCCCC"/>
                </a:solidFill>
                <a:latin typeface="IBM Plex Mono"/>
              </a:rPr>
              <a:t>  •  Custom construction — no formal proof for this exact combination</a:t>
            </a:r>
          </a:p>
          <a:p>
            <a:pPr>
              <a:spcBef>
                <a:spcPts val="300"/>
              </a:spcBef>
              <a:spcAft>
                <a:spcPts val="200"/>
              </a:spcAft>
            </a:pPr>
            <a:r>
              <a:rPr sz="1600" b="0" i="0">
                <a:solidFill>
                  <a:srgbClr val="CCCCCC"/>
                </a:solidFill>
                <a:latin typeface="IBM Plex Mono"/>
              </a:rPr>
              <a:t>  •  Single secret key per user = single point of compromise</a:t>
            </a:r>
          </a:p>
          <a:p>
            <a:pPr>
              <a:spcBef>
                <a:spcPts val="300"/>
              </a:spcBef>
              <a:spcAft>
                <a:spcPts val="200"/>
              </a:spcAft>
            </a:pPr>
            <a:r>
              <a:rPr sz="1600" b="0" i="0">
                <a:solidFill>
                  <a:srgbClr val="CCCCCC"/>
                </a:solidFill>
                <a:latin typeface="IBM Plex Mono"/>
              </a:rPr>
              <a:t>  •  No domain separation = cross-protocol attack surface</a:t>
            </a:r>
          </a:p>
          <a:p>
            <a:pPr>
              <a:spcBef>
                <a:spcPts val="300"/>
              </a:spcBef>
              <a:spcAft>
                <a:spcPts val="200"/>
              </a:spcAft>
            </a:pPr>
            <a:r>
              <a:rPr sz="1600" b="1" i="0">
                <a:solidFill>
                  <a:srgbClr val="F0C674"/>
                </a:solidFill>
                <a:latin typeface="IBM Plex Mono"/>
              </a:rPr>
              <a:t>  •  Identified in review:</a:t>
            </a:r>
            <a:r>
              <a:rPr sz="1600" b="0" i="0">
                <a:solidFill>
                  <a:srgbClr val="CCCCCC"/>
                </a:solidFill>
                <a:latin typeface="IBM Plex Mono"/>
              </a:rPr>
              <a:t> non-standard, not formally verified</a:t>
            </a:r>
          </a:p>
          <a:p>
            <a:pPr>
              <a:spcBef>
                <a:spcPts val="800"/>
              </a:spcBef>
              <a:spcAft>
                <a:spcPts val="200"/>
              </a:spcAft>
            </a:pPr>
            <a:r>
              <a:rPr sz="1800" b="1" i="0">
                <a:solidFill>
                  <a:srgbClr val="E84D4D"/>
                </a:solidFill>
                <a:latin typeface="JetBrains Mono"/>
              </a:rPr>
              <a:t>v2: HPKE (RFC 9180)</a:t>
            </a:r>
          </a:p>
          <a:p>
            <a:pPr>
              <a:spcBef>
                <a:spcPts val="300"/>
              </a:spcBef>
              <a:spcAft>
                <a:spcPts val="200"/>
              </a:spcAft>
            </a:pPr>
            <a:r>
              <a:rPr sz="1600" b="0" i="0">
                <a:solidFill>
                  <a:srgbClr val="CCCCCC"/>
                </a:solidFill>
                <a:latin typeface="IBM Plex Mono"/>
              </a:rPr>
              <a:t>  •  X25519 key agreement (standard, constant-time)</a:t>
            </a:r>
          </a:p>
          <a:p>
            <a:pPr>
              <a:spcBef>
                <a:spcPts val="300"/>
              </a:spcBef>
              <a:spcAft>
                <a:spcPts val="200"/>
              </a:spcAft>
            </a:pPr>
            <a:r>
              <a:rPr sz="1600" b="0" i="0">
                <a:solidFill>
                  <a:srgbClr val="CCCCCC"/>
                </a:solidFill>
                <a:latin typeface="IBM Plex Mono"/>
              </a:rPr>
              <a:t>  •  HKDF-SHA256 for KDF (standard)</a:t>
            </a:r>
          </a:p>
          <a:p>
            <a:pPr>
              <a:spcBef>
                <a:spcPts val="300"/>
              </a:spcBef>
              <a:spcAft>
                <a:spcPts val="200"/>
              </a:spcAft>
            </a:pPr>
            <a:r>
              <a:rPr sz="1600" b="0" i="0">
                <a:solidFill>
                  <a:srgbClr val="CCCCCC"/>
                </a:solidFill>
                <a:latin typeface="IBM Plex Mono"/>
              </a:rPr>
              <a:t>  •  AES-256-GCM for AEAD (standard)</a:t>
            </a:r>
          </a:p>
          <a:p>
            <a:pPr>
              <a:spcBef>
                <a:spcPts val="300"/>
              </a:spcBef>
              <a:spcAft>
                <a:spcPts val="200"/>
              </a:spcAft>
            </a:pPr>
            <a:r>
              <a:rPr sz="1600" b="0" i="0">
                <a:solidFill>
                  <a:srgbClr val="CCCCCC"/>
                </a:solidFill>
                <a:latin typeface="IBM Plex Mono"/>
              </a:rPr>
              <a:t>  •  Formally specified, IETF-maintained, actively audited</a:t>
            </a:r>
          </a:p>
          <a:p>
            <a:pPr>
              <a:spcBef>
                <a:spcPts val="300"/>
              </a:spcBef>
              <a:spcAft>
                <a:spcPts val="200"/>
              </a:spcAft>
            </a:pPr>
            <a:r>
              <a:rPr sz="1600" b="0" i="0">
                <a:solidFill>
                  <a:srgbClr val="CCCCCC"/>
                </a:solidFill>
                <a:latin typeface="IBM Plex Mono"/>
              </a:rPr>
              <a:t>  •  Per-device keys + sigchain authorization</a:t>
            </a:r>
          </a:p>
          <a:p>
            <a:pPr>
              <a:spcBef>
                <a:spcPts val="300"/>
              </a:spcBef>
              <a:spcAft>
                <a:spcPts val="200"/>
              </a:spcAft>
            </a:pPr>
            <a:r>
              <a:rPr sz="1600" b="1" i="0">
                <a:solidFill>
                  <a:srgbClr val="F0C674"/>
                </a:solidFill>
                <a:latin typeface="IBM Plex Mono"/>
              </a:rPr>
              <a:t>  •  57 domain separation labels</a:t>
            </a:r>
            <a:r>
              <a:rPr sz="1600" b="0" i="0">
                <a:solidFill>
                  <a:srgbClr val="CCCCCC"/>
                </a:solidFill>
                <a:latin typeface="IBM Plex Mono"/>
              </a:rPr>
              <a:t> (Albrecht defense)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57 Domain Separation Labels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Every cryptographic operation has a unique context string.</a:t>
            </a:r>
          </a:p>
        </p:txBody>
      </p:sp>
      <p:sp>
        <p:nvSpPr>
          <p:cNvPr id="5" name="Rounded Rectangle 4"/>
          <p:cNvSpPr/>
          <p:nvPr/>
        </p:nvSpPr>
        <p:spPr>
          <a:xfrm>
            <a:off x="548640" y="1005840"/>
            <a:ext cx="11094415" cy="1920240"/>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1737360"/>
          </a:xfrm>
          <a:prstGeom prst="rect">
            <a:avLst/>
          </a:prstGeom>
          <a:noFill/>
        </p:spPr>
        <p:txBody>
          <a:bodyPr wrap="square">
            <a:spAutoFit/>
          </a:bodyPr>
          <a:lstStyle/>
          <a:p>
            <a:pPr>
              <a:spcBef>
                <a:spcPts val="0"/>
              </a:spcBef>
              <a:spcAft>
                <a:spcPts val="0"/>
              </a:spcAft>
            </a:pPr>
            <a:r>
              <a:rPr sz="1200" b="0" i="0">
                <a:solidFill>
                  <a:srgbClr val="5CC4B0"/>
                </a:solidFill>
                <a:latin typeface="Fira Code"/>
              </a:rPr>
              <a:t>// From packages/protocol/crypto-labels.json — source of truth for all platforms</a:t>
            </a:r>
          </a:p>
          <a:p>
            <a:pPr>
              <a:spcBef>
                <a:spcPts val="0"/>
              </a:spcBef>
              <a:spcAft>
                <a:spcPts val="0"/>
              </a:spcAft>
            </a:pPr>
          </a:p>
          <a:p>
            <a:pPr>
              <a:spcBef>
                <a:spcPts val="0"/>
              </a:spcBef>
              <a:spcAft>
                <a:spcPts val="0"/>
              </a:spcAft>
            </a:pPr>
            <a:r>
              <a:rPr sz="1200" b="0" i="0">
                <a:solidFill>
                  <a:srgbClr val="5CC4B0"/>
                </a:solidFill>
                <a:latin typeface="Fira Code"/>
              </a:rPr>
              <a:t>"llamenos:note-key"          // Per-note key wrapping</a:t>
            </a:r>
          </a:p>
          <a:p>
            <a:pPr>
              <a:spcBef>
                <a:spcPts val="0"/>
              </a:spcBef>
              <a:spcAft>
                <a:spcPts val="0"/>
              </a:spcAft>
            </a:pPr>
            <a:r>
              <a:rPr sz="1200" b="0" i="0">
                <a:solidFill>
                  <a:srgbClr val="5CC4B0"/>
                </a:solidFill>
                <a:latin typeface="Fira Code"/>
              </a:rPr>
              <a:t>"llamenos:message"           // Per-message envelope encryption  </a:t>
            </a:r>
          </a:p>
          <a:p>
            <a:pPr>
              <a:spcBef>
                <a:spcPts val="0"/>
              </a:spcBef>
              <a:spcAft>
                <a:spcPts val="0"/>
              </a:spcAft>
            </a:pPr>
            <a:r>
              <a:rPr sz="1200" b="0" i="0">
                <a:solidFill>
                  <a:srgbClr val="5CC4B0"/>
                </a:solidFill>
                <a:latin typeface="Fira Code"/>
              </a:rPr>
              <a:t>"llamenos:hub-key-wrap"      // Hub key distribution</a:t>
            </a:r>
          </a:p>
          <a:p>
            <a:pPr>
              <a:spcBef>
                <a:spcPts val="0"/>
              </a:spcBef>
              <a:spcAft>
                <a:spcPts val="0"/>
              </a:spcAft>
            </a:pPr>
            <a:r>
              <a:rPr sz="1200" b="0" i="0">
                <a:solidFill>
                  <a:srgbClr val="5CC4B0"/>
                </a:solidFill>
                <a:latin typeface="Fira Code"/>
              </a:rPr>
              <a:t>"llamenos:file-key"          // Per-file symmetric key</a:t>
            </a:r>
          </a:p>
          <a:p>
            <a:pPr>
              <a:spcBef>
                <a:spcPts val="0"/>
              </a:spcBef>
              <a:spcAft>
                <a:spcPts val="0"/>
              </a:spcAft>
            </a:pPr>
            <a:r>
              <a:rPr sz="1200" b="0" i="0">
                <a:solidFill>
                  <a:srgbClr val="5CC4B0"/>
                </a:solidFill>
                <a:latin typeface="Fira Code"/>
              </a:rPr>
              <a:t>"llamenos:device-provision"  // Device linking ECDH</a:t>
            </a:r>
          </a:p>
          <a:p>
            <a:pPr>
              <a:spcBef>
                <a:spcPts val="0"/>
              </a:spcBef>
              <a:spcAft>
                <a:spcPts val="0"/>
              </a:spcAft>
            </a:pPr>
            <a:r>
              <a:rPr sz="1200" b="0" i="0">
                <a:solidFill>
                  <a:srgbClr val="5CC4B0"/>
                </a:solidFill>
                <a:latin typeface="Fira Code"/>
              </a:rPr>
              <a:t>"llamenos:push-wake"         // Push notification wake key</a:t>
            </a:r>
          </a:p>
          <a:p>
            <a:pPr>
              <a:spcBef>
                <a:spcPts val="0"/>
              </a:spcBef>
              <a:spcAft>
                <a:spcPts val="0"/>
              </a:spcAft>
            </a:pPr>
            <a:r>
              <a:rPr sz="1200" b="0" i="0">
                <a:solidFill>
                  <a:srgbClr val="5CC4B0"/>
                </a:solidFill>
                <a:latin typeface="Fira Code"/>
              </a:rPr>
              <a:t>"llamenos:sas"               // Short authentication string (SAS) HKDF salt</a:t>
            </a:r>
          </a:p>
          <a:p>
            <a:pPr>
              <a:spcBef>
                <a:spcPts val="0"/>
              </a:spcBef>
              <a:spcAft>
                <a:spcPts val="0"/>
              </a:spcAft>
            </a:pPr>
            <a:r>
              <a:rPr sz="1200" b="0" i="0">
                <a:solidFill>
                  <a:srgbClr val="5CC4B0"/>
                </a:solidFill>
                <a:latin typeface="Fira Code"/>
              </a:rPr>
              <a:t>// ... 50 more</a:t>
            </a:r>
          </a:p>
        </p:txBody>
      </p:sp>
      <p:sp>
        <p:nvSpPr>
          <p:cNvPr id="7" name="TextBox 6"/>
          <p:cNvSpPr txBox="1"/>
          <p:nvPr/>
        </p:nvSpPr>
        <p:spPr>
          <a:xfrm>
            <a:off x="548640" y="3017520"/>
            <a:ext cx="11094415" cy="3200400"/>
          </a:xfrm>
          <a:prstGeom prst="rect">
            <a:avLst/>
          </a:prstGeom>
          <a:noFill/>
        </p:spPr>
        <p:txBody>
          <a:bodyPr wrap="square">
            <a:spAutoFit/>
          </a:bodyPr>
          <a:lstStyle/>
          <a:p>
            <a:pPr algn="ctr"/>
            <a:r>
              <a:rPr sz="1600" b="0" i="1">
                <a:solidFill>
                  <a:srgbClr val="5CC4B0"/>
                </a:solidFill>
                <a:latin typeface="Source Code Pro"/>
              </a:rPr>
              <a:t>Without domain separation: an attacker could craft an input valid as both a message key and a note key, achieving a cross-protocol attack. With 57 distinct labels: each operation is cryptographically isolated.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Per-Device Keys + User Sigchain</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2615184"/>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2432304"/>
          </a:xfrm>
          <a:prstGeom prst="rect">
            <a:avLst/>
          </a:prstGeom>
          <a:noFill/>
        </p:spPr>
        <p:txBody>
          <a:bodyPr wrap="square">
            <a:spAutoFit/>
          </a:bodyPr>
          <a:lstStyle/>
          <a:p>
            <a:pPr>
              <a:spcBef>
                <a:spcPts val="0"/>
              </a:spcBef>
              <a:spcAft>
                <a:spcPts val="0"/>
              </a:spcAft>
            </a:pPr>
            <a:r>
              <a:rPr sz="1200" b="0" i="0">
                <a:solidFill>
                  <a:srgbClr val="5CC4B0"/>
                </a:solidFill>
                <a:latin typeface="Fira Code"/>
              </a:rPr>
              <a:t>Old model (v1):</a:t>
            </a:r>
          </a:p>
          <a:p>
            <a:pPr>
              <a:spcBef>
                <a:spcPts val="0"/>
              </a:spcBef>
              <a:spcAft>
                <a:spcPts val="0"/>
              </a:spcAft>
            </a:pPr>
            <a:r>
              <a:rPr sz="1200" b="0" i="0">
                <a:solidFill>
                  <a:srgbClr val="5CC4B0"/>
                </a:solidFill>
                <a:latin typeface="Fira Code"/>
              </a:rPr>
              <a:t>  User has ONE secret key</a:t>
            </a:r>
          </a:p>
          <a:p>
            <a:pPr>
              <a:spcBef>
                <a:spcPts val="0"/>
              </a:spcBef>
              <a:spcAft>
                <a:spcPts val="0"/>
              </a:spcAft>
            </a:pPr>
            <a:r>
              <a:rPr sz="1200" b="0" i="0">
                <a:solidFill>
                  <a:srgbClr val="5CC4B0"/>
                </a:solidFill>
                <a:latin typeface="Fira Code"/>
              </a:rPr>
              <a:t>  Same key on every device</a:t>
            </a:r>
          </a:p>
          <a:p>
            <a:pPr>
              <a:spcBef>
                <a:spcPts val="0"/>
              </a:spcBef>
              <a:spcAft>
                <a:spcPts val="0"/>
              </a:spcAft>
            </a:pPr>
            <a:r>
              <a:rPr sz="1200" b="0" i="0">
                <a:solidFill>
                  <a:srgbClr val="5CC4B0"/>
                </a:solidFill>
                <a:latin typeface="Fira Code"/>
              </a:rPr>
              <a:t>  Device compromise = full account compromise</a:t>
            </a:r>
          </a:p>
          <a:p>
            <a:pPr>
              <a:spcBef>
                <a:spcPts val="0"/>
              </a:spcBef>
              <a:spcAft>
                <a:spcPts val="0"/>
              </a:spcAft>
            </a:pPr>
          </a:p>
          <a:p>
            <a:pPr>
              <a:spcBef>
                <a:spcPts val="0"/>
              </a:spcBef>
              <a:spcAft>
                <a:spcPts val="0"/>
              </a:spcAft>
            </a:pPr>
            <a:r>
              <a:rPr sz="1200" b="0" i="0">
                <a:solidFill>
                  <a:srgbClr val="5CC4B0"/>
                </a:solidFill>
                <a:latin typeface="Fira Code"/>
              </a:rPr>
              <a:t>New model (v2):</a:t>
            </a:r>
          </a:p>
          <a:p>
            <a:pPr>
              <a:spcBef>
                <a:spcPts val="0"/>
              </a:spcBef>
              <a:spcAft>
                <a:spcPts val="0"/>
              </a:spcAft>
            </a:pPr>
            <a:r>
              <a:rPr sz="1200" b="0" i="0">
                <a:solidFill>
                  <a:srgbClr val="5CC4B0"/>
                </a:solidFill>
                <a:latin typeface="Fira Code"/>
              </a:rPr>
              <a:t>  User has a sigchain (append-only, hash-chained)</a:t>
            </a:r>
          </a:p>
          <a:p>
            <a:pPr>
              <a:spcBef>
                <a:spcPts val="0"/>
              </a:spcBef>
              <a:spcAft>
                <a:spcPts val="0"/>
              </a:spcAft>
            </a:pPr>
            <a:r>
              <a:rPr sz="1200" b="0" i="0">
                <a:solidFill>
                  <a:srgbClr val="5CC4B0"/>
                </a:solidFill>
                <a:latin typeface="Fira Code"/>
              </a:rPr>
              <a:t>  Each device has its own Ed25519/X25519 keypair</a:t>
            </a:r>
          </a:p>
          <a:p>
            <a:pPr>
              <a:spcBef>
                <a:spcPts val="0"/>
              </a:spcBef>
              <a:spcAft>
                <a:spcPts val="0"/>
              </a:spcAft>
            </a:pPr>
            <a:r>
              <a:rPr sz="1200" b="0" i="0">
                <a:solidFill>
                  <a:srgbClr val="5CC4B0"/>
                </a:solidFill>
                <a:latin typeface="Fira Code"/>
              </a:rPr>
              <a:t>  New device linked via ephemeral ECDH provisioning room</a:t>
            </a:r>
          </a:p>
          <a:p>
            <a:pPr>
              <a:spcBef>
                <a:spcPts val="0"/>
              </a:spcBef>
              <a:spcAft>
                <a:spcPts val="0"/>
              </a:spcAft>
            </a:pPr>
            <a:r>
              <a:rPr sz="1200" b="0" i="0">
                <a:solidFill>
                  <a:srgbClr val="5CC4B0"/>
                </a:solidFill>
                <a:latin typeface="Fira Code"/>
              </a:rPr>
              <a:t>  SAS verification prevents MITM on device link</a:t>
            </a:r>
          </a:p>
          <a:p>
            <a:pPr>
              <a:spcBef>
                <a:spcPts val="0"/>
              </a:spcBef>
              <a:spcAft>
                <a:spcPts val="0"/>
              </a:spcAft>
            </a:pPr>
          </a:p>
          <a:p>
            <a:pPr>
              <a:spcBef>
                <a:spcPts val="0"/>
              </a:spcBef>
              <a:spcAft>
                <a:spcPts val="0"/>
              </a:spcAft>
            </a:pPr>
            <a:r>
              <a:rPr sz="1200" b="0" i="0">
                <a:solidFill>
                  <a:srgbClr val="5CC4B0"/>
                </a:solidFill>
                <a:latin typeface="Fira Code"/>
              </a:rPr>
              <a:t>  Sigchain entry:</a:t>
            </a:r>
          </a:p>
          <a:p>
            <a:pPr>
              <a:spcBef>
                <a:spcPts val="0"/>
              </a:spcBef>
              <a:spcAft>
                <a:spcPts val="0"/>
              </a:spcAft>
            </a:pPr>
            <a:r>
              <a:rPr sz="1200" b="0" i="0">
                <a:solidFill>
                  <a:srgbClr val="5CC4B0"/>
                </a:solidFill>
                <a:latin typeface="Fira Code"/>
              </a:rPr>
              <a:t>    { devicePubkey, authorizedBy, timestamp, previousHash, sig }</a:t>
            </a:r>
          </a:p>
          <a:p>
            <a:pPr>
              <a:spcBef>
                <a:spcPts val="0"/>
              </a:spcBef>
              <a:spcAft>
                <a:spcPts val="0"/>
              </a:spcAft>
            </a:pPr>
            <a:r>
              <a:rPr sz="1200" b="0" i="0">
                <a:solidFill>
                  <a:srgbClr val="5CC4B0"/>
                </a:solidFill>
                <a:latin typeface="Fira Code"/>
              </a:rPr>
              <a:t>    Signed by existing authorized device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Per-Message Envelope Encryption</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Same zero-knowledge pattern as notes — for inbound Signal, SMS, WhatsApp messages:</a:t>
            </a:r>
          </a:p>
        </p:txBody>
      </p:sp>
      <p:sp>
        <p:nvSpPr>
          <p:cNvPr id="5" name="Rounded Rectangle 4"/>
          <p:cNvSpPr/>
          <p:nvPr/>
        </p:nvSpPr>
        <p:spPr>
          <a:xfrm>
            <a:off x="548640" y="1005840"/>
            <a:ext cx="11094415" cy="2441448"/>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2258568"/>
          </a:xfrm>
          <a:prstGeom prst="rect">
            <a:avLst/>
          </a:prstGeom>
          <a:noFill/>
        </p:spPr>
        <p:txBody>
          <a:bodyPr wrap="square">
            <a:spAutoFit/>
          </a:bodyPr>
          <a:lstStyle/>
          <a:p>
            <a:pPr>
              <a:spcBef>
                <a:spcPts val="0"/>
              </a:spcBef>
              <a:spcAft>
                <a:spcPts val="0"/>
              </a:spcAft>
            </a:pPr>
            <a:r>
              <a:rPr sz="1200" b="0" i="0">
                <a:solidFill>
                  <a:srgbClr val="5CC4B0"/>
                </a:solidFill>
                <a:latin typeface="Fira Code"/>
              </a:rPr>
              <a:t>Inbound message arrives (Signal/SMS/WhatsApp)</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Server generates random symmetric key</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Encrypt message with symmetric key  --&gt;  ciphertext</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HPKE-wrap key for volunteer + each admin  --&gt;  envelopes</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v</a:t>
            </a:r>
          </a:p>
          <a:p>
            <a:pPr>
              <a:spcBef>
                <a:spcPts val="0"/>
              </a:spcBef>
              <a:spcAft>
                <a:spcPts val="0"/>
              </a:spcAft>
            </a:pPr>
            <a:r>
              <a:rPr sz="1200" b="0" i="0">
                <a:solidFill>
                  <a:srgbClr val="5CC4B0"/>
                </a:solidFill>
                <a:latin typeface="Fira Code"/>
              </a:rPr>
              <a:t>Discard plaintext immediately. Store only ciphertext + envelopes.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4</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What Does a Subpoena Actually Get?</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Hosting Provider Subpoena (1984 Hosting, VPS)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What they CAN hand over:</a:t>
            </a:r>
          </a:p>
        </p:txBody>
      </p:sp>
      <p:graphicFrame>
        <p:nvGraphicFramePr>
          <p:cNvPr id="5" name="Table 4"/>
          <p:cNvGraphicFramePr>
            <a:graphicFrameLocks noGrp="1"/>
          </p:cNvGraphicFramePr>
          <p:nvPr/>
        </p:nvGraphicFramePr>
        <p:xfrm>
          <a:off x="548640" y="1005840"/>
          <a:ext cx="11094415" cy="1755648"/>
        </p:xfrm>
        <a:graphic>
          <a:graphicData uri="http://schemas.openxmlformats.org/drawingml/2006/table">
            <a:tbl>
              <a:tblPr firstRow="1" bandRow="1">
                <a:tableStyleId>{5C22544A-7EE6-4342-B048-85BDC9FD1C3A}</a:tableStyleId>
              </a:tblPr>
              <a:tblGrid>
                <a:gridCol w="5547207"/>
                <a:gridCol w="5547208"/>
              </a:tblGrid>
              <a:tr h="292608">
                <a:tc>
                  <a:txBody>
                    <a:bodyPr/>
                    <a:lstStyle/>
                    <a:p>
                      <a:r>
                        <a:rPr sz="1300" b="1">
                          <a:solidFill>
                            <a:srgbClr val="F0C674"/>
                          </a:solidFill>
                          <a:latin typeface="IBM Plex Mono"/>
                        </a:rPr>
                        <a:t>Data</a:t>
                      </a:r>
                    </a:p>
                  </a:txBody>
                  <a:tcPr>
                    <a:solidFill>
                      <a:srgbClr val="2A2A4A"/>
                    </a:solidFill>
                  </a:tcPr>
                </a:tc>
                <a:tc>
                  <a:txBody>
                    <a:bodyPr/>
                    <a:lstStyle/>
                    <a:p>
                      <a:r>
                        <a:rPr sz="1300" b="1">
                          <a:solidFill>
                            <a:srgbClr val="F0C674"/>
                          </a:solidFill>
                          <a:latin typeface="IBM Plex Mono"/>
                        </a:rPr>
                        <a:t>What it reveals</a:t>
                      </a:r>
                    </a:p>
                  </a:txBody>
                  <a:tcPr>
                    <a:solidFill>
                      <a:srgbClr val="2A2A4A"/>
                    </a:solidFill>
                  </a:tcPr>
                </a:tc>
              </a:tr>
              <a:tr h="292608">
                <a:tc>
                  <a:txBody>
                    <a:bodyPr/>
                    <a:lstStyle/>
                    <a:p>
                      <a:r>
                        <a:rPr sz="1200">
                          <a:solidFill>
                            <a:srgbClr val="CCCCCC"/>
                          </a:solidFill>
                          <a:latin typeface="IBM Plex Mono"/>
                        </a:rPr>
                        <a:t>Call metadata</a:t>
                      </a:r>
                    </a:p>
                  </a:txBody>
                  <a:tcPr>
                    <a:solidFill>
                      <a:srgbClr val="1E1E38"/>
                    </a:solidFill>
                  </a:tcPr>
                </a:tc>
                <a:tc>
                  <a:txBody>
                    <a:bodyPr/>
                    <a:lstStyle/>
                    <a:p>
                      <a:r>
                        <a:rPr sz="1200">
                          <a:solidFill>
                            <a:srgbClr val="CCCCCC"/>
                          </a:solidFill>
                          <a:latin typeface="IBM Plex Mono"/>
                        </a:rPr>
                        <a:t>Timestamps, durations, volunteer assignment (pubkey only)</a:t>
                      </a:r>
                    </a:p>
                  </a:txBody>
                  <a:tcPr>
                    <a:solidFill>
                      <a:srgbClr val="1E1E38"/>
                    </a:solidFill>
                  </a:tcPr>
                </a:tc>
              </a:tr>
              <a:tr h="292608">
                <a:tc>
                  <a:txBody>
                    <a:bodyPr/>
                    <a:lstStyle/>
                    <a:p>
                      <a:r>
                        <a:rPr sz="1200">
                          <a:solidFill>
                            <a:srgbClr val="CCCCCC"/>
                          </a:solidFill>
                          <a:latin typeface="IBM Plex Mono"/>
                        </a:rPr>
                        <a:t>Encrypted database blobs</a:t>
                      </a:r>
                    </a:p>
                  </a:txBody>
                  <a:tcPr>
                    <a:solidFill>
                      <a:srgbClr val="242442"/>
                    </a:solidFill>
                  </a:tcPr>
                </a:tc>
                <a:tc>
                  <a:txBody>
                    <a:bodyPr/>
                    <a:lstStyle/>
                    <a:p>
                      <a:r>
                        <a:rPr sz="1200">
                          <a:solidFill>
                            <a:srgbClr val="CCCCCC"/>
                          </a:solidFill>
                          <a:latin typeface="IBM Plex Mono"/>
                        </a:rPr>
                        <a:t>Ciphertext — useless without volunteer/admin private keys</a:t>
                      </a:r>
                    </a:p>
                  </a:txBody>
                  <a:tcPr>
                    <a:solidFill>
                      <a:srgbClr val="242442"/>
                    </a:solidFill>
                  </a:tcPr>
                </a:tc>
              </a:tr>
              <a:tr h="292608">
                <a:tc>
                  <a:txBody>
                    <a:bodyPr/>
                    <a:lstStyle/>
                    <a:p>
                      <a:r>
                        <a:rPr sz="1200">
                          <a:solidFill>
                            <a:srgbClr val="CCCCCC"/>
                          </a:solidFill>
                          <a:latin typeface="IBM Plex Mono"/>
                        </a:rPr>
                        <a:t>Caller phone hashes</a:t>
                      </a:r>
                    </a:p>
                  </a:txBody>
                  <a:tcPr>
                    <a:solidFill>
                      <a:srgbClr val="1E1E38"/>
                    </a:solidFill>
                  </a:tcPr>
                </a:tc>
                <a:tc>
                  <a:txBody>
                    <a:bodyPr/>
                    <a:lstStyle/>
                    <a:p>
                      <a:r>
                        <a:rPr sz="1200">
                          <a:solidFill>
                            <a:srgbClr val="CCCCCC"/>
                          </a:solidFill>
                          <a:latin typeface="IBM Plex Mono"/>
                        </a:rPr>
                        <a:t>HMAC hashes — irreversible without your HMAC secret</a:t>
                      </a:r>
                    </a:p>
                  </a:txBody>
                  <a:tcPr>
                    <a:solidFill>
                      <a:srgbClr val="1E1E38"/>
                    </a:solidFill>
                  </a:tcPr>
                </a:tc>
              </a:tr>
              <a:tr h="292608">
                <a:tc>
                  <a:txBody>
                    <a:bodyPr/>
                    <a:lstStyle/>
                    <a:p>
                      <a:r>
                        <a:rPr sz="1200">
                          <a:solidFill>
                            <a:srgbClr val="CCCCCC"/>
                          </a:solidFill>
                          <a:latin typeface="IBM Plex Mono"/>
                        </a:rPr>
                        <a:t>Audit logs</a:t>
                      </a:r>
                    </a:p>
                  </a:txBody>
                  <a:tcPr>
                    <a:solidFill>
                      <a:srgbClr val="242442"/>
                    </a:solidFill>
                  </a:tcPr>
                </a:tc>
                <a:tc>
                  <a:txBody>
                    <a:bodyPr/>
                    <a:lstStyle/>
                    <a:p>
                      <a:r>
                        <a:rPr sz="1200">
                          <a:solidFill>
                            <a:srgbClr val="CCCCCC"/>
                          </a:solidFill>
                          <a:latin typeface="IBM Plex Mono"/>
                        </a:rPr>
                        <a:t>Event types + truncated IP hashes, no content</a:t>
                      </a:r>
                    </a:p>
                  </a:txBody>
                  <a:tcPr>
                    <a:solidFill>
                      <a:srgbClr val="242442"/>
                    </a:solidFill>
                  </a:tcPr>
                </a:tc>
              </a:tr>
              <a:tr h="292608">
                <a:tc>
                  <a:txBody>
                    <a:bodyPr/>
                    <a:lstStyle/>
                    <a:p>
                      <a:r>
                        <a:rPr sz="1200">
                          <a:solidFill>
                            <a:srgbClr val="CCCCCC"/>
                          </a:solidFill>
                          <a:latin typeface="IBM Plex Mono"/>
                        </a:rPr>
                        <a:t>Traffic metadata</a:t>
                      </a:r>
                    </a:p>
                  </a:txBody>
                  <a:tcPr>
                    <a:solidFill>
                      <a:srgbClr val="1E1E38"/>
                    </a:solidFill>
                  </a:tcPr>
                </a:tc>
                <a:tc>
                  <a:txBody>
                    <a:bodyPr/>
                    <a:lstStyle/>
                    <a:p>
                      <a:r>
                        <a:rPr sz="1200">
                          <a:solidFill>
                            <a:srgbClr val="CCCCCC"/>
                          </a:solidFill>
                          <a:latin typeface="IBM Plex Mono"/>
                        </a:rPr>
                        <a:t>Request times, sizes, IP addresses</a:t>
                      </a:r>
                    </a:p>
                  </a:txBody>
                  <a:tcPr>
                    <a:solidFill>
                      <a:srgbClr val="1E1E38"/>
                    </a:solidFill>
                  </a:tcPr>
                </a:tc>
              </a:tr>
            </a:tbl>
          </a:graphicData>
        </a:graphic>
      </p:graphicFrame>
      <p:sp>
        <p:nvSpPr>
          <p:cNvPr id="6" name="TextBox 5"/>
          <p:cNvSpPr txBox="1"/>
          <p:nvPr/>
        </p:nvSpPr>
        <p:spPr>
          <a:xfrm>
            <a:off x="548640" y="2852928"/>
            <a:ext cx="11094415" cy="3364992"/>
          </a:xfrm>
          <a:prstGeom prst="rect">
            <a:avLst/>
          </a:prstGeom>
          <a:noFill/>
        </p:spPr>
        <p:txBody>
          <a:bodyPr wrap="square">
            <a:spAutoFit/>
          </a:bodyPr>
          <a:lstStyle/>
          <a:p>
            <a:r>
              <a:rPr sz="1600" b="1" i="0">
                <a:solidFill>
                  <a:srgbClr val="F0F0F0"/>
                </a:solidFill>
                <a:latin typeface="IBM Plex Mono"/>
              </a:rPr>
              <a:t>What they CANNOT hand over:</a:t>
            </a:r>
          </a:p>
          <a:p>
            <a:pPr>
              <a:spcBef>
                <a:spcPts val="300"/>
              </a:spcBef>
              <a:spcAft>
                <a:spcPts val="200"/>
              </a:spcAft>
            </a:pPr>
            <a:r>
              <a:rPr sz="1600" b="0" i="0">
                <a:solidFill>
                  <a:srgbClr val="CCCCCC"/>
                </a:solidFill>
                <a:latin typeface="IBM Plex Mono"/>
              </a:rPr>
              <a:t>Note content, message content, transcription text, per-note encryption keys (ephemeral, never stored), volunteer private keys (device-side only), your HMAC secret.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Telephony Provider Subpoena (Twilio, Telnyx, etc.)</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What they CAN hand over:</a:t>
            </a:r>
          </a:p>
        </p:txBody>
      </p:sp>
      <p:graphicFrame>
        <p:nvGraphicFramePr>
          <p:cNvPr id="5" name="Table 4"/>
          <p:cNvGraphicFramePr>
            <a:graphicFrameLocks noGrp="1"/>
          </p:cNvGraphicFramePr>
          <p:nvPr/>
        </p:nvGraphicFramePr>
        <p:xfrm>
          <a:off x="548640" y="1005840"/>
          <a:ext cx="11094415" cy="1463040"/>
        </p:xfrm>
        <a:graphic>
          <a:graphicData uri="http://schemas.openxmlformats.org/drawingml/2006/table">
            <a:tbl>
              <a:tblPr firstRow="1" bandRow="1">
                <a:tableStyleId>{5C22544A-7EE6-4342-B048-85BDC9FD1C3A}</a:tableStyleId>
              </a:tblPr>
              <a:tblGrid>
                <a:gridCol w="5547207"/>
                <a:gridCol w="5547208"/>
              </a:tblGrid>
              <a:tr h="292608">
                <a:tc>
                  <a:txBody>
                    <a:bodyPr/>
                    <a:lstStyle/>
                    <a:p>
                      <a:r>
                        <a:rPr sz="1300" b="1">
                          <a:solidFill>
                            <a:srgbClr val="F0C674"/>
                          </a:solidFill>
                          <a:latin typeface="IBM Plex Mono"/>
                        </a:rPr>
                        <a:t>Data</a:t>
                      </a:r>
                    </a:p>
                  </a:txBody>
                  <a:tcPr>
                    <a:solidFill>
                      <a:srgbClr val="2A2A4A"/>
                    </a:solidFill>
                  </a:tcPr>
                </a:tc>
                <a:tc>
                  <a:txBody>
                    <a:bodyPr/>
                    <a:lstStyle/>
                    <a:p>
                      <a:r>
                        <a:rPr sz="1300" b="1">
                          <a:solidFill>
                            <a:srgbClr val="F0C674"/>
                          </a:solidFill>
                          <a:latin typeface="IBM Plex Mono"/>
                        </a:rPr>
                        <a:t>If you use...</a:t>
                      </a:r>
                    </a:p>
                  </a:txBody>
                  <a:tcPr>
                    <a:solidFill>
                      <a:srgbClr val="2A2A4A"/>
                    </a:solidFill>
                  </a:tcPr>
                </a:tc>
              </a:tr>
              <a:tr h="292608">
                <a:tc>
                  <a:txBody>
                    <a:bodyPr/>
                    <a:lstStyle/>
                    <a:p>
                      <a:r>
                        <a:rPr sz="1200">
                          <a:solidFill>
                            <a:srgbClr val="CCCCCC"/>
                          </a:solidFill>
                          <a:latin typeface="IBM Plex Mono"/>
                        </a:rPr>
                        <a:t>Call detail records (caller ID, times, duration)</a:t>
                      </a:r>
                    </a:p>
                  </a:txBody>
                  <a:tcPr>
                    <a:solidFill>
                      <a:srgbClr val="1E1E38"/>
                    </a:solidFill>
                  </a:tcPr>
                </a:tc>
                <a:tc>
                  <a:txBody>
                    <a:bodyPr/>
                    <a:lstStyle/>
                    <a:p>
                      <a:r>
                        <a:rPr sz="1200">
                          <a:solidFill>
                            <a:srgbClr val="CCCCCC"/>
                          </a:solidFill>
                          <a:latin typeface="IBM Plex Mono"/>
                        </a:rPr>
                        <a:t>All providers</a:t>
                      </a:r>
                    </a:p>
                  </a:txBody>
                  <a:tcPr>
                    <a:solidFill>
                      <a:srgbClr val="1E1E38"/>
                    </a:solidFill>
                  </a:tcPr>
                </a:tc>
              </a:tr>
              <a:tr h="292608">
                <a:tc>
                  <a:txBody>
                    <a:bodyPr/>
                    <a:lstStyle/>
                    <a:p>
                      <a:r>
                        <a:rPr sz="1200">
                          <a:solidFill>
                            <a:srgbClr val="CCCCCC"/>
                          </a:solidFill>
                          <a:latin typeface="IBM Plex Mono"/>
                        </a:rPr>
                        <a:t>Call recordings</a:t>
                      </a:r>
                    </a:p>
                  </a:txBody>
                  <a:tcPr>
                    <a:solidFill>
                      <a:srgbClr val="242442"/>
                    </a:solidFill>
                  </a:tcPr>
                </a:tc>
                <a:tc>
                  <a:txBody>
                    <a:bodyPr/>
                    <a:lstStyle/>
                    <a:p>
                      <a:r>
                        <a:rPr sz="1200">
                          <a:solidFill>
                            <a:srgbClr val="CCCCCC"/>
                          </a:solidFill>
                          <a:latin typeface="IBM Plex Mono"/>
                        </a:rPr>
                        <a:t>Only if recording is enabled — **Llámenos does NOT enable recording by default**</a:t>
                      </a:r>
                    </a:p>
                  </a:txBody>
                  <a:tcPr>
                    <a:solidFill>
                      <a:srgbClr val="242442"/>
                    </a:solidFill>
                  </a:tcPr>
                </a:tc>
              </a:tr>
              <a:tr h="292608">
                <a:tc>
                  <a:txBody>
                    <a:bodyPr/>
                    <a:lstStyle/>
                    <a:p>
                      <a:r>
                        <a:rPr sz="1200">
                          <a:solidFill>
                            <a:srgbClr val="CCCCCC"/>
                          </a:solidFill>
                          <a:latin typeface="IBM Plex Mono"/>
                        </a:rPr>
                        <a:t>SMS message content</a:t>
                      </a:r>
                    </a:p>
                  </a:txBody>
                  <a:tcPr>
                    <a:solidFill>
                      <a:srgbClr val="1E1E38"/>
                    </a:solidFill>
                  </a:tcPr>
                </a:tc>
                <a:tc>
                  <a:txBody>
                    <a:bodyPr/>
                    <a:lstStyle/>
                    <a:p>
                      <a:r>
                        <a:rPr sz="1200">
                          <a:solidFill>
                            <a:srgbClr val="CCCCCC"/>
                          </a:solidFill>
                          <a:latin typeface="IBM Plex Mono"/>
                        </a:rPr>
                        <a:t>Twilio, SignalWire SMS (passes through in plaintext)</a:t>
                      </a:r>
                    </a:p>
                  </a:txBody>
                  <a:tcPr>
                    <a:solidFill>
                      <a:srgbClr val="1E1E38"/>
                    </a:solidFill>
                  </a:tcPr>
                </a:tc>
              </a:tr>
              <a:tr h="292608">
                <a:tc>
                  <a:txBody>
                    <a:bodyPr/>
                    <a:lstStyle/>
                    <a:p>
                      <a:r>
                        <a:rPr sz="1200">
                          <a:solidFill>
                            <a:srgbClr val="CCCCCC"/>
                          </a:solidFill>
                          <a:latin typeface="IBM Plex Mono"/>
                        </a:rPr>
                        <a:t>WhatsApp content</a:t>
                      </a:r>
                    </a:p>
                  </a:txBody>
                  <a:tcPr>
                    <a:solidFill>
                      <a:srgbClr val="242442"/>
                    </a:solidFill>
                  </a:tcPr>
                </a:tc>
                <a:tc>
                  <a:txBody>
                    <a:bodyPr/>
                    <a:lstStyle/>
                    <a:p>
                      <a:r>
                        <a:rPr sz="1200">
                          <a:solidFill>
                            <a:srgbClr val="CCCCCC"/>
                          </a:solidFill>
                          <a:latin typeface="IBM Plex Mono"/>
                        </a:rPr>
                        <a:t>Via Meta Business API</a:t>
                      </a:r>
                    </a:p>
                  </a:txBody>
                  <a:tcPr>
                    <a:solidFill>
                      <a:srgbClr val="242442"/>
                    </a:solidFill>
                  </a:tcPr>
                </a:tc>
              </a:tr>
            </a:tbl>
          </a:graphicData>
        </a:graphic>
      </p:graphicFrame>
      <p:sp>
        <p:nvSpPr>
          <p:cNvPr id="6" name="TextBox 5"/>
          <p:cNvSpPr txBox="1"/>
          <p:nvPr/>
        </p:nvSpPr>
        <p:spPr>
          <a:xfrm>
            <a:off x="548640" y="2560320"/>
            <a:ext cx="11094415" cy="3657600"/>
          </a:xfrm>
          <a:prstGeom prst="rect">
            <a:avLst/>
          </a:prstGeom>
          <a:noFill/>
        </p:spPr>
        <p:txBody>
          <a:bodyPr wrap="square">
            <a:spAutoFit/>
          </a:bodyPr>
          <a:lstStyle/>
          <a:p>
            <a:r>
              <a:rPr sz="1600" b="1" i="0">
                <a:solidFill>
                  <a:srgbClr val="F0F0F0"/>
                </a:solidFill>
                <a:latin typeface="IBM Plex Mono"/>
              </a:rPr>
              <a:t>What they CANNOT hand over:</a:t>
            </a:r>
          </a:p>
          <a:p>
            <a:pPr>
              <a:spcBef>
                <a:spcPts val="300"/>
              </a:spcBef>
              <a:spcAft>
                <a:spcPts val="200"/>
              </a:spcAft>
            </a:pPr>
            <a:r>
              <a:rPr sz="1600" b="0" i="0">
                <a:solidFill>
                  <a:srgbClr val="CCCCCC"/>
                </a:solidFill>
                <a:latin typeface="IBM Plex Mono"/>
              </a:rPr>
              <a:t>Call notes (never sent to telephony provider), volunteer identities beyond routing phone numbers (with CDR-free trunk), any E2EE content.</a:t>
            </a:r>
          </a:p>
          <a:p>
            <a:pPr algn="ctr">
              <a:spcBef>
                <a:spcPts val="800"/>
              </a:spcBef>
              <a:spcAft>
                <a:spcPts val="200"/>
              </a:spcAft>
            </a:pPr>
            <a:r>
              <a:rPr sz="1600" b="0" i="1">
                <a:solidFill>
                  <a:srgbClr val="5CC4B0"/>
                </a:solidFill>
                <a:latin typeface="Source Code Pro"/>
              </a:rPr>
              <a:t>With CDR-free SIP trunking: the telephony provider has routing records only — no call content, no volunteer phone numbers in their system.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Device Seizure</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Without volunteer's PIN:</a:t>
            </a:r>
          </a:p>
          <a:p>
            <a:pPr>
              <a:spcBef>
                <a:spcPts val="300"/>
              </a:spcBef>
              <a:spcAft>
                <a:spcPts val="200"/>
              </a:spcAft>
            </a:pPr>
            <a:r>
              <a:rPr sz="1600" b="0" i="0">
                <a:solidFill>
                  <a:srgbClr val="CCCCCC"/>
                </a:solidFill>
                <a:latin typeface="IBM Plex Mono"/>
              </a:rPr>
              <a:t>  •  Encrypted key blob in localStorage (requires PIN brute-force)</a:t>
            </a:r>
          </a:p>
          <a:p>
            <a:pPr>
              <a:spcBef>
                <a:spcPts val="300"/>
              </a:spcBef>
              <a:spcAft>
                <a:spcPts val="200"/>
              </a:spcAft>
            </a:pPr>
            <a:r>
              <a:rPr sz="1600" b="0" i="0">
                <a:solidFill>
                  <a:srgbClr val="CCCCCC"/>
                </a:solidFill>
                <a:latin typeface="IBM Plex Mono"/>
              </a:rPr>
              <a:t>  •  600,000 PBKDF2 iterations + 6-8 digit PIN = estimated hours to days on GPU hardware</a:t>
            </a:r>
          </a:p>
          <a:p>
            <a:pPr>
              <a:spcBef>
                <a:spcPts val="300"/>
              </a:spcBef>
              <a:spcAft>
                <a:spcPts val="200"/>
              </a:spcAft>
            </a:pPr>
            <a:r>
              <a:rPr sz="1600" b="0" i="0">
                <a:solidFill>
                  <a:srgbClr val="CCCCCC"/>
                </a:solidFill>
                <a:latin typeface="IBM Plex Mono"/>
              </a:rPr>
              <a:t>  •  Session tokens may still be valid if device was recently used (8-hour TTL — admin can revoke)</a:t>
            </a:r>
          </a:p>
          <a:p>
            <a:pPr>
              <a:spcBef>
                <a:spcPts val="600"/>
              </a:spcBef>
              <a:spcAft>
                <a:spcPts val="200"/>
              </a:spcAft>
            </a:pPr>
            <a:r>
              <a:rPr sz="1400" b="1" i="0">
                <a:solidFill>
                  <a:srgbClr val="F0F0F0"/>
                </a:solidFill>
                <a:latin typeface="IBM Plex Mono"/>
              </a:rPr>
              <a:t>With PIN (or successful brute-force):</a:t>
            </a:r>
          </a:p>
          <a:p>
            <a:pPr>
              <a:spcBef>
                <a:spcPts val="300"/>
              </a:spcBef>
              <a:spcAft>
                <a:spcPts val="200"/>
              </a:spcAft>
            </a:pPr>
            <a:r>
              <a:rPr sz="1600" b="0" i="0">
                <a:solidFill>
                  <a:srgbClr val="CCCCCC"/>
                </a:solidFill>
                <a:latin typeface="IBM Plex Mono"/>
              </a:rPr>
              <a:t>  •  Access to that volunteer's notes only — not other volunteers' notes</a:t>
            </a:r>
          </a:p>
          <a:p>
            <a:pPr>
              <a:spcBef>
                <a:spcPts val="300"/>
              </a:spcBef>
              <a:spcAft>
                <a:spcPts val="200"/>
              </a:spcAft>
            </a:pPr>
            <a:r>
              <a:rPr sz="1600" b="0" i="0">
                <a:solidFill>
                  <a:srgbClr val="CCCCCC"/>
                </a:solidFill>
                <a:latin typeface="IBM Plex Mono"/>
              </a:rPr>
              <a:t>  •  Per-note forward secrecy: compromising identity key doesn't reveal notes without also getting per-note envelopes</a:t>
            </a:r>
          </a:p>
          <a:p>
            <a:pPr>
              <a:spcBef>
                <a:spcPts val="600"/>
              </a:spcBef>
              <a:spcAft>
                <a:spcPts val="200"/>
              </a:spcAft>
            </a:pPr>
            <a:r>
              <a:rPr sz="1400" b="1" i="0">
                <a:solidFill>
                  <a:srgbClr val="F0F0F0"/>
                </a:solidFill>
                <a:latin typeface="IBM Plex Mono"/>
              </a:rPr>
              <a:t>Admin device seized:</a:t>
            </a:r>
          </a:p>
          <a:p>
            <a:pPr>
              <a:spcBef>
                <a:spcPts val="300"/>
              </a:spcBef>
              <a:spcAft>
                <a:spcPts val="200"/>
              </a:spcAft>
            </a:pPr>
            <a:r>
              <a:rPr sz="1600" b="0" i="0">
                <a:solidFill>
                  <a:srgbClr val="CCCCCC"/>
                </a:solidFill>
                <a:latin typeface="IBM Plex Mono"/>
              </a:rPr>
              <a:t>  •  If admin device key obtained: attacker can decrypt ALL notes (admin envelope on every note)</a:t>
            </a:r>
          </a:p>
          <a:p>
            <a:pPr>
              <a:spcBef>
                <a:spcPts val="300"/>
              </a:spcBef>
              <a:spcAft>
                <a:spcPts val="200"/>
              </a:spcAft>
            </a:pPr>
            <a:r>
              <a:rPr sz="1600" b="0" i="0">
                <a:solidFill>
                  <a:srgbClr val="CCCCCC"/>
                </a:solidFill>
                <a:latin typeface="IBM Plex Mono"/>
              </a:rPr>
              <a:t>  •  Admin key separation: identity key vs. decryption key are separate keypairs — compromising auth doesn't auto-expose notes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The Honest Limitations: What We Do NOT Claim</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Traffic analysis resistance</a:t>
            </a:r>
            <a:r>
              <a:rPr sz="1600" b="0" i="0">
                <a:solidFill>
                  <a:srgbClr val="CCCCCC"/>
                </a:solidFill>
                <a:latin typeface="IBM Plex Mono"/>
              </a:rPr>
              <a:t>: No padding, no dummy traffic. A watcher can see call timing patterns.</a:t>
            </a:r>
          </a:p>
          <a:p>
            <a:pPr>
              <a:spcBef>
                <a:spcPts val="300"/>
              </a:spcBef>
              <a:spcAft>
                <a:spcPts val="200"/>
              </a:spcAft>
            </a:pPr>
            <a:r>
              <a:rPr sz="1600" b="1" i="0">
                <a:solidFill>
                  <a:srgbClr val="F0C674"/>
                </a:solidFill>
                <a:latin typeface="IBM Plex Mono"/>
              </a:rPr>
              <a:t>  •  SMS/WhatsApp transport E2EE</a:t>
            </a:r>
            <a:r>
              <a:rPr sz="1600" b="0" i="0">
                <a:solidFill>
                  <a:srgbClr val="CCCCCC"/>
                </a:solidFill>
                <a:latin typeface="IBM Plex Mono"/>
              </a:rPr>
              <a:t>: These channels require provider-side plaintext in transit. We E2EE at rest; the provider sees it in transit.</a:t>
            </a:r>
          </a:p>
          <a:p>
            <a:pPr>
              <a:spcBef>
                <a:spcPts val="300"/>
              </a:spcBef>
              <a:spcAft>
                <a:spcPts val="200"/>
              </a:spcAft>
            </a:pPr>
            <a:r>
              <a:rPr sz="1600" b="1" i="0">
                <a:solidFill>
                  <a:srgbClr val="F0C674"/>
                </a:solidFill>
                <a:latin typeface="IBM Plex Mono"/>
              </a:rPr>
              <a:t>  •  PIN brute-force resistance (offline)</a:t>
            </a:r>
            <a:r>
              <a:rPr sz="1600" b="0" i="0">
                <a:solidFill>
                  <a:srgbClr val="CCCCCC"/>
                </a:solidFill>
                <a:latin typeface="IBM Plex Mono"/>
              </a:rPr>
              <a:t>: 6-8 digits is ~27 bits of entropy. A seized encrypted blob + a GPU = brute-forceable in days to weeks.</a:t>
            </a:r>
          </a:p>
          <a:p>
            <a:pPr>
              <a:spcBef>
                <a:spcPts val="300"/>
              </a:spcBef>
              <a:spcAft>
                <a:spcPts val="200"/>
              </a:spcAft>
            </a:pPr>
            <a:r>
              <a:rPr sz="1600" b="1" i="0">
                <a:solidFill>
                  <a:srgbClr val="F0C674"/>
                </a:solidFill>
                <a:latin typeface="IBM Plex Mono"/>
              </a:rPr>
              <a:t>  •  Metadata confidentiality</a:t>
            </a:r>
            <a:r>
              <a:rPr sz="1600" b="0" i="0">
                <a:solidFill>
                  <a:srgbClr val="CCCCCC"/>
                </a:solidFill>
                <a:latin typeface="IBM Plex Mono"/>
              </a:rPr>
              <a:t>: The server needs timestamps and routing data to function.</a:t>
            </a:r>
          </a:p>
          <a:p>
            <a:pPr>
              <a:spcBef>
                <a:spcPts val="300"/>
              </a:spcBef>
              <a:spcAft>
                <a:spcPts val="200"/>
              </a:spcAft>
            </a:pPr>
            <a:r>
              <a:rPr sz="1600" b="1" i="0">
                <a:solidFill>
                  <a:srgbClr val="F0C674"/>
                </a:solidFill>
                <a:latin typeface="IBM Plex Mono"/>
              </a:rPr>
              <a:t>  •  Hosting provider coercion</a:t>
            </a:r>
            <a:r>
              <a:rPr sz="1600" b="0" i="0">
                <a:solidFill>
                  <a:srgbClr val="CCCCCC"/>
                </a:solidFill>
                <a:latin typeface="IBM Plex Mono"/>
              </a:rPr>
              <a:t>: If your hosting provider is physically compelled to image your disk — Debian FDE with dropbear remote unlock means they get ciphertext. 1984 Hosting (Iceland) is outside CLOUD Act jurisdiction.</a:t>
            </a:r>
          </a:p>
          <a:p>
            <a:pPr algn="ctr">
              <a:spcBef>
                <a:spcPts val="800"/>
              </a:spcBef>
              <a:spcAft>
                <a:spcPts val="200"/>
              </a:spcAft>
            </a:pPr>
            <a:r>
              <a:rPr sz="1600" b="0" i="1">
                <a:solidFill>
                  <a:srgbClr val="5CC4B0"/>
                </a:solidFill>
                <a:latin typeface="Source Code Pro"/>
              </a:rPr>
              <a:t>We're solving for the full adversary spectrum: from administrative subpoenas to nation-states with NSLs and physical access to infrastructure.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5</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Signal Channels</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Why We Added Signal as a Channel</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Signal is already where your people are:</a:t>
            </a:r>
          </a:p>
          <a:p>
            <a:pPr>
              <a:spcBef>
                <a:spcPts val="300"/>
              </a:spcBef>
              <a:spcAft>
                <a:spcPts val="200"/>
              </a:spcAft>
            </a:pPr>
            <a:r>
              <a:rPr sz="1600" b="1" i="0">
                <a:solidFill>
                  <a:srgbClr val="F0C674"/>
                </a:solidFill>
                <a:latin typeface="IBM Plex Mono"/>
              </a:rPr>
              <a:t>  •  Legal observers in the field</a:t>
            </a:r>
            <a:r>
              <a:rPr sz="1600" b="0" i="0">
                <a:solidFill>
                  <a:srgbClr val="CCCCCC"/>
                </a:solidFill>
                <a:latin typeface="IBM Plex Mono"/>
              </a:rPr>
              <a:t> can't install a custom app mid-protest. They have Signal.</a:t>
            </a:r>
          </a:p>
          <a:p>
            <a:pPr>
              <a:spcBef>
                <a:spcPts val="300"/>
              </a:spcBef>
              <a:spcAft>
                <a:spcPts val="200"/>
              </a:spcAft>
            </a:pPr>
            <a:r>
              <a:rPr sz="1600" b="1" i="0">
                <a:solidFill>
                  <a:srgbClr val="F0C674"/>
                </a:solidFill>
                <a:latin typeface="IBM Plex Mono"/>
              </a:rPr>
              <a:t>  •  Jail support families</a:t>
            </a:r>
            <a:r>
              <a:rPr sz="1600" b="0" i="0">
                <a:solidFill>
                  <a:srgbClr val="CCCCCC"/>
                </a:solidFill>
                <a:latin typeface="IBM Plex Mono"/>
              </a:rPr>
              <a:t> sending updates about arraignment times use what's on their phone.</a:t>
            </a:r>
          </a:p>
          <a:p>
            <a:pPr>
              <a:spcBef>
                <a:spcPts val="300"/>
              </a:spcBef>
              <a:spcAft>
                <a:spcPts val="200"/>
              </a:spcAft>
            </a:pPr>
            <a:r>
              <a:rPr sz="1600" b="1" i="0">
                <a:solidFill>
                  <a:srgbClr val="F0C674"/>
                </a:solidFill>
                <a:latin typeface="IBM Plex Mono"/>
              </a:rPr>
              <a:t>  •  Rapid responders</a:t>
            </a:r>
            <a:r>
              <a:rPr sz="1600" b="0" i="0">
                <a:solidFill>
                  <a:srgbClr val="CCCCCC"/>
                </a:solidFill>
                <a:latin typeface="IBM Plex Mono"/>
              </a:rPr>
              <a:t> on the ground need to file reports fast — Signal is the fastest secure channel.</a:t>
            </a:r>
          </a:p>
          <a:p>
            <a:pPr>
              <a:spcBef>
                <a:spcPts val="300"/>
              </a:spcBef>
              <a:spcAft>
                <a:spcPts val="200"/>
              </a:spcAft>
            </a:pPr>
            <a:r>
              <a:rPr sz="1600" b="1" i="0">
                <a:solidFill>
                  <a:srgbClr val="F0C674"/>
                </a:solidFill>
                <a:latin typeface="IBM Plex Mono"/>
              </a:rPr>
              <a:t>  •  Callers who can't use the hotline number</a:t>
            </a:r>
            <a:r>
              <a:rPr sz="1600" b="0" i="0">
                <a:solidFill>
                  <a:srgbClr val="CCCCCC"/>
                </a:solidFill>
                <a:latin typeface="IBM Plex Mono"/>
              </a:rPr>
              <a:t> can reach you via Signal with better privacy.</a:t>
            </a:r>
          </a:p>
          <a:p>
            <a:pPr algn="ctr">
              <a:spcBef>
                <a:spcPts val="800"/>
              </a:spcBef>
              <a:spcAft>
                <a:spcPts val="200"/>
              </a:spcAft>
            </a:pPr>
            <a:r>
              <a:rPr sz="1600" b="0" i="1">
                <a:solidFill>
                  <a:srgbClr val="5CC4B0"/>
                </a:solidFill>
                <a:latin typeface="Source Code Pro"/>
              </a:rPr>
              <a:t>The goal: one secure inbox. Voice calls, Signal, SMS, WhatsApp — all end up encrypted in the same place, behind the same zero-knowledge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Field Use Cases for Signal</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005840"/>
          <a:ext cx="11094415" cy="2048256"/>
        </p:xfrm>
        <a:graphic>
          <a:graphicData uri="http://schemas.openxmlformats.org/drawingml/2006/table">
            <a:tbl>
              <a:tblPr firstRow="1" bandRow="1">
                <a:tableStyleId>{5C22544A-7EE6-4342-B048-85BDC9FD1C3A}</a:tableStyleId>
              </a:tblPr>
              <a:tblGrid>
                <a:gridCol w="5547207"/>
                <a:gridCol w="5547208"/>
              </a:tblGrid>
              <a:tr h="292608">
                <a:tc>
                  <a:txBody>
                    <a:bodyPr/>
                    <a:lstStyle/>
                    <a:p>
                      <a:r>
                        <a:rPr sz="1300" b="1">
                          <a:solidFill>
                            <a:srgbClr val="F0C674"/>
                          </a:solidFill>
                          <a:latin typeface="IBM Plex Mono"/>
                        </a:rPr>
                        <a:t>Scenario</a:t>
                      </a:r>
                    </a:p>
                  </a:txBody>
                  <a:tcPr>
                    <a:solidFill>
                      <a:srgbClr val="2A2A4A"/>
                    </a:solidFill>
                  </a:tcPr>
                </a:tc>
                <a:tc>
                  <a:txBody>
                    <a:bodyPr/>
                    <a:lstStyle/>
                    <a:p>
                      <a:r>
                        <a:rPr sz="1300" b="1">
                          <a:solidFill>
                            <a:srgbClr val="F0C674"/>
                          </a:solidFill>
                          <a:latin typeface="IBM Plex Mono"/>
                        </a:rPr>
                        <a:t>Signal channel enables</a:t>
                      </a:r>
                    </a:p>
                  </a:txBody>
                  <a:tcPr>
                    <a:solidFill>
                      <a:srgbClr val="2A2A4A"/>
                    </a:solidFill>
                  </a:tcPr>
                </a:tc>
              </a:tr>
              <a:tr h="292608">
                <a:tc>
                  <a:txBody>
                    <a:bodyPr/>
                    <a:lstStyle/>
                    <a:p>
                      <a:r>
                        <a:rPr sz="1200">
                          <a:solidFill>
                            <a:srgbClr val="CCCCCC"/>
                          </a:solidFill>
                          <a:latin typeface="IBM Plex Mono"/>
                        </a:rPr>
                        <a:t>Observer at protest</a:t>
                      </a:r>
                    </a:p>
                  </a:txBody>
                  <a:tcPr>
                    <a:solidFill>
                      <a:srgbClr val="1E1E38"/>
                    </a:solidFill>
                  </a:tcPr>
                </a:tc>
                <a:tc>
                  <a:txBody>
                    <a:bodyPr/>
                    <a:lstStyle/>
                    <a:p>
                      <a:r>
                        <a:rPr sz="1200">
                          <a:solidFill>
                            <a:srgbClr val="CCCCCC"/>
                          </a:solidFill>
                          <a:latin typeface="IBM Plex Mono"/>
                        </a:rPr>
                        <a:t>Files rapid arrest report via Signal → encrypts in case management</a:t>
                      </a:r>
                    </a:p>
                  </a:txBody>
                  <a:tcPr>
                    <a:solidFill>
                      <a:srgbClr val="1E1E38"/>
                    </a:solidFill>
                  </a:tcPr>
                </a:tc>
              </a:tr>
              <a:tr h="292608">
                <a:tc>
                  <a:txBody>
                    <a:bodyPr/>
                    <a:lstStyle/>
                    <a:p>
                      <a:r>
                        <a:rPr sz="1200">
                          <a:solidFill>
                            <a:srgbClr val="CCCCCC"/>
                          </a:solidFill>
                          <a:latin typeface="IBM Plex Mono"/>
                        </a:rPr>
                        <a:t>Jail support coordinator</a:t>
                      </a:r>
                    </a:p>
                  </a:txBody>
                  <a:tcPr>
                    <a:solidFill>
                      <a:srgbClr val="242442"/>
                    </a:solidFill>
                  </a:tcPr>
                </a:tc>
                <a:tc>
                  <a:txBody>
                    <a:bodyPr/>
                    <a:lstStyle/>
                    <a:p>
                      <a:r>
                        <a:rPr sz="1200">
                          <a:solidFill>
                            <a:srgbClr val="CCCCCC"/>
                          </a:solidFill>
                          <a:latin typeface="IBM Plex Mono"/>
                        </a:rPr>
                        <a:t>Sends arraignment update blast to all registered contacts</a:t>
                      </a:r>
                    </a:p>
                  </a:txBody>
                  <a:tcPr>
                    <a:solidFill>
                      <a:srgbClr val="242442"/>
                    </a:solidFill>
                  </a:tcPr>
                </a:tc>
              </a:tr>
              <a:tr h="292608">
                <a:tc>
                  <a:txBody>
                    <a:bodyPr/>
                    <a:lstStyle/>
                    <a:p>
                      <a:r>
                        <a:rPr sz="1200">
                          <a:solidFill>
                            <a:srgbClr val="CCCCCC"/>
                          </a:solidFill>
                          <a:latin typeface="IBM Plex Mono"/>
                        </a:rPr>
                        <a:t>Organizer filing incident</a:t>
                      </a:r>
                    </a:p>
                  </a:txBody>
                  <a:tcPr>
                    <a:solidFill>
                      <a:srgbClr val="1E1E38"/>
                    </a:solidFill>
                  </a:tcPr>
                </a:tc>
                <a:tc>
                  <a:txBody>
                    <a:bodyPr/>
                    <a:lstStyle/>
                    <a:p>
                      <a:r>
                        <a:rPr sz="1200">
                          <a:solidFill>
                            <a:srgbClr val="CCCCCC"/>
                          </a:solidFill>
                          <a:latin typeface="IBM Plex Mono"/>
                        </a:rPr>
                        <a:t>Sends evidence description via Signal → linked to incident record</a:t>
                      </a:r>
                    </a:p>
                  </a:txBody>
                  <a:tcPr>
                    <a:solidFill>
                      <a:srgbClr val="1E1E38"/>
                    </a:solidFill>
                  </a:tcPr>
                </a:tc>
              </a:tr>
              <a:tr h="292608">
                <a:tc>
                  <a:txBody>
                    <a:bodyPr/>
                    <a:lstStyle/>
                    <a:p>
                      <a:r>
                        <a:rPr sz="1200">
                          <a:solidFill>
                            <a:srgbClr val="CCCCCC"/>
                          </a:solidFill>
                          <a:latin typeface="IBM Plex Mono"/>
                        </a:rPr>
                        <a:t>Admin notifying volunteers</a:t>
                      </a:r>
                    </a:p>
                  </a:txBody>
                  <a:tcPr>
                    <a:solidFill>
                      <a:srgbClr val="242442"/>
                    </a:solidFill>
                  </a:tcPr>
                </a:tc>
                <a:tc>
                  <a:txBody>
                    <a:bodyPr/>
                    <a:lstStyle/>
                    <a:p>
                      <a:r>
                        <a:rPr sz="1200">
                          <a:solidFill>
                            <a:srgbClr val="CCCCCC"/>
                          </a:solidFill>
                          <a:latin typeface="IBM Plex Mono"/>
                        </a:rPr>
                        <a:t>Sends schedule change to all Signal-registered volunteers</a:t>
                      </a:r>
                    </a:p>
                  </a:txBody>
                  <a:tcPr>
                    <a:solidFill>
                      <a:srgbClr val="242442"/>
                    </a:solidFill>
                  </a:tcPr>
                </a:tc>
              </a:tr>
              <a:tr h="292608">
                <a:tc>
                  <a:txBody>
                    <a:bodyPr/>
                    <a:lstStyle/>
                    <a:p>
                      <a:r>
                        <a:rPr sz="1200">
                          <a:solidFill>
                            <a:srgbClr val="CCCCCC"/>
                          </a:solidFill>
                          <a:latin typeface="IBM Plex Mono"/>
                        </a:rPr>
                        <a:t>Field medic coordinating</a:t>
                      </a:r>
                    </a:p>
                  </a:txBody>
                  <a:tcPr>
                    <a:solidFill>
                      <a:srgbClr val="1E1E38"/>
                    </a:solidFill>
                  </a:tcPr>
                </a:tc>
                <a:tc>
                  <a:txBody>
                    <a:bodyPr/>
                    <a:lstStyle/>
                    <a:p>
                      <a:r>
                        <a:rPr sz="1200">
                          <a:solidFill>
                            <a:srgbClr val="CCCCCC"/>
                          </a:solidFill>
                          <a:latin typeface="IBM Plex Mono"/>
                        </a:rPr>
                        <a:t>Reports injuries without naming anyone in cleartext</a:t>
                      </a:r>
                    </a:p>
                  </a:txBody>
                  <a:tcPr>
                    <a:solidFill>
                      <a:srgbClr val="1E1E38"/>
                    </a:solidFill>
                  </a:tcPr>
                </a:tc>
              </a:tr>
              <a:tr h="292608">
                <a:tc>
                  <a:txBody>
                    <a:bodyPr/>
                    <a:lstStyle/>
                    <a:p>
                      <a:r>
                        <a:rPr sz="1200">
                          <a:solidFill>
                            <a:srgbClr val="CCCCCC"/>
                          </a:solidFill>
                          <a:latin typeface="IBM Plex Mono"/>
                        </a:rPr>
                        <a:t>Legal team</a:t>
                      </a:r>
                    </a:p>
                  </a:txBody>
                  <a:tcPr>
                    <a:solidFill>
                      <a:srgbClr val="242442"/>
                    </a:solidFill>
                  </a:tcPr>
                </a:tc>
                <a:tc>
                  <a:txBody>
                    <a:bodyPr/>
                    <a:lstStyle/>
                    <a:p>
                      <a:r>
                        <a:rPr sz="1200">
                          <a:solidFill>
                            <a:srgbClr val="CCCCCC"/>
                          </a:solidFill>
                          <a:latin typeface="IBM Plex Mono"/>
                        </a:rPr>
                        <a:t>Receives encrypted case notes from Signal channel without being in the app</a:t>
                      </a:r>
                    </a:p>
                  </a:txBody>
                  <a:tcPr>
                    <a:solidFill>
                      <a:srgbClr val="242442"/>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400" b="1" i="0">
                <a:solidFill>
                  <a:srgbClr val="F0F0F0"/>
                </a:solidFill>
                <a:latin typeface="JetBrains Mono"/>
              </a:rPr>
              <a:t>The Signal Sidecar: Zero-Knowledge Contact Resolution</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3136392"/>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2953512"/>
          </a:xfrm>
          <a:prstGeom prst="rect">
            <a:avLst/>
          </a:prstGeom>
          <a:noFill/>
        </p:spPr>
        <p:txBody>
          <a:bodyPr wrap="square">
            <a:spAutoFit/>
          </a:bodyPr>
          <a:lstStyle/>
          <a:p>
            <a:pPr>
              <a:spcBef>
                <a:spcPts val="0"/>
              </a:spcBef>
              <a:spcAft>
                <a:spcPts val="0"/>
              </a:spcAft>
            </a:pPr>
            <a:r>
              <a:rPr sz="1200" b="0" i="0">
                <a:solidFill>
                  <a:srgbClr val="5CC4B0"/>
                </a:solidFill>
                <a:latin typeface="Fira Code"/>
              </a:rPr>
              <a:t>signal-notifier/ (port 3100)</a:t>
            </a:r>
          </a:p>
          <a:p>
            <a:pPr>
              <a:spcBef>
                <a:spcPts val="0"/>
              </a:spcBef>
              <a:spcAft>
                <a:spcPts val="0"/>
              </a:spcAft>
            </a:pPr>
          </a:p>
          <a:p>
            <a:pPr>
              <a:spcBef>
                <a:spcPts val="0"/>
              </a:spcBef>
              <a:spcAft>
                <a:spcPts val="0"/>
              </a:spcAft>
            </a:pPr>
            <a:r>
              <a:rPr sz="1200" b="0" i="0">
                <a:solidFill>
                  <a:srgbClr val="5CC4B0"/>
                </a:solidFill>
                <a:latin typeface="Fira Code"/>
              </a:rPr>
              <a:t>Problem: To send Signal notifications, you need phone numbers.</a:t>
            </a:r>
          </a:p>
          <a:p>
            <a:pPr>
              <a:spcBef>
                <a:spcPts val="0"/>
              </a:spcBef>
              <a:spcAft>
                <a:spcPts val="0"/>
              </a:spcAft>
            </a:pPr>
            <a:r>
              <a:rPr sz="1200" b="0" i="0">
                <a:solidFill>
                  <a:srgbClr val="5CC4B0"/>
                </a:solidFill>
                <a:latin typeface="Fira Code"/>
              </a:rPr>
              <a:t>But we don't store phone numbers in plaintext.</a:t>
            </a:r>
          </a:p>
          <a:p>
            <a:pPr>
              <a:spcBef>
                <a:spcPts val="0"/>
              </a:spcBef>
              <a:spcAft>
                <a:spcPts val="0"/>
              </a:spcAft>
            </a:pPr>
          </a:p>
          <a:p>
            <a:pPr>
              <a:spcBef>
                <a:spcPts val="0"/>
              </a:spcBef>
              <a:spcAft>
                <a:spcPts val="0"/>
              </a:spcAft>
            </a:pPr>
            <a:r>
              <a:rPr sz="1200" b="0" i="0">
                <a:solidFill>
                  <a:srgbClr val="5CC4B0"/>
                </a:solidFill>
                <a:latin typeface="Fira Code"/>
              </a:rPr>
              <a:t>Solution: HMAC-hashed contact resolution</a:t>
            </a:r>
          </a:p>
          <a:p>
            <a:pPr>
              <a:spcBef>
                <a:spcPts val="0"/>
              </a:spcBef>
              <a:spcAft>
                <a:spcPts val="0"/>
              </a:spcAft>
            </a:pPr>
          </a:p>
          <a:p>
            <a:pPr>
              <a:spcBef>
                <a:spcPts val="0"/>
              </a:spcBef>
              <a:spcAft>
                <a:spcPts val="0"/>
              </a:spcAft>
            </a:pPr>
            <a:r>
              <a:rPr sz="1200" b="0" i="0">
                <a:solidFill>
                  <a:srgbClr val="5CC4B0"/>
                </a:solidFill>
                <a:latin typeface="Fira Code"/>
              </a:rPr>
              <a:t>  Registration:</a:t>
            </a:r>
          </a:p>
          <a:p>
            <a:pPr>
              <a:spcBef>
                <a:spcPts val="0"/>
              </a:spcBef>
              <a:spcAft>
                <a:spcPts val="0"/>
              </a:spcAft>
            </a:pPr>
            <a:r>
              <a:rPr sz="1200" b="0" i="0">
                <a:solidFill>
                  <a:srgbClr val="5CC4B0"/>
                </a:solidFill>
                <a:latin typeface="Fira Code"/>
              </a:rPr>
              <a:t>    User registers their phone number</a:t>
            </a:r>
          </a:p>
          <a:p>
            <a:pPr>
              <a:spcBef>
                <a:spcPts val="0"/>
              </a:spcBef>
              <a:spcAft>
                <a:spcPts val="0"/>
              </a:spcAft>
            </a:pPr>
            <a:r>
              <a:rPr sz="1200" b="0" i="0">
                <a:solidFill>
                  <a:srgbClr val="5CC4B0"/>
                </a:solidFill>
                <a:latin typeface="Fira Code"/>
              </a:rPr>
              <a:t>    Server stores: HMAC_SHA256("llamenos:phone:" + E.164_number)</a:t>
            </a:r>
          </a:p>
          <a:p>
            <a:pPr>
              <a:spcBef>
                <a:spcPts val="0"/>
              </a:spcBef>
              <a:spcAft>
                <a:spcPts val="0"/>
              </a:spcAft>
            </a:pPr>
            <a:r>
              <a:rPr sz="1200" b="0" i="0">
                <a:solidFill>
                  <a:srgbClr val="5CC4B0"/>
                </a:solidFill>
                <a:latin typeface="Fira Code"/>
              </a:rPr>
              <a:t>    Plaintext number discarded immediately</a:t>
            </a:r>
          </a:p>
          <a:p>
            <a:pPr>
              <a:spcBef>
                <a:spcPts val="0"/>
              </a:spcBef>
              <a:spcAft>
                <a:spcPts val="0"/>
              </a:spcAft>
            </a:pPr>
          </a:p>
          <a:p>
            <a:pPr>
              <a:spcBef>
                <a:spcPts val="0"/>
              </a:spcBef>
              <a:spcAft>
                <a:spcPts val="0"/>
              </a:spcAft>
            </a:pPr>
            <a:r>
              <a:rPr sz="1200" b="0" i="0">
                <a:solidFill>
                  <a:srgbClr val="5CC4B0"/>
                </a:solidFill>
                <a:latin typeface="Fira Code"/>
              </a:rPr>
              <a:t>  Resolution:</a:t>
            </a:r>
          </a:p>
          <a:p>
            <a:pPr>
              <a:spcBef>
                <a:spcPts val="0"/>
              </a:spcBef>
              <a:spcAft>
                <a:spcPts val="0"/>
              </a:spcAft>
            </a:pPr>
            <a:r>
              <a:rPr sz="1200" b="0" i="0">
                <a:solidFill>
                  <a:srgbClr val="5CC4B0"/>
                </a:solidFill>
                <a:latin typeface="Fira Code"/>
              </a:rPr>
              <a:t>    Sidecar receives HMAC hash from app</a:t>
            </a:r>
          </a:p>
          <a:p>
            <a:pPr>
              <a:spcBef>
                <a:spcPts val="0"/>
              </a:spcBef>
              <a:spcAft>
                <a:spcPts val="0"/>
              </a:spcAft>
            </a:pPr>
            <a:r>
              <a:rPr sz="1200" b="0" i="0">
                <a:solidFill>
                  <a:srgbClr val="5CC4B0"/>
                </a:solidFill>
                <a:latin typeface="Fira Code"/>
              </a:rPr>
              <a:t>    Looks up Signal registration by hash</a:t>
            </a:r>
          </a:p>
          <a:p>
            <a:pPr>
              <a:spcBef>
                <a:spcPts val="0"/>
              </a:spcBef>
              <a:spcAft>
                <a:spcPts val="0"/>
              </a:spcAft>
            </a:pPr>
            <a:r>
              <a:rPr sz="1200" b="0" i="0">
                <a:solidFill>
                  <a:srgbClr val="5CC4B0"/>
                </a:solidFill>
                <a:latin typeface="Fira Code"/>
              </a:rPr>
              <a:t>    Sends notification to Signal number</a:t>
            </a:r>
          </a:p>
          <a:p>
            <a:pPr>
              <a:spcBef>
                <a:spcPts val="0"/>
              </a:spcBef>
              <a:spcAft>
                <a:spcPts val="0"/>
              </a:spcAft>
            </a:pPr>
            <a:r>
              <a:rPr sz="1200" b="0" i="0">
                <a:solidFill>
                  <a:srgbClr val="5CC4B0"/>
                </a:solidFill>
                <a:latin typeface="Fira Code"/>
              </a:rPr>
              <a:t>    App never sees the phone number in plaintext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Signal Channel Features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Inbound</a:t>
            </a:r>
          </a:p>
          <a:p>
            <a:pPr>
              <a:spcBef>
                <a:spcPts val="300"/>
              </a:spcBef>
              <a:spcAft>
                <a:spcPts val="200"/>
              </a:spcAft>
            </a:pPr>
            <a:r>
              <a:rPr sz="1600" b="0" i="0">
                <a:solidFill>
                  <a:srgbClr val="CCCCCC"/>
                </a:solidFill>
                <a:latin typeface="IBM Plex Mono"/>
              </a:rPr>
              <a:t>  •  Messages from Signal arrive at sidecar</a:t>
            </a:r>
          </a:p>
          <a:p>
            <a:pPr>
              <a:spcBef>
                <a:spcPts val="300"/>
              </a:spcBef>
              <a:spcAft>
                <a:spcPts val="200"/>
              </a:spcAft>
            </a:pPr>
            <a:r>
              <a:rPr sz="1600" b="0" i="0">
                <a:solidFill>
                  <a:srgbClr val="CCCCCC"/>
                </a:solidFill>
                <a:latin typeface="IBM Plex Mono"/>
              </a:rPr>
              <a:t>  •  Sidecar forwards to app via webhook</a:t>
            </a:r>
          </a:p>
          <a:p>
            <a:pPr>
              <a:spcBef>
                <a:spcPts val="300"/>
              </a:spcBef>
              <a:spcAft>
                <a:spcPts val="200"/>
              </a:spcAft>
            </a:pPr>
            <a:r>
              <a:rPr sz="1600" b="0" i="0">
                <a:solidFill>
                  <a:srgbClr val="CCCCCC"/>
                </a:solidFill>
                <a:latin typeface="IBM Plex Mono"/>
              </a:rPr>
              <a:t>  •  App encrypts immediately using per-message envelope</a:t>
            </a:r>
          </a:p>
          <a:p>
            <a:pPr>
              <a:spcBef>
                <a:spcPts val="300"/>
              </a:spcBef>
              <a:spcAft>
                <a:spcPts val="200"/>
              </a:spcAft>
            </a:pPr>
            <a:r>
              <a:rPr sz="1600" b="0" i="0">
                <a:solidFill>
                  <a:srgbClr val="CCCCCC"/>
                </a:solidFill>
                <a:latin typeface="IBM Plex Mono"/>
              </a:rPr>
              <a:t>  •  Read receipts sent back via sidecar</a:t>
            </a:r>
          </a:p>
          <a:p>
            <a:pPr>
              <a:spcBef>
                <a:spcPts val="300"/>
              </a:spcBef>
              <a:spcAft>
                <a:spcPts val="200"/>
              </a:spcAft>
            </a:pPr>
            <a:r>
              <a:rPr sz="1600" b="0" i="0">
                <a:solidFill>
                  <a:srgbClr val="CCCCCC"/>
                </a:solidFill>
                <a:latin typeface="IBM Plex Mono"/>
              </a:rPr>
              <a:t>  •  Typing indicators supported</a:t>
            </a:r>
          </a:p>
          <a:p>
            <a:pPr>
              <a:spcBef>
                <a:spcPts val="300"/>
              </a:spcBef>
              <a:spcAft>
                <a:spcPts val="200"/>
              </a:spcAft>
            </a:pPr>
            <a:r>
              <a:rPr sz="1600" b="0" i="0">
                <a:solidFill>
                  <a:srgbClr val="CCCCCC"/>
                </a:solidFill>
                <a:latin typeface="IBM Plex Mono"/>
              </a:rPr>
              <a:t>  •  Identity key trust verification (safety number changes held pending review)</a:t>
            </a:r>
          </a:p>
          <a:p>
            <a:pPr>
              <a:spcBef>
                <a:spcPts val="800"/>
              </a:spcBef>
              <a:spcAft>
                <a:spcPts val="200"/>
              </a:spcAft>
            </a:pPr>
            <a:r>
              <a:rPr sz="1800" b="1" i="0">
                <a:solidFill>
                  <a:srgbClr val="E84D4D"/>
                </a:solidFill>
                <a:latin typeface="JetBrains Mono"/>
              </a:rPr>
              <a:t>Outbound: Blast / Broadcast</a:t>
            </a:r>
          </a:p>
          <a:p>
            <a:pPr>
              <a:spcBef>
                <a:spcPts val="300"/>
              </a:spcBef>
              <a:spcAft>
                <a:spcPts val="200"/>
              </a:spcAft>
            </a:pPr>
            <a:r>
              <a:rPr sz="1600" b="0" i="0">
                <a:solidFill>
                  <a:srgbClr val="CCCCCC"/>
                </a:solidFill>
                <a:latin typeface="IBM Plex Mono"/>
              </a:rPr>
              <a:t>  •  Jail support update: "17 people arraigned, bail 9am"</a:t>
            </a:r>
          </a:p>
          <a:p>
            <a:pPr>
              <a:spcBef>
                <a:spcPts val="300"/>
              </a:spcBef>
              <a:spcAft>
                <a:spcPts val="200"/>
              </a:spcAft>
            </a:pPr>
            <a:r>
              <a:rPr sz="1600" b="0" i="0">
                <a:solidFill>
                  <a:srgbClr val="CCCCCC"/>
                </a:solidFill>
                <a:latin typeface="IBM Plex Mono"/>
              </a:rPr>
              <a:t>  •  Rapid response alert: "Police moving on south side"</a:t>
            </a:r>
          </a:p>
          <a:p>
            <a:pPr>
              <a:spcBef>
                <a:spcPts val="300"/>
              </a:spcBef>
              <a:spcAft>
                <a:spcPts val="200"/>
              </a:spcAft>
            </a:pPr>
            <a:r>
              <a:rPr sz="1600" b="0" i="0">
                <a:solidFill>
                  <a:srgbClr val="CCCCCC"/>
                </a:solidFill>
                <a:latin typeface="IBM Plex Mono"/>
              </a:rPr>
              <a:t>  •  Schedule change: "Tonight's shift has coverage"</a:t>
            </a:r>
          </a:p>
          <a:p>
            <a:pPr>
              <a:spcBef>
                <a:spcPts val="300"/>
              </a:spcBef>
              <a:spcAft>
                <a:spcPts val="200"/>
              </a:spcAft>
            </a:pPr>
            <a:r>
              <a:rPr sz="1600" b="0" i="0">
                <a:solidFill>
                  <a:srgbClr val="CCCCCC"/>
                </a:solidFill>
                <a:latin typeface="IBM Plex Mono"/>
              </a:rPr>
              <a:t>  •  PostgreSQL-backed delivery queue</a:t>
            </a:r>
          </a:p>
          <a:p>
            <a:pPr>
              <a:spcBef>
                <a:spcPts val="300"/>
              </a:spcBef>
              <a:spcAft>
                <a:spcPts val="200"/>
              </a:spcAft>
            </a:pPr>
            <a:r>
              <a:rPr sz="1600" b="0" i="0">
                <a:solidFill>
                  <a:srgbClr val="CCCCCC"/>
                </a:solidFill>
                <a:latin typeface="IBM Plex Mono"/>
              </a:rPr>
              <a:t>  •  Per-channel rate limiting (Signal: 1 msg/sec per recipient)</a:t>
            </a:r>
          </a:p>
          <a:p>
            <a:pPr>
              <a:spcBef>
                <a:spcPts val="300"/>
              </a:spcBef>
              <a:spcAft>
                <a:spcPts val="200"/>
              </a:spcAft>
            </a:pPr>
            <a:r>
              <a:rPr sz="1600" b="0" i="0">
                <a:solidFill>
                  <a:srgbClr val="CCCCCC"/>
                </a:solidFill>
                <a:latin typeface="IBM Plex Mono"/>
              </a:rPr>
              <a:t>  •  Retry with exponential backoff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Why Not Just Signal For Everything?</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Signal is always preferable when everyone has it. But not everyone does.</a:t>
            </a:r>
          </a:p>
          <a:p>
            <a:pPr>
              <a:spcBef>
                <a:spcPts val="300"/>
              </a:spcBef>
              <a:spcAft>
                <a:spcPts val="200"/>
              </a:spcAft>
            </a:pPr>
            <a:r>
              <a:rPr sz="1600" b="0" i="0">
                <a:solidFill>
                  <a:srgbClr val="CCCCCC"/>
                </a:solidFill>
                <a:latin typeface="IBM Plex Mono"/>
              </a:rPr>
              <a:t>  •  Someone calling from jail can't install Signal — they have a payphone</a:t>
            </a:r>
          </a:p>
          <a:p>
            <a:pPr>
              <a:spcBef>
                <a:spcPts val="300"/>
              </a:spcBef>
              <a:spcAft>
                <a:spcPts val="200"/>
              </a:spcAft>
            </a:pPr>
            <a:r>
              <a:rPr sz="1600" b="0" i="0">
                <a:solidFill>
                  <a:srgbClr val="CCCCCC"/>
                </a:solidFill>
                <a:latin typeface="IBM Plex Mono"/>
              </a:rPr>
              <a:t>  •  In an emergency, people call a phone number — they don't download an app first</a:t>
            </a:r>
          </a:p>
          <a:p>
            <a:pPr>
              <a:spcBef>
                <a:spcPts val="300"/>
              </a:spcBef>
              <a:spcAft>
                <a:spcPts val="200"/>
              </a:spcAft>
            </a:pPr>
            <a:r>
              <a:rPr sz="1600" b="0" i="0">
                <a:solidFill>
                  <a:srgbClr val="CCCCCC"/>
                </a:solidFill>
                <a:latin typeface="IBM Plex Mono"/>
              </a:rPr>
              <a:t>  •  Some phones can't fit additional apps — cheap prepaid burners, older devices</a:t>
            </a:r>
          </a:p>
          <a:p>
            <a:pPr>
              <a:spcBef>
                <a:spcPts val="300"/>
              </a:spcBef>
              <a:spcAft>
                <a:spcPts val="200"/>
              </a:spcAft>
            </a:pPr>
            <a:r>
              <a:rPr sz="1600" b="0" i="0">
                <a:solidFill>
                  <a:srgbClr val="CCCCCC"/>
                </a:solidFill>
                <a:latin typeface="IBM Plex Mono"/>
              </a:rPr>
              <a:t>  •  A family member checking if someone was released — that's public information, SMS is fine</a:t>
            </a:r>
          </a:p>
          <a:p>
            <a:pPr>
              <a:spcBef>
                <a:spcPts val="300"/>
              </a:spcBef>
              <a:spcAft>
                <a:spcPts val="200"/>
              </a:spcAft>
            </a:pPr>
            <a:r>
              <a:rPr sz="1600" b="0" i="0">
                <a:solidFill>
                  <a:srgbClr val="CCCCCC"/>
                </a:solidFill>
                <a:latin typeface="IBM Plex Mono"/>
              </a:rPr>
              <a:t>  •  Different situations have different threat models — not everything needs maximum security</a:t>
            </a:r>
          </a:p>
          <a:p>
            <a:pPr algn="ctr">
              <a:spcBef>
                <a:spcPts val="800"/>
              </a:spcBef>
              <a:spcAft>
                <a:spcPts val="200"/>
              </a:spcAft>
            </a:pPr>
            <a:r>
              <a:rPr sz="1600" b="0" i="1">
                <a:solidFill>
                  <a:srgbClr val="5CC4B0"/>
                </a:solidFill>
                <a:latin typeface="Source Code Pro"/>
              </a:rPr>
              <a:t>Don't exclude people from support because they don't have the right app installed.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400" b="1" i="0">
                <a:solidFill>
                  <a:srgbClr val="F0F0F0"/>
                </a:solidFill>
                <a:latin typeface="JetBrains Mono"/>
              </a:rPr>
              <a:t>Signal IS Our Preferred Channel — Here's How We Use It</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Account invites</a:t>
            </a:r>
            <a:r>
              <a:rPr sz="1600" b="0" i="0">
                <a:solidFill>
                  <a:srgbClr val="CCCCCC"/>
                </a:solidFill>
                <a:latin typeface="IBM Plex Mono"/>
              </a:rPr>
              <a:t> go via Signal (not email — no metadata trail)</a:t>
            </a:r>
          </a:p>
          <a:p>
            <a:pPr>
              <a:spcBef>
                <a:spcPts val="300"/>
              </a:spcBef>
              <a:spcAft>
                <a:spcPts val="200"/>
              </a:spcAft>
            </a:pPr>
            <a:r>
              <a:rPr sz="1600" b="1" i="0">
                <a:solidFill>
                  <a:srgbClr val="F0C674"/>
                </a:solidFill>
                <a:latin typeface="IBM Plex Mono"/>
              </a:rPr>
              <a:t>  •  Notifications</a:t>
            </a:r>
            <a:r>
              <a:rPr sz="1600" b="0" i="0">
                <a:solidFill>
                  <a:srgbClr val="CCCCCC"/>
                </a:solidFill>
                <a:latin typeface="IBM Plex Mono"/>
              </a:rPr>
              <a:t> route through Signal by default (push via zero-knowledge sidecar)</a:t>
            </a:r>
          </a:p>
          <a:p>
            <a:pPr>
              <a:spcBef>
                <a:spcPts val="300"/>
              </a:spcBef>
              <a:spcAft>
                <a:spcPts val="200"/>
              </a:spcAft>
            </a:pPr>
            <a:r>
              <a:rPr sz="1600" b="1" i="0">
                <a:solidFill>
                  <a:srgbClr val="F0C674"/>
                </a:solidFill>
                <a:latin typeface="IBM Plex Mono"/>
              </a:rPr>
              <a:t>  •  Field reporting</a:t>
            </a:r>
            <a:r>
              <a:rPr sz="1600" b="0" i="0">
                <a:solidFill>
                  <a:srgbClr val="CCCCCC"/>
                </a:solidFill>
                <a:latin typeface="IBM Plex Mono"/>
              </a:rPr>
              <a:t> — legal observers text the hub directly from Signal</a:t>
            </a:r>
          </a:p>
          <a:p>
            <a:pPr>
              <a:spcBef>
                <a:spcPts val="300"/>
              </a:spcBef>
              <a:spcAft>
                <a:spcPts val="200"/>
              </a:spcAft>
            </a:pPr>
            <a:r>
              <a:rPr sz="1600" b="1" i="0">
                <a:solidFill>
                  <a:srgbClr val="F0C674"/>
                </a:solidFill>
                <a:latin typeface="IBM Plex Mono"/>
              </a:rPr>
              <a:t>  •  Blast alerts</a:t>
            </a:r>
            <a:r>
              <a:rPr sz="1600" b="0" i="0">
                <a:solidFill>
                  <a:srgbClr val="CCCCCC"/>
                </a:solidFill>
                <a:latin typeface="IBM Plex Mono"/>
              </a:rPr>
              <a:t> — jail support updates, rapid response coordination</a:t>
            </a:r>
          </a:p>
          <a:p>
            <a:pPr>
              <a:spcBef>
                <a:spcPts val="300"/>
              </a:spcBef>
              <a:spcAft>
                <a:spcPts val="200"/>
              </a:spcAft>
            </a:pPr>
            <a:r>
              <a:rPr sz="1600" b="1" i="0">
                <a:solidFill>
                  <a:srgbClr val="F0C674"/>
                </a:solidFill>
                <a:latin typeface="IBM Plex Mono"/>
              </a:rPr>
              <a:t>  •  Password/PIN reset</a:t>
            </a:r>
            <a:r>
              <a:rPr sz="1600" b="0" i="0">
                <a:solidFill>
                  <a:srgbClr val="CCCCCC"/>
                </a:solidFill>
                <a:latin typeface="IBM Plex Mono"/>
              </a:rPr>
              <a:t> flows use Signal, never email</a:t>
            </a:r>
          </a:p>
          <a:p>
            <a:pPr>
              <a:spcBef>
                <a:spcPts val="300"/>
              </a:spcBef>
              <a:spcAft>
                <a:spcPts val="200"/>
              </a:spcAft>
            </a:pPr>
            <a:r>
              <a:rPr sz="1600" b="1" i="0">
                <a:solidFill>
                  <a:srgbClr val="F0C674"/>
                </a:solidFill>
                <a:latin typeface="IBM Plex Mono"/>
              </a:rPr>
              <a:t>  •  Receipts, reactions, typing indicators</a:t>
            </a:r>
            <a:r>
              <a:rPr sz="1600" b="0" i="0">
                <a:solidFill>
                  <a:srgbClr val="CCCCCC"/>
                </a:solidFill>
                <a:latin typeface="IBM Plex Mono"/>
              </a:rPr>
              <a:t> — full Signal UX, not just text</a:t>
            </a:r>
          </a:p>
          <a:p>
            <a:pPr algn="ctr">
              <a:spcBef>
                <a:spcPts val="800"/>
              </a:spcBef>
              <a:spcAft>
                <a:spcPts val="200"/>
              </a:spcAft>
            </a:pPr>
            <a:r>
              <a:rPr sz="1600" b="0" i="1">
                <a:solidFill>
                  <a:srgbClr val="5CC4B0"/>
                </a:solidFill>
                <a:latin typeface="Source Code Pro"/>
              </a:rPr>
              <a:t>Email is a surveillance channel. We route account operations through Signal instead.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6</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What Changed in v2</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What the Review Found</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A Signal protocol cryptographer reviewed v1. Key findings:</a:t>
            </a:r>
          </a:p>
          <a:p>
            <a:pPr>
              <a:spcBef>
                <a:spcPts val="400"/>
              </a:spcBef>
              <a:spcAft>
                <a:spcPts val="200"/>
              </a:spcAft>
            </a:pPr>
            <a:r>
              <a:rPr sz="1600" b="1" i="0">
                <a:solidFill>
                  <a:srgbClr val="E84D4D"/>
                </a:solidFill>
                <a:latin typeface="Fira Code"/>
              </a:rPr>
              <a:t>  1.  </a:t>
            </a:r>
            <a:r>
              <a:rPr sz="1600" b="1" i="0">
                <a:solidFill>
                  <a:srgbClr val="F0F0F0"/>
                </a:solidFill>
                <a:latin typeface="JetBrains Mono"/>
              </a:rPr>
              <a:t>secp256k1 ECIES was non-standard</a:t>
            </a:r>
            <a:r>
              <a:rPr sz="1600" b="0" i="0">
                <a:solidFill>
                  <a:srgbClr val="999999"/>
                </a:solidFill>
                <a:latin typeface="IBM Plex Mono"/>
              </a:rPr>
              <a:t> — custom construction, no formal proof for this exact combination</a:t>
            </a:r>
          </a:p>
          <a:p>
            <a:pPr>
              <a:spcBef>
                <a:spcPts val="400"/>
              </a:spcBef>
              <a:spcAft>
                <a:spcPts val="200"/>
              </a:spcAft>
            </a:pPr>
            <a:r>
              <a:rPr sz="1600" b="1" i="0">
                <a:solidFill>
                  <a:srgbClr val="E84D4D"/>
                </a:solidFill>
                <a:latin typeface="Fira Code"/>
              </a:rPr>
              <a:t>  2.  </a:t>
            </a:r>
            <a:r>
              <a:rPr sz="1600" b="1" i="0">
                <a:solidFill>
                  <a:srgbClr val="F0F0F0"/>
                </a:solidFill>
                <a:latin typeface="JetBrains Mono"/>
              </a:rPr>
              <a:t>Single secret key per user</a:t>
            </a:r>
            <a:r>
              <a:rPr sz="1600" b="0" i="0">
                <a:solidFill>
                  <a:srgbClr val="999999"/>
                </a:solidFill>
                <a:latin typeface="IBM Plex Mono"/>
              </a:rPr>
              <a:t> — one private key per person, on multiple devices. Device compromise = all notes compromised.</a:t>
            </a:r>
          </a:p>
          <a:p>
            <a:pPr>
              <a:spcBef>
                <a:spcPts val="400"/>
              </a:spcBef>
              <a:spcAft>
                <a:spcPts val="200"/>
              </a:spcAft>
            </a:pPr>
            <a:r>
              <a:rPr sz="1600" b="1" i="0">
                <a:solidFill>
                  <a:srgbClr val="E84D4D"/>
                </a:solidFill>
                <a:latin typeface="Fira Code"/>
              </a:rPr>
              <a:t>  3.  </a:t>
            </a:r>
            <a:r>
              <a:rPr sz="1600" b="1" i="0">
                <a:solidFill>
                  <a:srgbClr val="F0F0F0"/>
                </a:solidFill>
                <a:latin typeface="JetBrains Mono"/>
              </a:rPr>
              <a:t>No domain separation</a:t>
            </a:r>
            <a:r>
              <a:rPr sz="1600" b="0" i="0">
                <a:solidFill>
                  <a:srgbClr val="999999"/>
                </a:solidFill>
                <a:latin typeface="IBM Plex Mono"/>
              </a:rPr>
              <a:t> — same HKDF inputs across different operations → cross-protocol attack surface</a:t>
            </a:r>
          </a:p>
          <a:p>
            <a:pPr>
              <a:spcBef>
                <a:spcPts val="400"/>
              </a:spcBef>
              <a:spcAft>
                <a:spcPts val="200"/>
              </a:spcAft>
            </a:pPr>
            <a:r>
              <a:rPr sz="1600" b="1" i="0">
                <a:solidFill>
                  <a:srgbClr val="E84D4D"/>
                </a:solidFill>
                <a:latin typeface="Fira Code"/>
              </a:rPr>
              <a:t>  4.  </a:t>
            </a:r>
            <a:r>
              <a:rPr sz="1600" b="1" i="0">
                <a:solidFill>
                  <a:srgbClr val="F0F0F0"/>
                </a:solidFill>
                <a:latin typeface="JetBrains Mono"/>
              </a:rPr>
              <a:t>No per-note forward secrecy</a:t>
            </a:r>
            <a:r>
              <a:rPr sz="1600" b="0" i="0">
                <a:solidFill>
                  <a:srgbClr val="999999"/>
                </a:solidFill>
                <a:latin typeface="IBM Plex Mono"/>
              </a:rPr>
              <a:t> — one content key wrapped per user, not per note → historical notes exposed by key compromise</a:t>
            </a:r>
          </a:p>
          <a:p>
            <a:pPr>
              <a:spcBef>
                <a:spcPts val="400"/>
              </a:spcBef>
              <a:spcAft>
                <a:spcPts val="200"/>
              </a:spcAft>
            </a:pPr>
            <a:r>
              <a:rPr sz="1600" b="1" i="0">
                <a:solidFill>
                  <a:srgbClr val="E84D4D"/>
                </a:solidFill>
                <a:latin typeface="Fira Code"/>
              </a:rPr>
              <a:t>  5.  </a:t>
            </a:r>
            <a:r>
              <a:rPr sz="1600" b="1" i="0">
                <a:solidFill>
                  <a:srgbClr val="F0F0F0"/>
                </a:solidFill>
                <a:latin typeface="JetBrains Mono"/>
              </a:rPr>
              <a:t>No SAS verification</a:t>
            </a:r>
            <a:r>
              <a:rPr sz="1600" b="0" i="0">
                <a:solidFill>
                  <a:srgbClr val="999999"/>
                </a:solidFill>
                <a:latin typeface="IBM Plex Mono"/>
              </a:rPr>
              <a:t> on device linking — MITM could inject a rogue device into your sigchain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The Biggest Change: Why We Left the Browser</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Web E2EE has a fatal problem for our threat model: server compromise.</a:t>
            </a:r>
          </a:p>
          <a:p>
            <a:pPr>
              <a:spcBef>
                <a:spcPts val="300"/>
              </a:spcBef>
              <a:spcAft>
                <a:spcPts val="200"/>
              </a:spcAft>
            </a:pPr>
            <a:r>
              <a:rPr sz="1600" b="0" i="0">
                <a:solidFill>
                  <a:srgbClr val="CCCCCC"/>
                </a:solidFill>
                <a:latin typeface="IBM Plex Mono"/>
              </a:rPr>
              <a:t>  •  Your server delivers the JavaScript that does the encryption</a:t>
            </a:r>
          </a:p>
          <a:p>
            <a:pPr>
              <a:spcBef>
                <a:spcPts val="300"/>
              </a:spcBef>
              <a:spcAft>
                <a:spcPts val="200"/>
              </a:spcAft>
            </a:pPr>
            <a:r>
              <a:rPr sz="1600" b="0" i="0">
                <a:solidFill>
                  <a:srgbClr val="CCCCCC"/>
                </a:solidFill>
                <a:latin typeface="IBM Plex Mono"/>
              </a:rPr>
              <a:t>  •  A compromised server can deliver modified JS that exfiltrates keys</a:t>
            </a:r>
          </a:p>
          <a:p>
            <a:pPr>
              <a:spcBef>
                <a:spcPts val="300"/>
              </a:spcBef>
              <a:spcAft>
                <a:spcPts val="200"/>
              </a:spcAft>
            </a:pPr>
            <a:r>
              <a:rPr sz="1600" b="0" i="0">
                <a:solidFill>
                  <a:srgbClr val="CCCCCC"/>
                </a:solidFill>
                <a:latin typeface="IBM Plex Mono"/>
              </a:rPr>
              <a:t>  •  The user has no way to verify the code they're running</a:t>
            </a:r>
          </a:p>
          <a:p>
            <a:pPr>
              <a:spcBef>
                <a:spcPts val="300"/>
              </a:spcBef>
              <a:spcAft>
                <a:spcPts val="200"/>
              </a:spcAft>
            </a:pPr>
            <a:r>
              <a:rPr sz="1600" b="0" i="0">
                <a:solidFill>
                  <a:srgbClr val="CCCCCC"/>
                </a:solidFill>
                <a:latin typeface="IBM Plex Mono"/>
              </a:rPr>
              <a:t>  •  Keys in localStorage — accessible to XSS, browser extensions, devtools</a:t>
            </a:r>
          </a:p>
          <a:p>
            <a:pPr>
              <a:spcBef>
                <a:spcPts val="300"/>
              </a:spcBef>
              <a:spcAft>
                <a:spcPts val="200"/>
              </a:spcAft>
            </a:pPr>
            <a:r>
              <a:rPr sz="1600" b="0" i="0">
                <a:solidFill>
                  <a:srgbClr val="CCCCCC"/>
                </a:solidFill>
                <a:latin typeface="IBM Plex Mono"/>
              </a:rPr>
              <a:t>  •  Your "E2EE web app" is only as trustworthy as your server on every page load</a:t>
            </a:r>
          </a:p>
          <a:p>
            <a:pPr algn="ctr">
              <a:spcBef>
                <a:spcPts val="800"/>
              </a:spcBef>
              <a:spcAft>
                <a:spcPts val="200"/>
              </a:spcAft>
            </a:pPr>
            <a:r>
              <a:rPr sz="1600" b="0" i="1">
                <a:solidFill>
                  <a:srgbClr val="5CC4B0"/>
                </a:solidFill>
                <a:latin typeface="Source Code Pro"/>
              </a:rPr>
              <a:t>What's the point of E2EE if the server that's subpoenaed is the same server that delivers your crypto code?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v2: Native Clients — No Webview on Mobile</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Desktop (Tauri v2)</a:t>
            </a:r>
          </a:p>
          <a:p>
            <a:pPr>
              <a:spcBef>
                <a:spcPts val="300"/>
              </a:spcBef>
              <a:spcAft>
                <a:spcPts val="200"/>
              </a:spcAft>
            </a:pPr>
            <a:r>
              <a:rPr sz="1600" b="0" i="0">
                <a:solidFill>
                  <a:srgbClr val="CCCCCC"/>
                </a:solidFill>
                <a:latin typeface="IBM Plex Mono"/>
              </a:rPr>
              <a:t>  •  Rust process holds device keys</a:t>
            </a:r>
          </a:p>
          <a:p>
            <a:pPr>
              <a:spcBef>
                <a:spcPts val="300"/>
              </a:spcBef>
              <a:spcAft>
                <a:spcPts val="200"/>
              </a:spcAft>
            </a:pPr>
            <a:r>
              <a:rPr sz="1600" b="0" i="0">
                <a:solidFill>
                  <a:srgbClr val="CCCCCC"/>
                </a:solidFill>
                <a:latin typeface="IBM Plex Mono"/>
              </a:rPr>
              <a:t>  •  Webview renders UI only — no key access</a:t>
            </a:r>
          </a:p>
          <a:p>
            <a:pPr>
              <a:spcBef>
                <a:spcPts val="300"/>
              </a:spcBef>
              <a:spcAft>
                <a:spcPts val="200"/>
              </a:spcAft>
            </a:pPr>
            <a:r>
              <a:rPr sz="1600" b="1" i="0">
                <a:solidFill>
                  <a:srgbClr val="F0C674"/>
                </a:solidFill>
                <a:latin typeface="IBM Plex Mono"/>
              </a:rPr>
              <a:t>  •  Stronghold</a:t>
            </a:r>
            <a:r>
              <a:rPr sz="1600" b="0" i="0">
                <a:solidFill>
                  <a:srgbClr val="CCCCCC"/>
                </a:solidFill>
                <a:latin typeface="IBM Plex Mono"/>
              </a:rPr>
              <a:t> encrypted vault</a:t>
            </a:r>
          </a:p>
          <a:p>
            <a:pPr>
              <a:spcBef>
                <a:spcPts val="300"/>
              </a:spcBef>
              <a:spcAft>
                <a:spcPts val="200"/>
              </a:spcAft>
            </a:pPr>
            <a:r>
              <a:rPr sz="1600" b="0" i="0">
                <a:solidFill>
                  <a:srgbClr val="CCCCCC"/>
                </a:solidFill>
                <a:latin typeface="IBM Plex Mono"/>
              </a:rPr>
              <a:t>  •  Code is the compiled binary you installed</a:t>
            </a:r>
          </a:p>
          <a:p>
            <a:pPr>
              <a:spcBef>
                <a:spcPts val="300"/>
              </a:spcBef>
              <a:spcAft>
                <a:spcPts val="200"/>
              </a:spcAft>
            </a:pPr>
            <a:r>
              <a:rPr sz="1600" b="0" i="0">
                <a:solidFill>
                  <a:srgbClr val="CCCCCC"/>
                </a:solidFill>
                <a:latin typeface="IBM Plex Mono"/>
              </a:rPr>
              <a:t>  •  Reproducible builds — verify the binary matches source</a:t>
            </a:r>
          </a:p>
          <a:p>
            <a:pPr>
              <a:spcBef>
                <a:spcPts val="800"/>
              </a:spcBef>
              <a:spcAft>
                <a:spcPts val="200"/>
              </a:spcAft>
            </a:pPr>
            <a:r>
              <a:rPr sz="1800" b="1" i="0">
                <a:solidFill>
                  <a:srgbClr val="E84D4D"/>
                </a:solidFill>
                <a:latin typeface="JetBrains Mono"/>
              </a:rPr>
              <a:t>iOS + Android (Fully Native)</a:t>
            </a:r>
          </a:p>
          <a:p>
            <a:pPr>
              <a:spcBef>
                <a:spcPts val="300"/>
              </a:spcBef>
              <a:spcAft>
                <a:spcPts val="200"/>
              </a:spcAft>
            </a:pPr>
            <a:r>
              <a:rPr sz="1600" b="1" i="0">
                <a:solidFill>
                  <a:srgbClr val="F0C674"/>
                </a:solidFill>
                <a:latin typeface="IBM Plex Mono"/>
              </a:rPr>
              <a:t>  •  No webview.</a:t>
            </a:r>
            <a:r>
              <a:rPr sz="1600" b="0" i="0">
                <a:solidFill>
                  <a:srgbClr val="CCCCCC"/>
                </a:solidFill>
                <a:latin typeface="IBM Plex Mono"/>
              </a:rPr>
              <a:t> SwiftUI / Kotlin Compose</a:t>
            </a:r>
          </a:p>
          <a:p>
            <a:pPr>
              <a:spcBef>
                <a:spcPts val="300"/>
              </a:spcBef>
              <a:spcAft>
                <a:spcPts val="200"/>
              </a:spcAft>
            </a:pPr>
            <a:r>
              <a:rPr sz="1600" b="0" i="0">
                <a:solidFill>
                  <a:srgbClr val="CCCCCC"/>
                </a:solidFill>
                <a:latin typeface="IBM Plex Mono"/>
              </a:rPr>
              <a:t>  •  iOS: Keychain (Secure Enclave backed)</a:t>
            </a:r>
          </a:p>
          <a:p>
            <a:pPr>
              <a:spcBef>
                <a:spcPts val="300"/>
              </a:spcBef>
              <a:spcAft>
                <a:spcPts val="200"/>
              </a:spcAft>
            </a:pPr>
            <a:r>
              <a:rPr sz="1600" b="0" i="0">
                <a:solidFill>
                  <a:srgbClr val="CCCCCC"/>
                </a:solidFill>
                <a:latin typeface="IBM Plex Mono"/>
              </a:rPr>
              <a:t>  •  Android: Keystore (hardware-backed)</a:t>
            </a:r>
          </a:p>
          <a:p>
            <a:pPr>
              <a:spcBef>
                <a:spcPts val="300"/>
              </a:spcBef>
              <a:spcAft>
                <a:spcPts val="200"/>
              </a:spcAft>
            </a:pPr>
            <a:r>
              <a:rPr sz="1600" b="0" i="0">
                <a:solidFill>
                  <a:srgbClr val="CCCCCC"/>
                </a:solidFill>
                <a:latin typeface="IBM Plex Mono"/>
              </a:rPr>
              <a:t>  •  Crypto via shared Rust crate (UniFFI/JNI)</a:t>
            </a:r>
          </a:p>
          <a:p>
            <a:pPr>
              <a:spcBef>
                <a:spcPts val="300"/>
              </a:spcBef>
              <a:spcAft>
                <a:spcPts val="200"/>
              </a:spcAft>
            </a:pPr>
            <a:r>
              <a:rPr sz="1600" b="0" i="0">
                <a:solidFill>
                  <a:srgbClr val="CCCCCC"/>
                </a:solidFill>
                <a:latin typeface="IBM Plex Mono"/>
              </a:rPr>
              <a:t>  •  Code is the app you installed from a signed build</a:t>
            </a:r>
          </a:p>
          <a:p>
            <a:pPr algn="ctr">
              <a:spcBef>
                <a:spcPts val="800"/>
              </a:spcBef>
              <a:spcAft>
                <a:spcPts val="200"/>
              </a:spcAft>
            </a:pPr>
            <a:r>
              <a:rPr sz="1600" b="0" i="1">
                <a:solidFill>
                  <a:srgbClr val="5CC4B0"/>
                </a:solidFill>
                <a:latin typeface="Source Code Pro"/>
              </a:rPr>
              <a:t>The server can't deliver malicious code. It only serves encrypted data. The crypto runs in your native app.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What Else Changed: Crypto Protocol v1 → v2</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v1</a:t>
            </a:r>
          </a:p>
          <a:p>
            <a:pPr>
              <a:spcBef>
                <a:spcPts val="300"/>
              </a:spcBef>
              <a:spcAft>
                <a:spcPts val="200"/>
              </a:spcAft>
            </a:pPr>
            <a:r>
              <a:rPr sz="1600" b="0" i="0">
                <a:solidFill>
                  <a:srgbClr val="CCCCCC"/>
                </a:solidFill>
                <a:latin typeface="IBM Plex Mono"/>
              </a:rPr>
              <a:t>  •  secp256k1 ECIES (custom construction)</a:t>
            </a:r>
          </a:p>
          <a:p>
            <a:pPr>
              <a:spcBef>
                <a:spcPts val="300"/>
              </a:spcBef>
              <a:spcAft>
                <a:spcPts val="200"/>
              </a:spcAft>
            </a:pPr>
            <a:r>
              <a:rPr sz="1600" b="0" i="0">
                <a:solidFill>
                  <a:srgbClr val="CCCCCC"/>
                </a:solidFill>
                <a:latin typeface="IBM Plex Mono"/>
              </a:rPr>
              <a:t>  •  Single secret key per user, on every device</a:t>
            </a:r>
          </a:p>
          <a:p>
            <a:pPr>
              <a:spcBef>
                <a:spcPts val="300"/>
              </a:spcBef>
              <a:spcAft>
                <a:spcPts val="200"/>
              </a:spcAft>
            </a:pPr>
            <a:r>
              <a:rPr sz="1600" b="0" i="0">
                <a:solidFill>
                  <a:srgbClr val="CCCCCC"/>
                </a:solidFill>
                <a:latin typeface="IBM Plex Mono"/>
              </a:rPr>
              <a:t>  •  No domain separation</a:t>
            </a:r>
          </a:p>
          <a:p>
            <a:pPr>
              <a:spcBef>
                <a:spcPts val="300"/>
              </a:spcBef>
              <a:spcAft>
                <a:spcPts val="200"/>
              </a:spcAft>
            </a:pPr>
            <a:r>
              <a:rPr sz="1600" b="0" i="0">
                <a:solidFill>
                  <a:srgbClr val="CCCCCC"/>
                </a:solidFill>
                <a:latin typeface="IBM Plex Mono"/>
              </a:rPr>
              <a:t>  •  No per-note forward secrecy</a:t>
            </a:r>
          </a:p>
          <a:p>
            <a:pPr>
              <a:spcBef>
                <a:spcPts val="300"/>
              </a:spcBef>
              <a:spcAft>
                <a:spcPts val="200"/>
              </a:spcAft>
            </a:pPr>
            <a:r>
              <a:rPr sz="1600" b="0" i="0">
                <a:solidFill>
                  <a:srgbClr val="CCCCCC"/>
                </a:solidFill>
                <a:latin typeface="IBM Plex Mono"/>
              </a:rPr>
              <a:t>  •  No device authorization chain</a:t>
            </a:r>
          </a:p>
          <a:p>
            <a:pPr>
              <a:spcBef>
                <a:spcPts val="800"/>
              </a:spcBef>
              <a:spcAft>
                <a:spcPts val="200"/>
              </a:spcAft>
            </a:pPr>
            <a:r>
              <a:rPr sz="1800" b="1" i="0">
                <a:solidFill>
                  <a:srgbClr val="E84D4D"/>
                </a:solidFill>
                <a:latin typeface="JetBrains Mono"/>
              </a:rPr>
              <a:t>v2</a:t>
            </a:r>
          </a:p>
          <a:p>
            <a:pPr>
              <a:spcBef>
                <a:spcPts val="300"/>
              </a:spcBef>
              <a:spcAft>
                <a:spcPts val="200"/>
              </a:spcAft>
            </a:pPr>
            <a:r>
              <a:rPr sz="1600" b="1" i="0">
                <a:solidFill>
                  <a:srgbClr val="F0C674"/>
                </a:solidFill>
                <a:latin typeface="IBM Plex Mono"/>
              </a:rPr>
              <a:t>  •  HPKE (RFC 9180)</a:t>
            </a:r>
            <a:r>
              <a:rPr sz="1600" b="0" i="0">
                <a:solidFill>
                  <a:srgbClr val="CCCCCC"/>
                </a:solidFill>
                <a:latin typeface="IBM Plex Mono"/>
              </a:rPr>
              <a:t> — formally verified</a:t>
            </a:r>
          </a:p>
          <a:p>
            <a:pPr>
              <a:spcBef>
                <a:spcPts val="300"/>
              </a:spcBef>
              <a:spcAft>
                <a:spcPts val="200"/>
              </a:spcAft>
            </a:pPr>
            <a:r>
              <a:rPr sz="1600" b="1" i="0">
                <a:solidFill>
                  <a:srgbClr val="F0C674"/>
                </a:solidFill>
                <a:latin typeface="IBM Plex Mono"/>
              </a:rPr>
              <a:t>  •  Per-device Ed25519/X25519 keys</a:t>
            </a:r>
          </a:p>
          <a:p>
            <a:pPr>
              <a:spcBef>
                <a:spcPts val="300"/>
              </a:spcBef>
              <a:spcAft>
                <a:spcPts val="200"/>
              </a:spcAft>
            </a:pPr>
            <a:r>
              <a:rPr sz="1600" b="1" i="0">
                <a:solidFill>
                  <a:srgbClr val="F0C674"/>
                </a:solidFill>
                <a:latin typeface="IBM Plex Mono"/>
              </a:rPr>
              <a:t>  •  57 domain separation labels</a:t>
            </a:r>
            <a:r>
              <a:rPr sz="1600" b="0" i="0">
                <a:solidFill>
                  <a:srgbClr val="CCCCCC"/>
                </a:solidFill>
                <a:latin typeface="IBM Plex Mono"/>
              </a:rPr>
              <a:t> (Albrecht defense)</a:t>
            </a:r>
          </a:p>
          <a:p>
            <a:pPr>
              <a:spcBef>
                <a:spcPts val="300"/>
              </a:spcBef>
              <a:spcAft>
                <a:spcPts val="200"/>
              </a:spcAft>
            </a:pPr>
            <a:r>
              <a:rPr sz="1600" b="1" i="0">
                <a:solidFill>
                  <a:srgbClr val="F0C674"/>
                </a:solidFill>
                <a:latin typeface="IBM Plex Mono"/>
              </a:rPr>
              <a:t>  •  Random key per note</a:t>
            </a:r>
            <a:r>
              <a:rPr sz="1600" b="0" i="0">
                <a:solidFill>
                  <a:srgbClr val="CCCCCC"/>
                </a:solidFill>
                <a:latin typeface="IBM Plex Mono"/>
              </a:rPr>
              <a:t> (forward secrecy)</a:t>
            </a:r>
          </a:p>
          <a:p>
            <a:pPr>
              <a:spcBef>
                <a:spcPts val="300"/>
              </a:spcBef>
              <a:spcAft>
                <a:spcPts val="200"/>
              </a:spcAft>
            </a:pPr>
            <a:r>
              <a:rPr sz="1600" b="1" i="0">
                <a:solidFill>
                  <a:srgbClr val="F0C674"/>
                </a:solidFill>
                <a:latin typeface="IBM Plex Mono"/>
              </a:rPr>
              <a:t>  •  Append-only sigchain</a:t>
            </a:r>
            <a:r>
              <a:rPr sz="1600" b="0" i="0">
                <a:solidFill>
                  <a:srgbClr val="CCCCCC"/>
                </a:solidFill>
                <a:latin typeface="IBM Plex Mono"/>
              </a:rPr>
              <a:t> + SAS device provisioning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Three Native Clients, One Crypto Crate</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F0F0"/>
                </a:solidFill>
                <a:latin typeface="IBM Plex Mono"/>
              </a:rPr>
              <a:t>Same Rust code on every platform. Device keys stay in native memory.</a:t>
            </a:r>
          </a:p>
        </p:txBody>
      </p:sp>
      <p:sp>
        <p:nvSpPr>
          <p:cNvPr id="5" name="Rounded Rectangle 4"/>
          <p:cNvSpPr/>
          <p:nvPr/>
        </p:nvSpPr>
        <p:spPr>
          <a:xfrm>
            <a:off x="548640" y="1005840"/>
            <a:ext cx="11094415" cy="2615184"/>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2432304"/>
          </a:xfrm>
          <a:prstGeom prst="rect">
            <a:avLst/>
          </a:prstGeom>
          <a:noFill/>
        </p:spPr>
        <p:txBody>
          <a:bodyPr wrap="square">
            <a:spAutoFit/>
          </a:bodyPr>
          <a:lstStyle/>
          <a:p>
            <a:pPr>
              <a:spcBef>
                <a:spcPts val="0"/>
              </a:spcBef>
              <a:spcAft>
                <a:spcPts val="0"/>
              </a:spcAft>
            </a:pPr>
            <a:r>
              <a:rPr sz="1200" b="0" i="0">
                <a:solidFill>
                  <a:srgbClr val="5CC4B0"/>
                </a:solidFill>
                <a:latin typeface="Fira Code"/>
              </a:rPr>
              <a:t>Desktop (Tauri v2):</a:t>
            </a:r>
          </a:p>
          <a:p>
            <a:pPr>
              <a:spcBef>
                <a:spcPts val="0"/>
              </a:spcBef>
              <a:spcAft>
                <a:spcPts val="0"/>
              </a:spcAft>
            </a:pPr>
            <a:r>
              <a:rPr sz="1200" b="0" i="0">
                <a:solidFill>
                  <a:srgbClr val="5CC4B0"/>
                </a:solidFill>
                <a:latin typeface="Fira Code"/>
              </a:rPr>
              <a:t>  Rust process &lt;-- IPC --&gt; Webview (UI only)</a:t>
            </a:r>
          </a:p>
          <a:p>
            <a:pPr>
              <a:spcBef>
                <a:spcPts val="0"/>
              </a:spcBef>
              <a:spcAft>
                <a:spcPts val="0"/>
              </a:spcAft>
            </a:pPr>
            <a:r>
              <a:rPr sz="1200" b="0" i="0">
                <a:solidFill>
                  <a:srgbClr val="5CC4B0"/>
                </a:solidFill>
                <a:latin typeface="Fira Code"/>
              </a:rPr>
              <a:t>  Keys in Stronghold encrypted vault</a:t>
            </a:r>
          </a:p>
          <a:p>
            <a:pPr>
              <a:spcBef>
                <a:spcPts val="0"/>
              </a:spcBef>
              <a:spcAft>
                <a:spcPts val="0"/>
              </a:spcAft>
            </a:pPr>
            <a:r>
              <a:rPr sz="1200" b="0" i="0">
                <a:solidFill>
                  <a:srgbClr val="5CC4B0"/>
                </a:solidFill>
                <a:latin typeface="Fira Code"/>
              </a:rPr>
              <a:t>  Webview CANNOT access private keys</a:t>
            </a:r>
          </a:p>
          <a:p>
            <a:pPr>
              <a:spcBef>
                <a:spcPts val="0"/>
              </a:spcBef>
              <a:spcAft>
                <a:spcPts val="0"/>
              </a:spcAft>
            </a:pPr>
          </a:p>
          <a:p>
            <a:pPr>
              <a:spcBef>
                <a:spcPts val="0"/>
              </a:spcBef>
              <a:spcAft>
                <a:spcPts val="0"/>
              </a:spcAft>
            </a:pPr>
            <a:r>
              <a:rPr sz="1200" b="0" i="0">
                <a:solidFill>
                  <a:srgbClr val="5CC4B0"/>
                </a:solidFill>
                <a:latin typeface="Fira Code"/>
              </a:rPr>
              <a:t>iOS (SwiftUI):</a:t>
            </a:r>
          </a:p>
          <a:p>
            <a:pPr>
              <a:spcBef>
                <a:spcPts val="0"/>
              </a:spcBef>
              <a:spcAft>
                <a:spcPts val="0"/>
              </a:spcAft>
            </a:pPr>
            <a:r>
              <a:rPr sz="1200" b="0" i="0">
                <a:solidFill>
                  <a:srgbClr val="5CC4B0"/>
                </a:solidFill>
                <a:latin typeface="Fira Code"/>
              </a:rPr>
              <a:t>  UniFFI XCFramework --&gt; CryptoService singleton</a:t>
            </a:r>
          </a:p>
          <a:p>
            <a:pPr>
              <a:spcBef>
                <a:spcPts val="0"/>
              </a:spcBef>
              <a:spcAft>
                <a:spcPts val="0"/>
              </a:spcAft>
            </a:pPr>
            <a:r>
              <a:rPr sz="1200" b="0" i="0">
                <a:solidFill>
                  <a:srgbClr val="5CC4B0"/>
                </a:solidFill>
                <a:latin typeface="Fira Code"/>
              </a:rPr>
              <a:t>  Keys in Keychain (Secure Enclave backed)</a:t>
            </a:r>
          </a:p>
          <a:p>
            <a:pPr>
              <a:spcBef>
                <a:spcPts val="0"/>
              </a:spcBef>
              <a:spcAft>
                <a:spcPts val="0"/>
              </a:spcAft>
            </a:pPr>
            <a:r>
              <a:rPr sz="1200" b="0" i="0">
                <a:solidFill>
                  <a:srgbClr val="5CC4B0"/>
                </a:solidFill>
                <a:latin typeface="Fira Code"/>
              </a:rPr>
              <a:t>  UI layer gets pubkeys only</a:t>
            </a:r>
          </a:p>
          <a:p>
            <a:pPr>
              <a:spcBef>
                <a:spcPts val="0"/>
              </a:spcBef>
              <a:spcAft>
                <a:spcPts val="0"/>
              </a:spcAft>
            </a:pPr>
          </a:p>
          <a:p>
            <a:pPr>
              <a:spcBef>
                <a:spcPts val="0"/>
              </a:spcBef>
              <a:spcAft>
                <a:spcPts val="0"/>
              </a:spcAft>
            </a:pPr>
            <a:r>
              <a:rPr sz="1200" b="0" i="0">
                <a:solidFill>
                  <a:srgbClr val="5CC4B0"/>
                </a:solidFill>
                <a:latin typeface="Fira Code"/>
              </a:rPr>
              <a:t>Android (Kotlin/Compose):</a:t>
            </a:r>
          </a:p>
          <a:p>
            <a:pPr>
              <a:spcBef>
                <a:spcPts val="0"/>
              </a:spcBef>
              <a:spcAft>
                <a:spcPts val="0"/>
              </a:spcAft>
            </a:pPr>
            <a:r>
              <a:rPr sz="1200" b="0" i="0">
                <a:solidFill>
                  <a:srgbClr val="5CC4B0"/>
                </a:solidFill>
                <a:latin typeface="Fira Code"/>
              </a:rPr>
              <a:t>  JNI .so --&gt; CryptoService singleton</a:t>
            </a:r>
          </a:p>
          <a:p>
            <a:pPr>
              <a:spcBef>
                <a:spcPts val="0"/>
              </a:spcBef>
              <a:spcAft>
                <a:spcPts val="0"/>
              </a:spcAft>
            </a:pPr>
            <a:r>
              <a:rPr sz="1200" b="0" i="0">
                <a:solidFill>
                  <a:srgbClr val="5CC4B0"/>
                </a:solidFill>
                <a:latin typeface="Fira Code"/>
              </a:rPr>
              <a:t>  Keys in Keystore (hardware-backed)</a:t>
            </a:r>
          </a:p>
          <a:p>
            <a:pPr>
              <a:spcBef>
                <a:spcPts val="0"/>
              </a:spcBef>
              <a:spcAft>
                <a:spcPts val="0"/>
              </a:spcAft>
            </a:pPr>
            <a:r>
              <a:rPr sz="1200" b="0" i="0">
                <a:solidFill>
                  <a:srgbClr val="5CC4B0"/>
                </a:solidFill>
                <a:latin typeface="Fira Code"/>
              </a:rPr>
              <a:t>  UI layer gets pubkeys only</a:t>
            </a:r>
          </a:p>
        </p:txBody>
      </p:sp>
      <p:sp>
        <p:nvSpPr>
          <p:cNvPr id="7" name="TextBox 6"/>
          <p:cNvSpPr txBox="1"/>
          <p:nvPr/>
        </p:nvSpPr>
        <p:spPr>
          <a:xfrm>
            <a:off x="548640" y="3712464"/>
            <a:ext cx="11094415" cy="2505456"/>
          </a:xfrm>
          <a:prstGeom prst="rect">
            <a:avLst/>
          </a:prstGeom>
          <a:noFill/>
        </p:spPr>
        <p:txBody>
          <a:bodyPr wrap="square">
            <a:spAutoFit/>
          </a:bodyPr>
          <a:lstStyle/>
          <a:p>
            <a:r>
              <a:rPr sz="1600" b="0" i="0">
                <a:solidFill>
                  <a:srgbClr val="CCCCCC"/>
                </a:solidFill>
                <a:latin typeface="IBM Plex Mono"/>
              </a:rPr>
              <a:t>Rust process ← IPC → Webview (UI only)</a:t>
            </a:r>
          </a:p>
          <a:p>
            <a:pPr>
              <a:spcBef>
                <a:spcPts val="300"/>
              </a:spcBef>
              <a:spcAft>
                <a:spcPts val="200"/>
              </a:spcAft>
            </a:pPr>
            <a:r>
              <a:rPr sz="1600" b="0" i="0">
                <a:solidFill>
                  <a:srgbClr val="CCCCCC"/>
                </a:solidFill>
                <a:latin typeface="IBM Plex Mono"/>
              </a:rPr>
              <a:t>Keys in Stronghold encrypted vault</a:t>
            </a:r>
          </a:p>
          <a:p>
            <a:pPr>
              <a:spcBef>
                <a:spcPts val="300"/>
              </a:spcBef>
              <a:spcAft>
                <a:spcPts val="200"/>
              </a:spcAft>
            </a:pPr>
            <a:r>
              <a:rPr sz="1600" b="0" i="0">
                <a:solidFill>
                  <a:srgbClr val="CCCCCC"/>
                </a:solidFill>
                <a:latin typeface="IBM Plex Mono"/>
              </a:rPr>
              <a:t>Webview CANNOT access private keys</a:t>
            </a:r>
          </a:p>
          <a:p>
            <a:pPr>
              <a:spcBef>
                <a:spcPts val="300"/>
              </a:spcBef>
              <a:spcAft>
                <a:spcPts val="200"/>
              </a:spcAft>
            </a:pPr>
            <a:r>
              <a:rPr sz="1600" b="0" i="0">
                <a:solidFill>
                  <a:srgbClr val="CCCCCC"/>
                </a:solidFill>
                <a:latin typeface="IBM Plex Mono"/>
              </a:rPr>
              <a:t>iOS (SwiftUI):</a:t>
            </a:r>
          </a:p>
          <a:p>
            <a:pPr>
              <a:spcBef>
                <a:spcPts val="300"/>
              </a:spcBef>
              <a:spcAft>
                <a:spcPts val="200"/>
              </a:spcAft>
            </a:pPr>
            <a:r>
              <a:rPr sz="1600" b="0" i="0">
                <a:solidFill>
                  <a:srgbClr val="CCCCCC"/>
                </a:solidFill>
                <a:latin typeface="IBM Plex Mono"/>
              </a:rPr>
              <a:t>UniFFI XCFramework → CryptoService singleton</a:t>
            </a:r>
          </a:p>
          <a:p>
            <a:pPr>
              <a:spcBef>
                <a:spcPts val="300"/>
              </a:spcBef>
              <a:spcAft>
                <a:spcPts val="200"/>
              </a:spcAft>
            </a:pPr>
            <a:r>
              <a:rPr sz="1600" b="0" i="0">
                <a:solidFill>
                  <a:srgbClr val="CCCCCC"/>
                </a:solidFill>
                <a:latin typeface="IBM Plex Mono"/>
              </a:rPr>
              <a:t>Keys in Keychain (Secure Enclave backed)</a:t>
            </a:r>
          </a:p>
          <a:p>
            <a:pPr>
              <a:spcBef>
                <a:spcPts val="300"/>
              </a:spcBef>
              <a:spcAft>
                <a:spcPts val="200"/>
              </a:spcAft>
            </a:pPr>
            <a:r>
              <a:rPr sz="1600" b="0" i="0">
                <a:solidFill>
                  <a:srgbClr val="CCCCCC"/>
                </a:solidFill>
                <a:latin typeface="IBM Plex Mono"/>
              </a:rPr>
              <a:t>UI layer gets pubkeys only</a:t>
            </a:r>
          </a:p>
          <a:p>
            <a:pPr>
              <a:spcBef>
                <a:spcPts val="300"/>
              </a:spcBef>
              <a:spcAft>
                <a:spcPts val="200"/>
              </a:spcAft>
            </a:pPr>
            <a:r>
              <a:rPr sz="1600" b="0" i="0">
                <a:solidFill>
                  <a:srgbClr val="CCCCCC"/>
                </a:solidFill>
                <a:latin typeface="IBM Plex Mono"/>
              </a:rPr>
              <a:t>Android (Kotlin/Compose):</a:t>
            </a:r>
          </a:p>
          <a:p>
            <a:pPr>
              <a:spcBef>
                <a:spcPts val="300"/>
              </a:spcBef>
              <a:spcAft>
                <a:spcPts val="200"/>
              </a:spcAft>
            </a:pPr>
            <a:r>
              <a:rPr sz="1600" b="0" i="0">
                <a:solidFill>
                  <a:srgbClr val="CCCCCC"/>
                </a:solidFill>
                <a:latin typeface="IBM Plex Mono"/>
              </a:rPr>
              <a:t>JNI .so → CryptoService singleton</a:t>
            </a:r>
          </a:p>
          <a:p>
            <a:pPr>
              <a:spcBef>
                <a:spcPts val="300"/>
              </a:spcBef>
              <a:spcAft>
                <a:spcPts val="200"/>
              </a:spcAft>
            </a:pPr>
            <a:r>
              <a:rPr sz="1600" b="0" i="0">
                <a:solidFill>
                  <a:srgbClr val="CCCCCC"/>
                </a:solidFill>
                <a:latin typeface="IBM Plex Mono"/>
              </a:rPr>
              <a:t>Keys in Keystore (hardware-backed)</a:t>
            </a:r>
          </a:p>
          <a:p>
            <a:pPr>
              <a:spcBef>
                <a:spcPts val="300"/>
              </a:spcBef>
              <a:spcAft>
                <a:spcPts val="200"/>
              </a:spcAft>
            </a:pPr>
            <a:r>
              <a:rPr sz="1600" b="0" i="0">
                <a:solidFill>
                  <a:srgbClr val="CCCCCC"/>
                </a:solidFill>
                <a:latin typeface="IBM Plex Mono"/>
              </a:rPr>
              <a:t>UI layer gets pubkeys only</a:t>
            </a:r>
          </a:p>
        </p:txBody>
      </p:sp>
      <p:sp>
        <p:nvSpPr>
          <p:cNvPr id="8" name="Rounded Rectangle 7"/>
          <p:cNvSpPr/>
          <p:nvPr/>
        </p:nvSpPr>
        <p:spPr>
          <a:xfrm>
            <a:off x="548640" y="3712464"/>
            <a:ext cx="11094415" cy="530352"/>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803904"/>
            <a:ext cx="10820095" cy="347472"/>
          </a:xfrm>
          <a:prstGeom prst="rect">
            <a:avLst/>
          </a:prstGeom>
          <a:noFill/>
        </p:spPr>
        <p:txBody>
          <a:bodyPr wrap="square">
            <a:spAutoFit/>
          </a:bodyPr>
          <a:lstStyle/>
          <a:p>
            <a:pPr>
              <a:spcBef>
                <a:spcPts val="0"/>
              </a:spcBef>
              <a:spcAft>
                <a:spcPts val="0"/>
              </a:spcAft>
            </a:pPr>
            <a:r>
              <a:rPr sz="1200" b="0" i="0">
                <a:solidFill>
                  <a:srgbClr val="5CC4B0"/>
                </a:solidFill>
                <a:latin typeface="Fira Code"/>
              </a:rPr>
              <a:t/>
            </a:r>
          </a:p>
          <a:p>
            <a:pPr>
              <a:spcBef>
                <a:spcPts val="0"/>
              </a:spcBef>
              <a:spcAft>
                <a:spcPts val="0"/>
              </a:spcAft>
            </a:pPr>
            <a:r>
              <a:rPr sz="1200" b="0" i="0">
                <a:solidFill>
                  <a:srgbClr val="5CC4B0"/>
                </a:solidFill>
                <a:latin typeface="Fira Code"/>
              </a:rPr>
              <a:t>*Signal's architecture: native crypto, thin UI shell. We adopted it wholesale.*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SFrame — Voice E2EE</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Voice calls are encrypted too — not just notes.</a:t>
            </a:r>
          </a:p>
        </p:txBody>
      </p:sp>
      <p:sp>
        <p:nvSpPr>
          <p:cNvPr id="5" name="Rounded Rectangle 4"/>
          <p:cNvSpPr/>
          <p:nvPr/>
        </p:nvSpPr>
        <p:spPr>
          <a:xfrm>
            <a:off x="548640" y="1005840"/>
            <a:ext cx="11094415" cy="1051560"/>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868680"/>
          </a:xfrm>
          <a:prstGeom prst="rect">
            <a:avLst/>
          </a:prstGeom>
          <a:noFill/>
        </p:spPr>
        <p:txBody>
          <a:bodyPr wrap="square">
            <a:spAutoFit/>
          </a:bodyPr>
          <a:lstStyle/>
          <a:p>
            <a:pPr>
              <a:spcBef>
                <a:spcPts val="0"/>
              </a:spcBef>
              <a:spcAft>
                <a:spcPts val="0"/>
              </a:spcAft>
            </a:pPr>
            <a:r>
              <a:rPr sz="1200" b="0" i="0">
                <a:solidFill>
                  <a:srgbClr val="5CC4B0"/>
                </a:solidFill>
                <a:latin typeface="Fira Code"/>
              </a:rPr>
              <a:t>SFrame (RFC 9605):</a:t>
            </a:r>
          </a:p>
          <a:p>
            <a:pPr>
              <a:spcBef>
                <a:spcPts val="0"/>
              </a:spcBef>
              <a:spcAft>
                <a:spcPts val="0"/>
              </a:spcAft>
            </a:pPr>
            <a:r>
              <a:rPr sz="1200" b="0" i="0">
                <a:solidFill>
                  <a:srgbClr val="5CC4B0"/>
                </a:solidFill>
                <a:latin typeface="Fira Code"/>
              </a:rPr>
              <a:t>  Per-call key derived from the Llámenos crypto layer</a:t>
            </a:r>
          </a:p>
          <a:p>
            <a:pPr>
              <a:spcBef>
                <a:spcPts val="0"/>
              </a:spcBef>
              <a:spcAft>
                <a:spcPts val="0"/>
              </a:spcAft>
            </a:pPr>
            <a:r>
              <a:rPr sz="1200" b="0" i="0">
                <a:solidFill>
                  <a:srgbClr val="5CC4B0"/>
                </a:solidFill>
                <a:latin typeface="Fira Code"/>
              </a:rPr>
              <a:t>  Media frames encrypted before leaving the device</a:t>
            </a:r>
          </a:p>
          <a:p>
            <a:pPr>
              <a:spcBef>
                <a:spcPts val="0"/>
              </a:spcBef>
              <a:spcAft>
                <a:spcPts val="0"/>
              </a:spcAft>
            </a:pPr>
            <a:r>
              <a:rPr sz="1200" b="0" i="0">
                <a:solidFill>
                  <a:srgbClr val="5CC4B0"/>
                </a:solidFill>
                <a:latin typeface="Fira Code"/>
              </a:rPr>
              <a:t>  Decrypted on the volunteer's device only</a:t>
            </a:r>
          </a:p>
          <a:p>
            <a:pPr>
              <a:spcBef>
                <a:spcPts val="0"/>
              </a:spcBef>
              <a:spcAft>
                <a:spcPts val="0"/>
              </a:spcAft>
            </a:pPr>
            <a:r>
              <a:rPr sz="1200" b="0" i="0">
                <a:solidFill>
                  <a:srgbClr val="5CC4B0"/>
                </a:solidFill>
                <a:latin typeface="Fira Code"/>
              </a:rPr>
              <a:t>  Server cannot decrypt live call audio</a:t>
            </a:r>
          </a:p>
        </p:txBody>
      </p:sp>
      <p:sp>
        <p:nvSpPr>
          <p:cNvPr id="7" name="TextBox 6"/>
          <p:cNvSpPr txBox="1"/>
          <p:nvPr/>
        </p:nvSpPr>
        <p:spPr>
          <a:xfrm>
            <a:off x="548640" y="2148840"/>
            <a:ext cx="11094415" cy="4069080"/>
          </a:xfrm>
          <a:prstGeom prst="rect">
            <a:avLst/>
          </a:prstGeom>
          <a:noFill/>
        </p:spPr>
        <p:txBody>
          <a:bodyPr wrap="square">
            <a:spAutoFit/>
          </a:bodyPr>
          <a:lstStyle/>
          <a:p>
            <a:pPr algn="ctr"/>
            <a:r>
              <a:rPr sz="1600" b="0" i="1">
                <a:solidFill>
                  <a:srgbClr val="5CC4B0"/>
                </a:solidFill>
                <a:latin typeface="Source Code Pro"/>
              </a:rPr>
              <a:t>Your SIP bridge passes encrypted frames. Even if the bridge is compromised, the audio is ciphertext.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7</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Self-Hosting &amp; Deployment</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What You Run</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11094415" cy="1920240"/>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820095" cy="1737360"/>
          </a:xfrm>
          <a:prstGeom prst="rect">
            <a:avLst/>
          </a:prstGeom>
          <a:noFill/>
        </p:spPr>
        <p:txBody>
          <a:bodyPr wrap="square">
            <a:spAutoFit/>
          </a:bodyPr>
          <a:lstStyle/>
          <a:p>
            <a:pPr>
              <a:spcBef>
                <a:spcPts val="0"/>
              </a:spcBef>
              <a:spcAft>
                <a:spcPts val="0"/>
              </a:spcAft>
            </a:pPr>
            <a:r>
              <a:rPr sz="1200" b="0" i="0">
                <a:solidFill>
                  <a:srgbClr val="5CC4B0"/>
                </a:solidFill>
                <a:latin typeface="Fira Code"/>
              </a:rPr>
              <a:t>services:</a:t>
            </a:r>
          </a:p>
          <a:p>
            <a:pPr>
              <a:spcBef>
                <a:spcPts val="0"/>
              </a:spcBef>
              <a:spcAft>
                <a:spcPts val="0"/>
              </a:spcAft>
            </a:pPr>
            <a:r>
              <a:rPr sz="1200" b="0" i="0">
                <a:solidFill>
                  <a:srgbClr val="5CC4B0"/>
                </a:solidFill>
                <a:latin typeface="Fira Code"/>
              </a:rPr>
              <a:t>  db:           PostgreSQL 16 (encrypted notes, audit log)</a:t>
            </a:r>
          </a:p>
          <a:p>
            <a:pPr>
              <a:spcBef>
                <a:spcPts val="0"/>
              </a:spcBef>
              <a:spcAft>
                <a:spcPts val="0"/>
              </a:spcAft>
            </a:pPr>
            <a:r>
              <a:rPr sz="1200" b="0" i="0">
                <a:solidFill>
                  <a:srgbClr val="5CC4B0"/>
                </a:solidFill>
                <a:latin typeface="Fira Code"/>
              </a:rPr>
              <a:t>  app:          Bun + Hono (the API server)</a:t>
            </a:r>
          </a:p>
          <a:p>
            <a:pPr>
              <a:spcBef>
                <a:spcPts val="0"/>
              </a:spcBef>
              <a:spcAft>
                <a:spcPts val="0"/>
              </a:spcAft>
            </a:pPr>
            <a:r>
              <a:rPr sz="1200" b="0" i="0">
                <a:solidFill>
                  <a:srgbClr val="5CC4B0"/>
                </a:solidFill>
                <a:latin typeface="Fira Code"/>
              </a:rPr>
              <a:t>  relay:        strfry (self-hosted Nostr relay — real-time events)</a:t>
            </a:r>
          </a:p>
          <a:p>
            <a:pPr>
              <a:spcBef>
                <a:spcPts val="0"/>
              </a:spcBef>
              <a:spcAft>
                <a:spcPts val="0"/>
              </a:spcAft>
            </a:pPr>
            <a:r>
              <a:rPr sz="1200" b="0" i="0">
                <a:solidFill>
                  <a:srgbClr val="5CC4B0"/>
                </a:solidFill>
                <a:latin typeface="Fira Code"/>
              </a:rPr>
              <a:t>  sip-bridge:   Asterisk / FreeSWITCH / Kamailio (SIP routing)</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Optional profiles:</a:t>
            </a:r>
          </a:p>
          <a:p>
            <a:pPr>
              <a:spcBef>
                <a:spcPts val="0"/>
              </a:spcBef>
              <a:spcAft>
                <a:spcPts val="0"/>
              </a:spcAft>
            </a:pPr>
            <a:r>
              <a:rPr sz="1200" b="0" i="0">
                <a:solidFill>
                  <a:srgbClr val="5CC4B0"/>
                </a:solidFill>
                <a:latin typeface="Fira Code"/>
              </a:rPr>
              <a:t>  signal:       signal-notifier sidecar (port 3100)</a:t>
            </a:r>
          </a:p>
          <a:p>
            <a:pPr>
              <a:spcBef>
                <a:spcPts val="0"/>
              </a:spcBef>
              <a:spcAft>
                <a:spcPts val="0"/>
              </a:spcAft>
            </a:pPr>
            <a:r>
              <a:rPr sz="1200" b="0" i="0">
                <a:solidFill>
                  <a:srgbClr val="5CC4B0"/>
                </a:solidFill>
                <a:latin typeface="Fira Code"/>
              </a:rPr>
              <a:t>  telephony:    Kamailio + CoTURN (full self-hosted SIP)</a:t>
            </a:r>
          </a:p>
          <a:p>
            <a:pPr>
              <a:spcBef>
                <a:spcPts val="0"/>
              </a:spcBef>
              <a:spcAft>
                <a:spcPts val="0"/>
              </a:spcAft>
            </a:pPr>
            <a:r>
              <a:rPr sz="1200" b="0" i="0">
                <a:solidFill>
                  <a:srgbClr val="5CC4B0"/>
                </a:solidFill>
                <a:latin typeface="Fira Code"/>
              </a:rPr>
              <a:t>  monitoring:   Prometheus + Grafana</a:t>
            </a:r>
          </a:p>
        </p:txBody>
      </p:sp>
      <p:sp>
        <p:nvSpPr>
          <p:cNvPr id="6" name="TextBox 5"/>
          <p:cNvSpPr txBox="1"/>
          <p:nvPr/>
        </p:nvSpPr>
        <p:spPr>
          <a:xfrm>
            <a:off x="548640" y="3017520"/>
            <a:ext cx="11094415" cy="3200400"/>
          </a:xfrm>
          <a:prstGeom prst="rect">
            <a:avLst/>
          </a:prstGeom>
          <a:noFill/>
        </p:spPr>
        <p:txBody>
          <a:bodyPr wrap="square">
            <a:spAutoFit/>
          </a:bodyPr>
          <a:lstStyle/>
          <a:p>
            <a:r>
              <a:rPr sz="1600" b="1" i="0">
                <a:solidFill>
                  <a:srgbClr val="F0C674"/>
                </a:solidFill>
                <a:latin typeface="IBM Plex Mono"/>
              </a:rPr>
              <a:t>  •  WireGuard tunnels</a:t>
            </a:r>
            <a:r>
              <a:rPr sz="1600" b="0" i="0">
                <a:solidFill>
                  <a:srgbClr val="CCCCCC"/>
                </a:solidFill>
                <a:latin typeface="IBM Plex Mono"/>
              </a:rPr>
              <a:t> for ingress — no exposed public IP</a:t>
            </a:r>
          </a:p>
          <a:p>
            <a:pPr>
              <a:spcBef>
                <a:spcPts val="300"/>
              </a:spcBef>
              <a:spcAft>
                <a:spcPts val="200"/>
              </a:spcAft>
            </a:pPr>
            <a:r>
              <a:rPr sz="1600" b="1" i="0">
                <a:solidFill>
                  <a:srgbClr val="F0C674"/>
                </a:solidFill>
                <a:latin typeface="IBM Plex Mono"/>
              </a:rPr>
              <a:t>  •  1984 Hosting</a:t>
            </a:r>
            <a:r>
              <a:rPr sz="1600" b="0" i="0">
                <a:solidFill>
                  <a:srgbClr val="CCCCCC"/>
                </a:solidFill>
                <a:latin typeface="IBM Plex Mono"/>
              </a:rPr>
              <a:t> (Iceland) — outside US CLOUD Act jurisdiction, custom FDE ISO, GDPR-compliant</a:t>
            </a:r>
          </a:p>
          <a:p>
            <a:pPr>
              <a:spcBef>
                <a:spcPts val="300"/>
              </a:spcBef>
              <a:spcAft>
                <a:spcPts val="200"/>
              </a:spcAft>
            </a:pPr>
            <a:r>
              <a:rPr sz="1600" b="1" i="0">
                <a:solidFill>
                  <a:srgbClr val="F0C674"/>
                </a:solidFill>
                <a:latin typeface="IBM Plex Mono"/>
              </a:rPr>
              <a:t>  •  Kubernetes</a:t>
            </a:r>
            <a:r>
              <a:rPr sz="1600" b="0" i="0">
                <a:solidFill>
                  <a:srgbClr val="CCCCCC"/>
                </a:solidFill>
                <a:latin typeface="IBM Plex Mono"/>
              </a:rPr>
              <a:t> option: Helm chart with health probes and network policies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Template-Driven — Nothing Is Hardcoded</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Nothing in the app is hardcoded to any specific use case.</a:t>
            </a:r>
          </a:p>
        </p:txBody>
      </p:sp>
      <p:sp>
        <p:nvSpPr>
          <p:cNvPr id="5" name="Rounded Rectangle 4"/>
          <p:cNvSpPr/>
          <p:nvPr/>
        </p:nvSpPr>
        <p:spPr>
          <a:xfrm>
            <a:off x="548640" y="1005840"/>
            <a:ext cx="11094415" cy="2441448"/>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2258568"/>
          </a:xfrm>
          <a:prstGeom prst="rect">
            <a:avLst/>
          </a:prstGeom>
          <a:noFill/>
        </p:spPr>
        <p:txBody>
          <a:bodyPr wrap="square">
            <a:spAutoFit/>
          </a:bodyPr>
          <a:lstStyle/>
          <a:p>
            <a:pPr>
              <a:spcBef>
                <a:spcPts val="0"/>
              </a:spcBef>
              <a:spcAft>
                <a:spcPts val="0"/>
              </a:spcAft>
            </a:pPr>
            <a:r>
              <a:rPr sz="1200" b="0" i="0">
                <a:solidFill>
                  <a:srgbClr val="5CC4B0"/>
                </a:solidFill>
                <a:latin typeface="Fira Code"/>
              </a:rPr>
              <a:t>// Everything comes from a template:</a:t>
            </a:r>
          </a:p>
          <a:p>
            <a:pPr>
              <a:spcBef>
                <a:spcPts val="0"/>
              </a:spcBef>
              <a:spcAft>
                <a:spcPts val="0"/>
              </a:spcAft>
            </a:pPr>
            <a:r>
              <a:rPr sz="1200" b="0" i="0">
                <a:solidFill>
                  <a:srgbClr val="5CC4B0"/>
                </a:solidFill>
                <a:latin typeface="Fira Code"/>
              </a:rPr>
              <a:t>{</a:t>
            </a:r>
          </a:p>
          <a:p>
            <a:pPr>
              <a:spcBef>
                <a:spcPts val="0"/>
              </a:spcBef>
              <a:spcAft>
                <a:spcPts val="0"/>
              </a:spcAft>
            </a:pPr>
            <a:r>
              <a:rPr sz="1200" b="0" i="0">
                <a:solidFill>
                  <a:srgbClr val="5CC4B0"/>
                </a:solidFill>
                <a:latin typeface="Fira Code"/>
              </a:rPr>
              <a:t>  "entityTypes": ["person", "incident", "location", "vehicle"],</a:t>
            </a:r>
          </a:p>
          <a:p>
            <a:pPr>
              <a:spcBef>
                <a:spcPts val="0"/>
              </a:spcBef>
              <a:spcAft>
                <a:spcPts val="0"/>
              </a:spcAft>
            </a:pPr>
            <a:r>
              <a:rPr sz="1200" b="0" i="0">
                <a:solidFill>
                  <a:srgbClr val="5CC4B0"/>
                </a:solidFill>
                <a:latin typeface="Fira Code"/>
              </a:rPr>
              <a:t>  "reportTypes": [</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"name": "arrest_report",</a:t>
            </a:r>
          </a:p>
          <a:p>
            <a:pPr>
              <a:spcBef>
                <a:spcPts val="0"/>
              </a:spcBef>
              <a:spcAft>
                <a:spcPts val="0"/>
              </a:spcAft>
            </a:pPr>
            <a:r>
              <a:rPr sz="1200" b="0" i="0">
                <a:solidFill>
                  <a:srgbClr val="5CC4B0"/>
                </a:solidFill>
                <a:latin typeface="Fira Code"/>
              </a:rPr>
              <a:t>      "fields": ["name", "charges", "badge_number", "location"],</a:t>
            </a:r>
          </a:p>
          <a:p>
            <a:pPr>
              <a:spcBef>
                <a:spcPts val="0"/>
              </a:spcBef>
              <a:spcAft>
                <a:spcPts val="0"/>
              </a:spcAft>
            </a:pPr>
            <a:r>
              <a:rPr sz="1200" b="0" i="0">
                <a:solidFill>
                  <a:srgbClr val="5CC4B0"/>
                </a:solidFill>
                <a:latin typeface="Fira Code"/>
              </a:rPr>
              <a:t>      "mobileOptimized": true</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a:t>
            </a:r>
          </a:p>
          <a:p>
            <a:pPr>
              <a:spcBef>
                <a:spcPts val="0"/>
              </a:spcBef>
              <a:spcAft>
                <a:spcPts val="0"/>
              </a:spcAft>
            </a:pPr>
            <a:r>
              <a:rPr sz="1200" b="0" i="0">
                <a:solidFill>
                  <a:srgbClr val="5CC4B0"/>
                </a:solidFill>
                <a:latin typeface="Fira Code"/>
              </a:rPr>
              <a:t>  "roles": ["volunteer", "observer", "dispatcher"],</a:t>
            </a:r>
          </a:p>
          <a:p>
            <a:pPr>
              <a:spcBef>
                <a:spcPts val="0"/>
              </a:spcBef>
              <a:spcAft>
                <a:spcPts val="0"/>
              </a:spcAft>
            </a:pPr>
            <a:r>
              <a:rPr sz="1200" b="0" i="0">
                <a:solidFill>
                  <a:srgbClr val="5CC4B0"/>
                </a:solidFill>
                <a:latin typeface="Fira Code"/>
              </a:rPr>
              <a:t>  "customFields": [...]</a:t>
            </a:r>
          </a:p>
          <a:p>
            <a:pPr>
              <a:spcBef>
                <a:spcPts val="0"/>
              </a:spcBef>
              <a:spcAft>
                <a:spcPts val="0"/>
              </a:spcAft>
            </a:pPr>
            <a:r>
              <a:rPr sz="1200" b="0" i="0">
                <a:solidFill>
                  <a:srgbClr val="5CC4B0"/>
                </a:solidFill>
                <a:latin typeface="Fira Code"/>
              </a:rPr>
              <a:t>}</a:t>
            </a:r>
          </a:p>
        </p:txBody>
      </p:sp>
      <p:sp>
        <p:nvSpPr>
          <p:cNvPr id="7" name="TextBox 6"/>
          <p:cNvSpPr txBox="1"/>
          <p:nvPr/>
        </p:nvSpPr>
        <p:spPr>
          <a:xfrm>
            <a:off x="548640" y="3538728"/>
            <a:ext cx="11094415" cy="2679192"/>
          </a:xfrm>
          <a:prstGeom prst="rect">
            <a:avLst/>
          </a:prstGeom>
          <a:noFill/>
        </p:spPr>
        <p:txBody>
          <a:bodyPr wrap="square">
            <a:spAutoFit/>
          </a:bodyPr>
          <a:lstStyle/>
          <a:p>
            <a:pPr algn="ctr"/>
            <a:r>
              <a:rPr sz="1600" b="0" i="1">
                <a:solidFill>
                  <a:srgbClr val="5CC4B0"/>
                </a:solidFill>
                <a:latin typeface="Source Code Pro"/>
              </a:rPr>
              <a:t>Legal observer network, jail support, domestic violence line, immigration legal — same codebase, different template.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Multi-Hub: One Install, Many Lines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Your org might run more than one line:</a:t>
            </a:r>
          </a:p>
        </p:txBody>
      </p:sp>
      <p:sp>
        <p:nvSpPr>
          <p:cNvPr id="5" name="Rounded Rectangle 4"/>
          <p:cNvSpPr/>
          <p:nvPr/>
        </p:nvSpPr>
        <p:spPr>
          <a:xfrm>
            <a:off x="548640" y="1005840"/>
            <a:ext cx="11094415" cy="1399032"/>
          </a:xfrm>
          <a:prstGeom prst="roundRect">
            <a:avLst>
              <a:gd name="adj" fmla="val 2000"/>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97280"/>
            <a:ext cx="10820095" cy="1216152"/>
          </a:xfrm>
          <a:prstGeom prst="rect">
            <a:avLst/>
          </a:prstGeom>
          <a:noFill/>
        </p:spPr>
        <p:txBody>
          <a:bodyPr wrap="square">
            <a:spAutoFit/>
          </a:bodyPr>
          <a:lstStyle/>
          <a:p>
            <a:pPr>
              <a:spcBef>
                <a:spcPts val="0"/>
              </a:spcBef>
              <a:spcAft>
                <a:spcPts val="0"/>
              </a:spcAft>
            </a:pPr>
            <a:r>
              <a:rPr sz="1200" b="0" i="0">
                <a:solidFill>
                  <a:srgbClr val="5CC4B0"/>
                </a:solidFill>
                <a:latin typeface="Fira Code"/>
              </a:rPr>
              <a:t>Hub A: Jail support line (overnight after mass arrests)</a:t>
            </a:r>
          </a:p>
          <a:p>
            <a:pPr>
              <a:spcBef>
                <a:spcPts val="0"/>
              </a:spcBef>
              <a:spcAft>
                <a:spcPts val="0"/>
              </a:spcAft>
            </a:pPr>
            <a:r>
              <a:rPr sz="1200" b="0" i="0">
                <a:solidFill>
                  <a:srgbClr val="5CC4B0"/>
                </a:solidFill>
                <a:latin typeface="Fira Code"/>
              </a:rPr>
              <a:t>Hub B: Rapid response line (daytime, protest hours)  </a:t>
            </a:r>
          </a:p>
          <a:p>
            <a:pPr>
              <a:spcBef>
                <a:spcPts val="0"/>
              </a:spcBef>
              <a:spcAft>
                <a:spcPts val="0"/>
              </a:spcAft>
            </a:pPr>
            <a:r>
              <a:rPr sz="1200" b="0" i="0">
                <a:solidFill>
                  <a:srgbClr val="5CC4B0"/>
                </a:solidFill>
                <a:latin typeface="Fira Code"/>
              </a:rPr>
              <a:t>Hub C: Community safety line (ongoing)</a:t>
            </a:r>
          </a:p>
          <a:p>
            <a:pPr>
              <a:spcBef>
                <a:spcPts val="0"/>
              </a:spcBef>
              <a:spcAft>
                <a:spcPts val="0"/>
              </a:spcAft>
            </a:pPr>
          </a:p>
          <a:p>
            <a:pPr>
              <a:spcBef>
                <a:spcPts val="0"/>
              </a:spcBef>
              <a:spcAft>
                <a:spcPts val="0"/>
              </a:spcAft>
            </a:pPr>
            <a:r>
              <a:rPr sz="1200" b="0" i="0">
                <a:solidFill>
                  <a:srgbClr val="5CC4B0"/>
                </a:solidFill>
                <a:latin typeface="Fira Code"/>
              </a:rPr>
              <a:t>One volunteer can be in all three hubs.</a:t>
            </a:r>
          </a:p>
          <a:p>
            <a:pPr>
              <a:spcBef>
                <a:spcPts val="0"/>
              </a:spcBef>
              <a:spcAft>
                <a:spcPts val="0"/>
              </a:spcAft>
            </a:pPr>
            <a:r>
              <a:rPr sz="1200" b="0" i="0">
                <a:solidFill>
                  <a:srgbClr val="5CC4B0"/>
                </a:solidFill>
                <a:latin typeface="Fira Code"/>
              </a:rPr>
              <a:t>All hubs active simultaneously — incoming calls from any hub ring them.</a:t>
            </a:r>
          </a:p>
          <a:p>
            <a:pPr>
              <a:spcBef>
                <a:spcPts val="0"/>
              </a:spcBef>
              <a:spcAft>
                <a:spcPts val="0"/>
              </a:spcAft>
            </a:pPr>
            <a:r>
              <a:rPr sz="1200" b="0" i="0">
                <a:solidFill>
                  <a:srgbClr val="5CC4B0"/>
                </a:solidFill>
                <a:latin typeface="Fira Code"/>
              </a:rPr>
              <a:t>Active hub in the UI doesn't affect which calls they receive.</a:t>
            </a:r>
          </a:p>
        </p:txBody>
      </p:sp>
      <p:sp>
        <p:nvSpPr>
          <p:cNvPr id="7" name="TextBox 6"/>
          <p:cNvSpPr txBox="1"/>
          <p:nvPr/>
        </p:nvSpPr>
        <p:spPr>
          <a:xfrm>
            <a:off x="548640" y="2496312"/>
            <a:ext cx="11094415" cy="3721608"/>
          </a:xfrm>
          <a:prstGeom prst="rect">
            <a:avLst/>
          </a:prstGeom>
          <a:noFill/>
        </p:spPr>
        <p:txBody>
          <a:bodyPr wrap="square">
            <a:spAutoFit/>
          </a:bodyPr>
          <a:lstStyle/>
          <a:p>
            <a:r>
              <a:rPr sz="1600" b="0" i="0">
                <a:solidFill>
                  <a:srgbClr val="CCCCCC"/>
                </a:solidFill>
                <a:latin typeface="IBM Plex Mono"/>
              </a:rPr>
              <a:t>  •  Each hub has its own encrypted key space, volunteers, shifts, and case records</a:t>
            </a:r>
          </a:p>
          <a:p>
            <a:pPr>
              <a:spcBef>
                <a:spcPts val="300"/>
              </a:spcBef>
              <a:spcAft>
                <a:spcPts val="200"/>
              </a:spcAft>
            </a:pPr>
            <a:r>
              <a:rPr sz="1600" b="0" i="0">
                <a:solidFill>
                  <a:srgbClr val="CCCCCC"/>
                </a:solidFill>
                <a:latin typeface="IBM Plex Mono"/>
              </a:rPr>
              <a:t>  •  Hub key rotates on member departure — departed member can't read new hub events</a:t>
            </a:r>
          </a:p>
          <a:p>
            <a:pPr>
              <a:spcBef>
                <a:spcPts val="300"/>
              </a:spcBef>
              <a:spcAft>
                <a:spcPts val="200"/>
              </a:spcAft>
            </a:pPr>
            <a:r>
              <a:rPr sz="1600" b="0" i="0">
                <a:solidFill>
                  <a:srgbClr val="CCCCCC"/>
                </a:solidFill>
                <a:latin typeface="IBM Plex Mono"/>
              </a:rPr>
              <a:t>  •  Multi-org: different orgs can run separate hubs on the same install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spAutoFit/>
          </a:bodyPr>
          <a:lstStyle/>
          <a:p>
            <a:pPr algn="ctr"/>
            <a:r>
              <a:rPr sz="1600" b="1" i="0">
                <a:solidFill>
                  <a:srgbClr val="E84D4D"/>
                </a:solidFill>
                <a:latin typeface="Fira Code"/>
              </a:rPr>
              <a:t>PART 8</a:t>
            </a:r>
          </a:p>
        </p:txBody>
      </p:sp>
      <p:sp>
        <p:nvSpPr>
          <p:cNvPr id="3" name="TextBox 2"/>
          <p:cNvSpPr txBox="1"/>
          <p:nvPr/>
        </p:nvSpPr>
        <p:spPr>
          <a:xfrm>
            <a:off x="548640" y="2560320"/>
            <a:ext cx="11094415" cy="1097280"/>
          </a:xfrm>
          <a:prstGeom prst="rect">
            <a:avLst/>
          </a:prstGeom>
          <a:noFill/>
        </p:spPr>
        <p:txBody>
          <a:bodyPr wrap="square">
            <a:spAutoFit/>
          </a:bodyPr>
          <a:lstStyle/>
          <a:p>
            <a:pPr algn="ctr"/>
            <a:r>
              <a:rPr sz="4000" b="1" i="0">
                <a:solidFill>
                  <a:srgbClr val="F0F0F0"/>
                </a:solidFill>
                <a:latin typeface="JetBrains Mono"/>
              </a:rPr>
              <a:t>What We Still Can't Protect</a:t>
            </a:r>
          </a:p>
        </p:txBody>
      </p:sp>
      <p:sp>
        <p:nvSpPr>
          <p:cNvPr id="4" name="Rectangle 3"/>
          <p:cNvSpPr/>
          <p:nvPr/>
        </p:nvSpPr>
        <p:spPr>
          <a:xfrm>
            <a:off x="4572000" y="3749039"/>
            <a:ext cx="301752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The Honest Threat Model Boundary</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800" b="1" i="0">
                <a:solidFill>
                  <a:srgbClr val="E84D4D"/>
                </a:solidFill>
                <a:latin typeface="JetBrains Mono"/>
              </a:rPr>
              <a:t>We protect against</a:t>
            </a:r>
          </a:p>
          <a:p>
            <a:pPr>
              <a:spcBef>
                <a:spcPts val="300"/>
              </a:spcBef>
              <a:spcAft>
                <a:spcPts val="200"/>
              </a:spcAft>
            </a:pPr>
            <a:r>
              <a:rPr sz="1600" b="0" i="0">
                <a:solidFill>
                  <a:srgbClr val="CCCCCC"/>
                </a:solidFill>
                <a:latin typeface="IBM Plex Mono"/>
              </a:rPr>
              <a:t>  •  Administrative subpoenas to cloud providers (notes unreadable)</a:t>
            </a:r>
          </a:p>
          <a:p>
            <a:pPr>
              <a:spcBef>
                <a:spcPts val="300"/>
              </a:spcBef>
              <a:spcAft>
                <a:spcPts val="200"/>
              </a:spcAft>
            </a:pPr>
            <a:r>
              <a:rPr sz="1600" b="0" i="0">
                <a:solidFill>
                  <a:srgbClr val="CCCCCC"/>
                </a:solidFill>
                <a:latin typeface="IBM Plex Mono"/>
              </a:rPr>
              <a:t>  •  CDR analysis (with CDR-free SIP trunk)</a:t>
            </a:r>
          </a:p>
          <a:p>
            <a:pPr>
              <a:spcBef>
                <a:spcPts val="300"/>
              </a:spcBef>
              <a:spcAft>
                <a:spcPts val="200"/>
              </a:spcAft>
            </a:pPr>
            <a:r>
              <a:rPr sz="1600" b="0" i="0">
                <a:solidFill>
                  <a:srgbClr val="CCCCCC"/>
                </a:solidFill>
                <a:latin typeface="IBM Plex Mono"/>
              </a:rPr>
              <a:t>  •  Note content exposure (E2EE, forward secrecy)</a:t>
            </a:r>
          </a:p>
          <a:p>
            <a:pPr>
              <a:spcBef>
                <a:spcPts val="300"/>
              </a:spcBef>
              <a:spcAft>
                <a:spcPts val="200"/>
              </a:spcAft>
            </a:pPr>
            <a:r>
              <a:rPr sz="1600" b="0" i="0">
                <a:solidFill>
                  <a:srgbClr val="CCCCCC"/>
                </a:solidFill>
                <a:latin typeface="IBM Plex Mono"/>
              </a:rPr>
              <a:t>  •  Message content exposure (E2EE)</a:t>
            </a:r>
          </a:p>
          <a:p>
            <a:pPr>
              <a:spcBef>
                <a:spcPts val="300"/>
              </a:spcBef>
              <a:spcAft>
                <a:spcPts val="200"/>
              </a:spcAft>
            </a:pPr>
            <a:r>
              <a:rPr sz="1600" b="0" i="0">
                <a:solidFill>
                  <a:srgbClr val="CCCCCC"/>
                </a:solidFill>
                <a:latin typeface="IBM Plex Mono"/>
              </a:rPr>
              <a:t>  •  Caller identity via phone records (HMAC hashing)</a:t>
            </a:r>
          </a:p>
          <a:p>
            <a:pPr>
              <a:spcBef>
                <a:spcPts val="300"/>
              </a:spcBef>
              <a:spcAft>
                <a:spcPts val="200"/>
              </a:spcAft>
            </a:pPr>
            <a:r>
              <a:rPr sz="1600" b="0" i="0">
                <a:solidFill>
                  <a:srgbClr val="CCCCCC"/>
                </a:solidFill>
                <a:latin typeface="IBM Plex Mono"/>
              </a:rPr>
              <a:t>  •  Sequential ring volunteer identification</a:t>
            </a:r>
          </a:p>
          <a:p>
            <a:pPr>
              <a:spcBef>
                <a:spcPts val="300"/>
              </a:spcBef>
              <a:spcAft>
                <a:spcPts val="200"/>
              </a:spcAft>
            </a:pPr>
            <a:r>
              <a:rPr sz="1600" b="0" i="0">
                <a:solidFill>
                  <a:srgbClr val="CCCCCC"/>
                </a:solidFill>
                <a:latin typeface="IBM Plex Mono"/>
              </a:rPr>
              <a:t>  •  Device seizure note exposure (PIN-protected keys)</a:t>
            </a:r>
          </a:p>
          <a:p>
            <a:pPr>
              <a:spcBef>
                <a:spcPts val="800"/>
              </a:spcBef>
              <a:spcAft>
                <a:spcPts val="200"/>
              </a:spcAft>
            </a:pPr>
            <a:r>
              <a:rPr sz="1800" b="1" i="0">
                <a:solidFill>
                  <a:srgbClr val="E84D4D"/>
                </a:solidFill>
                <a:latin typeface="JetBrains Mono"/>
              </a:rPr>
              <a:t>We don't protect against</a:t>
            </a:r>
          </a:p>
          <a:p>
            <a:pPr>
              <a:spcBef>
                <a:spcPts val="300"/>
              </a:spcBef>
              <a:spcAft>
                <a:spcPts val="200"/>
              </a:spcAft>
            </a:pPr>
            <a:r>
              <a:rPr sz="1600" b="1" i="0">
                <a:solidFill>
                  <a:srgbClr val="F0C674"/>
                </a:solidFill>
                <a:latin typeface="IBM Plex Mono"/>
              </a:rPr>
              <a:t>  •  Traffic analysis</a:t>
            </a:r>
            <a:r>
              <a:rPr sz="1600" b="0" i="0">
                <a:solidFill>
                  <a:srgbClr val="CCCCCC"/>
                </a:solidFill>
                <a:latin typeface="IBM Plex Mono"/>
              </a:rPr>
              <a:t>: Sophisticated adversary can see call timing patterns</a:t>
            </a:r>
          </a:p>
          <a:p>
            <a:pPr>
              <a:spcBef>
                <a:spcPts val="300"/>
              </a:spcBef>
              <a:spcAft>
                <a:spcPts val="200"/>
              </a:spcAft>
            </a:pPr>
            <a:r>
              <a:rPr sz="1600" b="1" i="0">
                <a:solidFill>
                  <a:srgbClr val="F0C674"/>
                </a:solidFill>
                <a:latin typeface="IBM Plex Mono"/>
              </a:rPr>
              <a:t>  •  Device seizure with PIN</a:t>
            </a:r>
            <a:r>
              <a:rPr sz="1600" b="0" i="0">
                <a:solidFill>
                  <a:srgbClr val="CCCCCC"/>
                </a:solidFill>
                <a:latin typeface="IBM Plex Mono"/>
              </a:rPr>
              <a:t>: Seized + unlocked = notes accessible</a:t>
            </a:r>
          </a:p>
          <a:p>
            <a:pPr>
              <a:spcBef>
                <a:spcPts val="300"/>
              </a:spcBef>
              <a:spcAft>
                <a:spcPts val="200"/>
              </a:spcAft>
            </a:pPr>
            <a:r>
              <a:rPr sz="1600" b="1" i="0">
                <a:solidFill>
                  <a:srgbClr val="F0C674"/>
                </a:solidFill>
                <a:latin typeface="IBM Plex Mono"/>
              </a:rPr>
              <a:t>  •  Admin coercion</a:t>
            </a:r>
            <a:r>
              <a:rPr sz="1600" b="0" i="0">
                <a:solidFill>
                  <a:srgbClr val="CCCCCC"/>
                </a:solidFill>
                <a:latin typeface="IBM Plex Mono"/>
              </a:rPr>
              <a:t>: A coerced admin can decrypt all notes</a:t>
            </a:r>
          </a:p>
          <a:p>
            <a:pPr>
              <a:spcBef>
                <a:spcPts val="300"/>
              </a:spcBef>
              <a:spcAft>
                <a:spcPts val="200"/>
              </a:spcAft>
            </a:pPr>
            <a:r>
              <a:rPr sz="1600" b="1" i="0">
                <a:solidFill>
                  <a:srgbClr val="F0C674"/>
                </a:solidFill>
                <a:latin typeface="IBM Plex Mono"/>
              </a:rPr>
              <a:t>  •  Hosting provider coercion</a:t>
            </a:r>
            <a:r>
              <a:rPr sz="1600" b="0" i="0">
                <a:solidFill>
                  <a:srgbClr val="CCCCCC"/>
                </a:solidFill>
                <a:latin typeface="IBM Plex Mono"/>
              </a:rPr>
              <a:t>: FDE + Iceland jurisdiction, but physical seizure is always a risk</a:t>
            </a:r>
          </a:p>
          <a:p>
            <a:pPr>
              <a:spcBef>
                <a:spcPts val="300"/>
              </a:spcBef>
              <a:spcAft>
                <a:spcPts val="200"/>
              </a:spcAft>
            </a:pPr>
            <a:r>
              <a:rPr sz="1600" b="1" i="0">
                <a:solidFill>
                  <a:srgbClr val="F0C674"/>
                </a:solidFill>
                <a:latin typeface="IBM Plex Mono"/>
              </a:rPr>
              <a:t>  •  Operational security failures</a:t>
            </a:r>
            <a:r>
              <a:rPr sz="1600" b="0" i="0">
                <a:solidFill>
                  <a:srgbClr val="CCCCCC"/>
                </a:solidFill>
                <a:latin typeface="IBM Plex Mono"/>
              </a:rPr>
              <a:t>: Bad passwords, phishing, shoulder surfing</a:t>
            </a:r>
          </a:p>
          <a:p>
            <a:pPr>
              <a:spcBef>
                <a:spcPts val="300"/>
              </a:spcBef>
              <a:spcAft>
                <a:spcPts val="200"/>
              </a:spcAft>
            </a:pPr>
            <a:r>
              <a:rPr sz="1600" b="1" i="0">
                <a:solidFill>
                  <a:srgbClr val="F0C674"/>
                </a:solidFill>
                <a:latin typeface="IBM Plex Mono"/>
              </a:rPr>
              <a:t>  •  SMS/WhatsApp in transit</a:t>
            </a:r>
            <a:r>
              <a:rPr sz="1600" b="0" i="0">
                <a:solidFill>
                  <a:srgbClr val="CCCCCC"/>
                </a:solidFill>
                <a:latin typeface="IBM Plex Mono"/>
              </a:rPr>
              <a:t>: Provider sees plaintext during delivery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600" b="1" i="0">
                <a:solidFill>
                  <a:srgbClr val="F0F0F0"/>
                </a:solidFill>
                <a:latin typeface="JetBrains Mono"/>
              </a:rPr>
              <a:t>Know Your Threat Model Before You Deploy</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1">
                <a:solidFill>
                  <a:srgbClr val="CCCCCC"/>
                </a:solidFill>
                <a:latin typeface="Source Code Pro"/>
              </a:rPr>
              <a:t>Llámenos is designed to withstand the full adversary spectrum: from law enforcement administrative subpoenas and OSINT-level adversaries, through FBI national security letters, to nation-state actors with physical access to infrastructure. FDE hosting outside CLOUD Act jurisdiction, E2EE with per-device keys, and self-hosted SIP are the default — not optional hardening.</a:t>
            </a:r>
          </a:p>
          <a:p>
            <a:pPr>
              <a:spcBef>
                <a:spcPts val="600"/>
              </a:spcBef>
              <a:spcAft>
                <a:spcPts val="200"/>
              </a:spcAft>
            </a:pPr>
            <a:r>
              <a:rPr sz="1400" b="1" i="0">
                <a:solidFill>
                  <a:srgbClr val="F0F0F0"/>
                </a:solidFill>
                <a:latin typeface="IBM Plex Mono"/>
              </a:rPr>
              <a:t>Before deploying, answer:</a:t>
            </a:r>
          </a:p>
          <a:p>
            <a:pPr>
              <a:spcBef>
                <a:spcPts val="300"/>
              </a:spcBef>
              <a:spcAft>
                <a:spcPts val="200"/>
              </a:spcAft>
            </a:pPr>
            <a:r>
              <a:rPr sz="1600" b="0" i="0">
                <a:solidFill>
                  <a:srgbClr val="CCCCCC"/>
                </a:solidFill>
                <a:latin typeface="IBM Plex Mono"/>
              </a:rPr>
              <a:t>  •  Who is your adversary? Be specific.</a:t>
            </a:r>
          </a:p>
          <a:p>
            <a:pPr>
              <a:spcBef>
                <a:spcPts val="300"/>
              </a:spcBef>
              <a:spcAft>
                <a:spcPts val="200"/>
              </a:spcAft>
            </a:pPr>
            <a:r>
              <a:rPr sz="1600" b="0" i="0">
                <a:solidFill>
                  <a:srgbClr val="CCCCCC"/>
                </a:solidFill>
                <a:latin typeface="IBM Plex Mono"/>
              </a:rPr>
              <a:t>  •  What can they do without a warrant in your jurisdiction?</a:t>
            </a:r>
          </a:p>
          <a:p>
            <a:pPr>
              <a:spcBef>
                <a:spcPts val="300"/>
              </a:spcBef>
              <a:spcAft>
                <a:spcPts val="200"/>
              </a:spcAft>
            </a:pPr>
            <a:r>
              <a:rPr sz="1600" b="0" i="0">
                <a:solidFill>
                  <a:srgbClr val="CCCCCC"/>
                </a:solidFill>
                <a:latin typeface="IBM Plex Mono"/>
              </a:rPr>
              <a:t>  •  What can they do WITH a warrant?</a:t>
            </a:r>
          </a:p>
          <a:p>
            <a:pPr>
              <a:spcBef>
                <a:spcPts val="300"/>
              </a:spcBef>
              <a:spcAft>
                <a:spcPts val="200"/>
              </a:spcAft>
            </a:pPr>
            <a:r>
              <a:rPr sz="1600" b="0" i="0">
                <a:solidFill>
                  <a:srgbClr val="CCCCCC"/>
                </a:solidFill>
                <a:latin typeface="IBM Plex Mono"/>
              </a:rPr>
              <a:t>  •  Who are your admins and what's their physical security posture?</a:t>
            </a:r>
          </a:p>
          <a:p>
            <a:pPr>
              <a:spcBef>
                <a:spcPts val="300"/>
              </a:spcBef>
              <a:spcAft>
                <a:spcPts val="200"/>
              </a:spcAft>
            </a:pPr>
            <a:r>
              <a:rPr sz="1600" b="0" i="0">
                <a:solidFill>
                  <a:srgbClr val="CCCCCC"/>
                </a:solidFill>
                <a:latin typeface="IBM Plex Mono"/>
              </a:rPr>
              <a:t>  •  What happens if your server is seized?</a:t>
            </a:r>
          </a:p>
          <a:p>
            <a:pPr>
              <a:spcBef>
                <a:spcPts val="300"/>
              </a:spcBef>
              <a:spcAft>
                <a:spcPts val="200"/>
              </a:spcAft>
            </a:pPr>
            <a:r>
              <a:rPr sz="1600" b="0" i="0">
                <a:solidFill>
                  <a:srgbClr val="CCCCCC"/>
                </a:solidFill>
                <a:latin typeface="IBM Plex Mono"/>
              </a:rPr>
              <a:t>  •  What happens if a volunteer is an informant?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Get Involved</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1" i="0">
                <a:solidFill>
                  <a:srgbClr val="F0C674"/>
                </a:solidFill>
                <a:latin typeface="IBM Plex Mono"/>
              </a:rPr>
              <a:t>  •  Code</a:t>
            </a:r>
            <a:r>
              <a:rPr sz="1600" b="0" i="0">
                <a:solidFill>
                  <a:srgbClr val="CCCCCC"/>
                </a:solidFill>
                <a:latin typeface="IBM Plex Mono"/>
              </a:rPr>
              <a:t>: `github.com/rhonda-rodododo/llamenos-platform` (AGPL-3.0)</a:t>
            </a:r>
          </a:p>
          <a:p>
            <a:pPr>
              <a:spcBef>
                <a:spcPts val="300"/>
              </a:spcBef>
              <a:spcAft>
                <a:spcPts val="200"/>
              </a:spcAft>
            </a:pPr>
            <a:r>
              <a:rPr sz="1600" b="1" i="0">
                <a:solidFill>
                  <a:srgbClr val="F0C674"/>
                </a:solidFill>
                <a:latin typeface="IBM Plex Mono"/>
              </a:rPr>
              <a:t>  •  Self-hosting docs</a:t>
            </a:r>
            <a:r>
              <a:rPr sz="1600" b="0" i="0">
                <a:solidFill>
                  <a:srgbClr val="CCCCCC"/>
                </a:solidFill>
                <a:latin typeface="IBM Plex Mono"/>
              </a:rPr>
              <a:t>: `llamenos-hotline.com/docs`</a:t>
            </a:r>
          </a:p>
          <a:p>
            <a:pPr>
              <a:spcBef>
                <a:spcPts val="300"/>
              </a:spcBef>
              <a:spcAft>
                <a:spcPts val="200"/>
              </a:spcAft>
            </a:pPr>
            <a:r>
              <a:rPr sz="1600" b="1" i="0">
                <a:solidFill>
                  <a:srgbClr val="F0C674"/>
                </a:solidFill>
                <a:latin typeface="IBM Plex Mono"/>
              </a:rPr>
              <a:t>  •  This deck</a:t>
            </a:r>
            <a:r>
              <a:rPr sz="1600" b="0" i="0">
                <a:solidFill>
                  <a:srgbClr val="CCCCCC"/>
                </a:solidFill>
                <a:latin typeface="IBM Plex Mono"/>
              </a:rPr>
              <a:t>: `llamenos-hotline.com/slides/counterspy-2026/`</a:t>
            </a:r>
          </a:p>
          <a:p>
            <a:pPr>
              <a:spcBef>
                <a:spcPts val="300"/>
              </a:spcBef>
              <a:spcAft>
                <a:spcPts val="200"/>
              </a:spcAft>
            </a:pPr>
            <a:r>
              <a:rPr sz="1600" b="1" i="0">
                <a:solidFill>
                  <a:srgbClr val="F0C674"/>
                </a:solidFill>
                <a:latin typeface="IBM Plex Mono"/>
              </a:rPr>
              <a:t>  •  Signal</a:t>
            </a:r>
            <a:r>
              <a:rPr sz="1600" b="0" i="0">
                <a:solidFill>
                  <a:srgbClr val="CCCCCC"/>
                </a:solidFill>
                <a:latin typeface="IBM Plex Mono"/>
              </a:rPr>
              <a:t>: Ask me after the talk</a:t>
            </a:r>
          </a:p>
          <a:p>
            <a:pPr algn="ctr">
              <a:spcBef>
                <a:spcPts val="800"/>
              </a:spcBef>
              <a:spcAft>
                <a:spcPts val="200"/>
              </a:spcAft>
            </a:pPr>
            <a:r>
              <a:rPr sz="1600" b="0" i="1">
                <a:solidFill>
                  <a:srgbClr val="5CC4B0"/>
                </a:solidFill>
                <a:latin typeface="Source Code Pro"/>
              </a:rPr>
              <a:t>We especially need:</a:t>
            </a:r>
          </a:p>
          <a:p>
            <a:pPr>
              <a:spcBef>
                <a:spcPts val="300"/>
              </a:spcBef>
              <a:spcAft>
                <a:spcPts val="200"/>
              </a:spcAft>
            </a:pPr>
            <a:r>
              <a:rPr sz="1600" b="0" i="0">
                <a:solidFill>
                  <a:srgbClr val="CCCCCC"/>
                </a:solidFill>
                <a:latin typeface="IBM Plex Mono"/>
              </a:rPr>
              <a:t>  •  *Organizations willing to run beta deployments — real ops, real feedback*</a:t>
            </a:r>
          </a:p>
          <a:p>
            <a:pPr>
              <a:spcBef>
                <a:spcPts val="300"/>
              </a:spcBef>
              <a:spcAft>
                <a:spcPts val="200"/>
              </a:spcAft>
            </a:pPr>
            <a:r>
              <a:rPr sz="1600" b="0" i="0">
                <a:solidFill>
                  <a:srgbClr val="CCCCCC"/>
                </a:solidFill>
                <a:latin typeface="IBM Plex Mono"/>
              </a:rPr>
              <a:t>  •  *Cryptographers to audit the HPKE implementation*</a:t>
            </a:r>
          </a:p>
          <a:p>
            <a:pPr>
              <a:spcBef>
                <a:spcPts val="300"/>
              </a:spcBef>
              <a:spcAft>
                <a:spcPts val="200"/>
              </a:spcAft>
            </a:pPr>
            <a:r>
              <a:rPr sz="1600" b="0" i="0">
                <a:solidFill>
                  <a:srgbClr val="CCCCCC"/>
                </a:solidFill>
                <a:latin typeface="IBM Plex Mono"/>
              </a:rPr>
              <a:t>  •  *People who have survived subpoenas and can stress-test our threat model assumptions*</a:t>
            </a:r>
          </a:p>
          <a:p>
            <a:pPr>
              <a:spcBef>
                <a:spcPts val="300"/>
              </a:spcBef>
              <a:spcAft>
                <a:spcPts val="200"/>
              </a:spcAft>
            </a:pPr>
            <a:r>
              <a:rPr sz="1600" b="0" i="0">
                <a:solidFill>
                  <a:srgbClr val="CCCCCC"/>
                </a:solidFill>
                <a:latin typeface="IBM Plex Mono"/>
              </a:rPr>
              <a:t>  •  *EU-based orgs for GDPR validation*</a:t>
            </a:r>
          </a:p>
          <a:p>
            <a:pPr algn="ctr">
              <a:spcBef>
                <a:spcPts val="800"/>
              </a:spcBef>
              <a:spcAft>
                <a:spcPts val="200"/>
              </a:spcAft>
            </a:pPr>
            <a:r>
              <a:rPr sz="1600" b="0" i="1">
                <a:solidFill>
                  <a:srgbClr val="5CC4B0"/>
                </a:solidFill>
                <a:latin typeface="Source Code Pro"/>
              </a:rPr>
              <a:t>This is pre-production software. We built it to be auditable. We built it to be self-hosted. We built it because the existing options were a gift to cops.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1094415" cy="640080"/>
          </a:xfrm>
          <a:prstGeom prst="rect">
            <a:avLst/>
          </a:prstGeom>
          <a:noFill/>
        </p:spPr>
        <p:txBody>
          <a:bodyPr wrap="square">
            <a:spAutoFit/>
          </a:bodyPr>
          <a:lstStyle/>
          <a:p>
            <a:r>
              <a:rPr sz="2800" b="1" i="0">
                <a:solidFill>
                  <a:srgbClr val="F0F0F0"/>
                </a:solidFill>
                <a:latin typeface="JetBrains Mono"/>
              </a:rPr>
              <a:t>Questions?</a:t>
            </a:r>
          </a:p>
        </p:txBody>
      </p:sp>
      <p:sp>
        <p:nvSpPr>
          <p:cNvPr id="3" name="Rectangle 2"/>
          <p:cNvSpPr/>
          <p:nvPr/>
        </p:nvSpPr>
        <p:spPr>
          <a:xfrm>
            <a:off x="548640" y="822960"/>
            <a:ext cx="18288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094415" cy="5212080"/>
          </a:xfrm>
          <a:prstGeom prst="rect">
            <a:avLst/>
          </a:prstGeom>
          <a:noFill/>
        </p:spPr>
        <p:txBody>
          <a:bodyPr wrap="square">
            <a:spAutoFit/>
          </a:bodyPr>
          <a:lstStyle/>
          <a:p>
            <a:r>
              <a:rPr sz="1600" b="0" i="0">
                <a:solidFill>
                  <a:srgbClr val="CCCCCC"/>
                </a:solidFill>
                <a:latin typeface="IBM Plex Mono"/>
              </a:rPr>
              <a:t>Rhonda / CounterSpy 2026, Atlanta</a:t>
            </a:r>
          </a:p>
          <a:p>
            <a:pPr algn="ctr">
              <a:spcBef>
                <a:spcPts val="800"/>
              </a:spcBef>
              <a:spcAft>
                <a:spcPts val="200"/>
              </a:spcAft>
            </a:pPr>
            <a:r>
              <a:rPr sz="1600" b="0" i="1">
                <a:solidFill>
                  <a:srgbClr val="5CC4B0"/>
                </a:solidFill>
                <a:latin typeface="Source Code Pro"/>
              </a:rPr>
              <a:t>"More Secure Hubs for Your Spokes"</a:t>
            </a:r>
          </a:p>
          <a:p>
            <a:pPr>
              <a:spcBef>
                <a:spcPts val="300"/>
              </a:spcBef>
              <a:spcAft>
                <a:spcPts val="200"/>
              </a:spcAft>
            </a:pPr>
            <a:r>
              <a:rPr sz="1600" b="0" i="0">
                <a:solidFill>
                  <a:srgbClr val="CCCCCC"/>
                </a:solidFill>
                <a:latin typeface="IBM Plex Mono"/>
              </a:rPr>
              <a:t>llamenos-hotline.com/slides/counterspy-2026/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